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68" r:id="rId9"/>
    <p:sldId id="269" r:id="rId10"/>
    <p:sldId id="270" r:id="rId11"/>
    <p:sldId id="271" r:id="rId12"/>
    <p:sldId id="272" r:id="rId13"/>
    <p:sldId id="273" r:id="rId14"/>
    <p:sldId id="274" r:id="rId15"/>
    <p:sldId id="275" r:id="rId8"/>
    <p:sldId id="276" r:id="rId17"/>
    <p:sldId id="277" r:id="rId7"/>
    <p:sldId id="278" r:id="rId19"/>
    <p:sldId id="279" r:id="rId20"/>
    <p:sldId id="280" r:id="rId21"/>
    <p:sldId id="281" r:id="rId22"/>
    <p:sldId id="282" r:id="rId23"/>
    <p:sldId id="283" r:id="rId24"/>
    <p:sldId id="284" r:id="rId25"/>
    <p:sldId id="285" r:id="rId26"/>
    <p:sldId id="286" r:id="rId27"/>
    <p:sldId id="287" r:id="rId28"/>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WrsuzXCNNBJSkKBNBLw/qA4qB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13.xml"/><Relationship Id="rId8" Type="http://schemas.openxmlformats.org/officeDocument/2006/relationships/slide" Target="slides/slide11.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3.xml"/><Relationship Id="rId17" Type="http://schemas.openxmlformats.org/officeDocument/2006/relationships/slide" Target="slides/slide12.xml"/><Relationship Id="rId18" Type="http://customschemas.google.com/relationships/presentationmetadata" Target="metadata"/><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vi-V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p:cSld name="Tiêu đề">
    <p:spTree>
      <p:nvGrpSpPr>
        <p:cNvPr id="15" name="Shape 15"/>
        <p:cNvGrpSpPr/>
        <p:nvPr/>
      </p:nvGrpSpPr>
      <p:grpSpPr>
        <a:xfrm>
          <a:off x="0" y="0"/>
          <a:ext cx="0" cy="0"/>
          <a:chOff x="0" y="0"/>
          <a:chExt cx="0" cy="0"/>
        </a:xfrm>
      </p:grpSpPr>
      <p:sp>
        <p:nvSpPr>
          <p:cNvPr id="16" name="Google Shape;16;p15"/>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5"/>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1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9" name="Google Shape;19;p15"/>
          <p:cNvGrpSpPr/>
          <p:nvPr/>
        </p:nvGrpSpPr>
        <p:grpSpPr>
          <a:xfrm>
            <a:off x="58527" y="40944"/>
            <a:ext cx="2869771" cy="1563379"/>
            <a:chOff x="44879" y="27296"/>
            <a:chExt cx="2869771" cy="1563379"/>
          </a:xfrm>
        </p:grpSpPr>
        <p:cxnSp>
          <p:nvCxnSpPr>
            <p:cNvPr id="20" name="Google Shape;20;p1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21" name="Google Shape;21;p1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22" name="Google Shape;22;p1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23" name="Google Shape;23;p1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4" name="Google Shape;24;p15"/>
          <p:cNvGrpSpPr/>
          <p:nvPr/>
        </p:nvGrpSpPr>
        <p:grpSpPr>
          <a:xfrm rot="10800000">
            <a:off x="9263702" y="5253677"/>
            <a:ext cx="2869771" cy="1563379"/>
            <a:chOff x="44879" y="27296"/>
            <a:chExt cx="2869771" cy="1563379"/>
          </a:xfrm>
        </p:grpSpPr>
        <p:cxnSp>
          <p:nvCxnSpPr>
            <p:cNvPr id="25" name="Google Shape;25;p15"/>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6" name="Google Shape;26;p15"/>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7" name="Google Shape;27;p15"/>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28" name="Google Shape;28;p15"/>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 name="Google Shape;29;p15"/>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picture containing clipart, vector graphics&#10;&#10;Description automatically generated" id="30" name="Google Shape;30;p15"/>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31" name="Google Shape;31;p15"/>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vi-VN" sz="1400" u="none" cap="none" strike="noStrike">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vi-VN" sz="1400">
                <a:solidFill>
                  <a:srgbClr val="000046"/>
                </a:solidFill>
                <a:latin typeface="Arial"/>
                <a:ea typeface="Arial"/>
                <a:cs typeface="Arial"/>
                <a:sym typeface="Arial"/>
              </a:rPr>
              <a:t>TRƯỜNG ĐẠI HỌC CÔNG NGHỆ THÔNG TIN</a:t>
            </a:r>
            <a:endParaRPr/>
          </a:p>
        </p:txBody>
      </p:sp>
      <p:sp>
        <p:nvSpPr>
          <p:cNvPr id="32" name="Google Shape;32;p15"/>
          <p:cNvSpPr/>
          <p:nvPr/>
        </p:nvSpPr>
        <p:spPr>
          <a:xfrm>
            <a:off x="105836" y="6604291"/>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3" name="Google Shape;33;p15"/>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b="0" i="0" sz="700" u="none" cap="none" strike="noStrike">
                <a:solidFill>
                  <a:schemeClr val="dk1"/>
                </a:solidFill>
                <a:latin typeface="Arial"/>
                <a:ea typeface="Arial"/>
                <a:cs typeface="Arial"/>
                <a:sym typeface="Arial"/>
              </a:defRPr>
            </a:lvl1pPr>
            <a:lvl2pPr indent="0" lvl="1" marL="0" marR="0" algn="ctr">
              <a:spcBef>
                <a:spcPts val="0"/>
              </a:spcBef>
              <a:buNone/>
              <a:defRPr b="0" i="0" sz="700" u="none" cap="none" strike="noStrike">
                <a:solidFill>
                  <a:schemeClr val="dk1"/>
                </a:solidFill>
                <a:latin typeface="Arial"/>
                <a:ea typeface="Arial"/>
                <a:cs typeface="Arial"/>
                <a:sym typeface="Arial"/>
              </a:defRPr>
            </a:lvl2pPr>
            <a:lvl3pPr indent="0" lvl="2" marL="0" marR="0" algn="ctr">
              <a:spcBef>
                <a:spcPts val="0"/>
              </a:spcBef>
              <a:buNone/>
              <a:defRPr b="0" i="0" sz="700" u="none" cap="none" strike="noStrike">
                <a:solidFill>
                  <a:schemeClr val="dk1"/>
                </a:solidFill>
                <a:latin typeface="Arial"/>
                <a:ea typeface="Arial"/>
                <a:cs typeface="Arial"/>
                <a:sym typeface="Arial"/>
              </a:defRPr>
            </a:lvl3pPr>
            <a:lvl4pPr indent="0" lvl="3" marL="0" marR="0" algn="ctr">
              <a:spcBef>
                <a:spcPts val="0"/>
              </a:spcBef>
              <a:buNone/>
              <a:defRPr b="0" i="0" sz="700" u="none" cap="none" strike="noStrike">
                <a:solidFill>
                  <a:schemeClr val="dk1"/>
                </a:solidFill>
                <a:latin typeface="Arial"/>
                <a:ea typeface="Arial"/>
                <a:cs typeface="Arial"/>
                <a:sym typeface="Arial"/>
              </a:defRPr>
            </a:lvl4pPr>
            <a:lvl5pPr indent="0" lvl="4" marL="0" marR="0" algn="ctr">
              <a:spcBef>
                <a:spcPts val="0"/>
              </a:spcBef>
              <a:buNone/>
              <a:defRPr b="0" i="0" sz="700" u="none" cap="none" strike="noStrike">
                <a:solidFill>
                  <a:schemeClr val="dk1"/>
                </a:solidFill>
                <a:latin typeface="Arial"/>
                <a:ea typeface="Arial"/>
                <a:cs typeface="Arial"/>
                <a:sym typeface="Arial"/>
              </a:defRPr>
            </a:lvl5pPr>
            <a:lvl6pPr indent="0" lvl="5" marL="0" marR="0" algn="ctr">
              <a:spcBef>
                <a:spcPts val="0"/>
              </a:spcBef>
              <a:buNone/>
              <a:defRPr b="0" i="0" sz="700" u="none" cap="none" strike="noStrike">
                <a:solidFill>
                  <a:schemeClr val="dk1"/>
                </a:solidFill>
                <a:latin typeface="Arial"/>
                <a:ea typeface="Arial"/>
                <a:cs typeface="Arial"/>
                <a:sym typeface="Arial"/>
              </a:defRPr>
            </a:lvl6pPr>
            <a:lvl7pPr indent="0" lvl="6" marL="0" marR="0" algn="ctr">
              <a:spcBef>
                <a:spcPts val="0"/>
              </a:spcBef>
              <a:buNone/>
              <a:defRPr b="0" i="0" sz="700" u="none" cap="none" strike="noStrike">
                <a:solidFill>
                  <a:schemeClr val="dk1"/>
                </a:solidFill>
                <a:latin typeface="Arial"/>
                <a:ea typeface="Arial"/>
                <a:cs typeface="Arial"/>
                <a:sym typeface="Arial"/>
              </a:defRPr>
            </a:lvl7pPr>
            <a:lvl8pPr indent="0" lvl="7" marL="0" marR="0" algn="ctr">
              <a:spcBef>
                <a:spcPts val="0"/>
              </a:spcBef>
              <a:buNone/>
              <a:defRPr b="0" i="0" sz="700" u="none" cap="none" strike="noStrike">
                <a:solidFill>
                  <a:schemeClr val="dk1"/>
                </a:solidFill>
                <a:latin typeface="Arial"/>
                <a:ea typeface="Arial"/>
                <a:cs typeface="Arial"/>
                <a:sym typeface="Arial"/>
              </a:defRPr>
            </a:lvl8pPr>
            <a:lvl9pPr indent="0" lvl="8" marL="0" marR="0" algn="ctr">
              <a:spcBef>
                <a:spcPts val="0"/>
              </a:spcBef>
              <a:buNone/>
              <a:defRPr b="0" i="0" sz="7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34" name="Google Shape;34;p15"/>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4400"/>
              <a:buNone/>
              <a:defRPr b="1" sz="4400">
                <a:solidFill>
                  <a:srgbClr val="00004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5"/>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0046"/>
              </a:buClr>
              <a:buSzPts val="2800"/>
              <a:buNone/>
              <a:defRPr b="1" sz="28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5"/>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1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1" name="Google Shape;41;p15"/>
          <p:cNvGrpSpPr/>
          <p:nvPr/>
        </p:nvGrpSpPr>
        <p:grpSpPr>
          <a:xfrm>
            <a:off x="58527" y="40944"/>
            <a:ext cx="2869771" cy="1563379"/>
            <a:chOff x="44879" y="27296"/>
            <a:chExt cx="2869771" cy="1563379"/>
          </a:xfrm>
        </p:grpSpPr>
        <p:cxnSp>
          <p:nvCxnSpPr>
            <p:cNvPr id="42" name="Google Shape;42;p1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3" name="Google Shape;43;p1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4" name="Google Shape;44;p1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5" name="Google Shape;45;p1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 name="Google Shape;46;p15"/>
          <p:cNvGrpSpPr/>
          <p:nvPr/>
        </p:nvGrpSpPr>
        <p:grpSpPr>
          <a:xfrm rot="10800000">
            <a:off x="9263702" y="5253677"/>
            <a:ext cx="2869771" cy="1563379"/>
            <a:chOff x="44879" y="27296"/>
            <a:chExt cx="2869771" cy="1563379"/>
          </a:xfrm>
        </p:grpSpPr>
        <p:cxnSp>
          <p:nvCxnSpPr>
            <p:cNvPr id="47" name="Google Shape;47;p15"/>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8" name="Google Shape;48;p15"/>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9" name="Google Shape;49;p15"/>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50" name="Google Shape;50;p15"/>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 name="Google Shape;51;p15"/>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52" name="Google Shape;52;p15"/>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53" name="Google Shape;53;p15"/>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vi-VN" sz="1400">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vi-VN" sz="1400">
                <a:solidFill>
                  <a:srgbClr val="000046"/>
                </a:solidFill>
                <a:latin typeface="Arial"/>
                <a:ea typeface="Arial"/>
                <a:cs typeface="Arial"/>
                <a:sym typeface="Arial"/>
              </a:rPr>
              <a:t>TRƯỜNG ĐẠI HỌC CÔNG NGHỆ THÔNG TIN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ục lục">
  <p:cSld name="2_Mục lục">
    <p:spTree>
      <p:nvGrpSpPr>
        <p:cNvPr id="54" name="Shape 54"/>
        <p:cNvGrpSpPr/>
        <p:nvPr/>
      </p:nvGrpSpPr>
      <p:grpSpPr>
        <a:xfrm>
          <a:off x="0" y="0"/>
          <a:ext cx="0" cy="0"/>
          <a:chOff x="0" y="0"/>
          <a:chExt cx="0" cy="0"/>
        </a:xfrm>
      </p:grpSpPr>
      <p:sp>
        <p:nvSpPr>
          <p:cNvPr id="55" name="Google Shape;55;p16"/>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6" name="Google Shape;56;p16"/>
          <p:cNvGrpSpPr/>
          <p:nvPr/>
        </p:nvGrpSpPr>
        <p:grpSpPr>
          <a:xfrm rot="10800000">
            <a:off x="9263702" y="5930537"/>
            <a:ext cx="2869771" cy="886519"/>
            <a:chOff x="44879" y="27296"/>
            <a:chExt cx="2869771" cy="886519"/>
          </a:xfrm>
        </p:grpSpPr>
        <p:cxnSp>
          <p:nvCxnSpPr>
            <p:cNvPr id="57" name="Google Shape;57;p16"/>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58" name="Google Shape;58;p16"/>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59" name="Google Shape;59;p16"/>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60" name="Google Shape;60;p16"/>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16"/>
          <p:cNvGrpSpPr/>
          <p:nvPr/>
        </p:nvGrpSpPr>
        <p:grpSpPr>
          <a:xfrm>
            <a:off x="-1259888" y="1121391"/>
            <a:ext cx="4841288" cy="5054000"/>
            <a:chOff x="-1259888" y="901609"/>
            <a:chExt cx="4841288" cy="5054000"/>
          </a:xfrm>
        </p:grpSpPr>
        <p:grpSp>
          <p:nvGrpSpPr>
            <p:cNvPr id="62" name="Google Shape;62;p16"/>
            <p:cNvGrpSpPr/>
            <p:nvPr/>
          </p:nvGrpSpPr>
          <p:grpSpPr>
            <a:xfrm>
              <a:off x="-1225468" y="901609"/>
              <a:ext cx="4806868" cy="664514"/>
              <a:chOff x="0" y="901609"/>
              <a:chExt cx="4806868" cy="664514"/>
            </a:xfrm>
          </p:grpSpPr>
          <p:cxnSp>
            <p:nvCxnSpPr>
              <p:cNvPr id="63" name="Google Shape;63;p16"/>
              <p:cNvCxnSpPr/>
              <p:nvPr/>
            </p:nvCxnSpPr>
            <p:spPr>
              <a:xfrm>
                <a:off x="0" y="1566123"/>
                <a:ext cx="2533933" cy="0"/>
              </a:xfrm>
              <a:prstGeom prst="straightConnector1">
                <a:avLst/>
              </a:prstGeom>
              <a:noFill/>
              <a:ln cap="rnd" cmpd="sng" w="38100">
                <a:solidFill>
                  <a:srgbClr val="0072FF"/>
                </a:solidFill>
                <a:prstDash val="solid"/>
                <a:round/>
                <a:headEnd len="sm" w="sm" type="none"/>
                <a:tailEnd len="sm" w="sm" type="none"/>
              </a:ln>
            </p:spPr>
          </p:cxnSp>
          <p:cxnSp>
            <p:nvCxnSpPr>
              <p:cNvPr id="64" name="Google Shape;64;p16"/>
              <p:cNvCxnSpPr/>
              <p:nvPr/>
            </p:nvCxnSpPr>
            <p:spPr>
              <a:xfrm flipH="1" rot="10800000">
                <a:off x="2520285" y="1059987"/>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65" name="Google Shape;65;p16"/>
              <p:cNvCxnSpPr/>
              <p:nvPr/>
            </p:nvCxnSpPr>
            <p:spPr>
              <a:xfrm>
                <a:off x="3111690" y="1059987"/>
                <a:ext cx="1378423" cy="0"/>
              </a:xfrm>
              <a:prstGeom prst="straightConnector1">
                <a:avLst/>
              </a:prstGeom>
              <a:noFill/>
              <a:ln cap="rnd" cmpd="sng" w="38100">
                <a:solidFill>
                  <a:srgbClr val="0072FF"/>
                </a:solidFill>
                <a:prstDash val="solid"/>
                <a:round/>
                <a:headEnd len="sm" w="sm" type="none"/>
                <a:tailEnd len="sm" w="sm" type="none"/>
              </a:ln>
            </p:spPr>
          </p:cxnSp>
          <p:sp>
            <p:nvSpPr>
              <p:cNvPr id="66" name="Google Shape;66;p16"/>
              <p:cNvSpPr/>
              <p:nvPr/>
            </p:nvSpPr>
            <p:spPr>
              <a:xfrm>
                <a:off x="4490113" y="901609"/>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67" name="Google Shape;67;p16"/>
            <p:cNvGrpSpPr/>
            <p:nvPr/>
          </p:nvGrpSpPr>
          <p:grpSpPr>
            <a:xfrm flipH="1" rot="10800000">
              <a:off x="-1225468" y="5291095"/>
              <a:ext cx="4806868" cy="664514"/>
              <a:chOff x="0" y="1232525"/>
              <a:chExt cx="4806868" cy="664514"/>
            </a:xfrm>
          </p:grpSpPr>
          <p:cxnSp>
            <p:nvCxnSpPr>
              <p:cNvPr id="68" name="Google Shape;68;p16"/>
              <p:cNvCxnSpPr/>
              <p:nvPr/>
            </p:nvCxnSpPr>
            <p:spPr>
              <a:xfrm>
                <a:off x="0" y="1897039"/>
                <a:ext cx="2533933" cy="0"/>
              </a:xfrm>
              <a:prstGeom prst="straightConnector1">
                <a:avLst/>
              </a:prstGeom>
              <a:noFill/>
              <a:ln cap="rnd" cmpd="sng" w="38100">
                <a:solidFill>
                  <a:srgbClr val="0072FF"/>
                </a:solidFill>
                <a:prstDash val="solid"/>
                <a:round/>
                <a:headEnd len="sm" w="sm" type="none"/>
                <a:tailEnd len="sm" w="sm" type="none"/>
              </a:ln>
            </p:spPr>
          </p:cxnSp>
          <p:cxnSp>
            <p:nvCxnSpPr>
              <p:cNvPr id="69" name="Google Shape;69;p16"/>
              <p:cNvCxnSpPr/>
              <p:nvPr/>
            </p:nvCxnSpPr>
            <p:spPr>
              <a:xfrm flipH="1" rot="10800000">
                <a:off x="2520285" y="1390903"/>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70" name="Google Shape;70;p16"/>
              <p:cNvCxnSpPr/>
              <p:nvPr/>
            </p:nvCxnSpPr>
            <p:spPr>
              <a:xfrm>
                <a:off x="3111690" y="1390903"/>
                <a:ext cx="1378423" cy="0"/>
              </a:xfrm>
              <a:prstGeom prst="straightConnector1">
                <a:avLst/>
              </a:prstGeom>
              <a:noFill/>
              <a:ln cap="rnd" cmpd="sng" w="38100">
                <a:solidFill>
                  <a:srgbClr val="0072FF"/>
                </a:solidFill>
                <a:prstDash val="solid"/>
                <a:round/>
                <a:headEnd len="sm" w="sm" type="none"/>
                <a:tailEnd len="sm" w="sm" type="none"/>
              </a:ln>
            </p:spPr>
          </p:cxnSp>
          <p:sp>
            <p:nvSpPr>
              <p:cNvPr id="71" name="Google Shape;71;p16"/>
              <p:cNvSpPr/>
              <p:nvPr/>
            </p:nvSpPr>
            <p:spPr>
              <a:xfrm>
                <a:off x="4490113" y="123252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72" name="Google Shape;72;p16"/>
            <p:cNvGrpSpPr/>
            <p:nvPr/>
          </p:nvGrpSpPr>
          <p:grpSpPr>
            <a:xfrm>
              <a:off x="-1225469" y="1860637"/>
              <a:ext cx="3835321" cy="547270"/>
              <a:chOff x="-1" y="1860637"/>
              <a:chExt cx="3835321" cy="547270"/>
            </a:xfrm>
          </p:grpSpPr>
          <p:sp>
            <p:nvSpPr>
              <p:cNvPr id="73" name="Google Shape;73;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4" name="Google Shape;74;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75" name="Google Shape;75;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76" name="Google Shape;76;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77" name="Google Shape;77;p16"/>
            <p:cNvGrpSpPr/>
            <p:nvPr/>
          </p:nvGrpSpPr>
          <p:grpSpPr>
            <a:xfrm flipH="1" rot="10800000">
              <a:off x="-1259888" y="4408929"/>
              <a:ext cx="3835321" cy="547270"/>
              <a:chOff x="-1" y="1860637"/>
              <a:chExt cx="3835321" cy="547270"/>
            </a:xfrm>
          </p:grpSpPr>
          <p:sp>
            <p:nvSpPr>
              <p:cNvPr id="78" name="Google Shape;78;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 name="Google Shape;79;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80" name="Google Shape;80;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81" name="Google Shape;81;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82" name="Google Shape;82;p16"/>
            <p:cNvGrpSpPr/>
            <p:nvPr/>
          </p:nvGrpSpPr>
          <p:grpSpPr>
            <a:xfrm>
              <a:off x="-1252333" y="2715185"/>
              <a:ext cx="2776521" cy="436736"/>
              <a:chOff x="-26865" y="2715185"/>
              <a:chExt cx="2776521" cy="436736"/>
            </a:xfrm>
          </p:grpSpPr>
          <p:cxnSp>
            <p:nvCxnSpPr>
              <p:cNvPr id="83" name="Google Shape;83;p16"/>
              <p:cNvCxnSpPr/>
              <p:nvPr/>
            </p:nvCxnSpPr>
            <p:spPr>
              <a:xfrm>
                <a:off x="-26865" y="3151921"/>
                <a:ext cx="1402723" cy="0"/>
              </a:xfrm>
              <a:prstGeom prst="straightConnector1">
                <a:avLst/>
              </a:prstGeom>
              <a:noFill/>
              <a:ln cap="rnd" cmpd="sng" w="38100">
                <a:solidFill>
                  <a:srgbClr val="0072FF"/>
                </a:solidFill>
                <a:prstDash val="solid"/>
                <a:round/>
                <a:headEnd len="sm" w="sm" type="none"/>
                <a:tailEnd len="sm" w="sm" type="none"/>
              </a:ln>
            </p:spPr>
          </p:cxnSp>
          <p:cxnSp>
            <p:nvCxnSpPr>
              <p:cNvPr id="84" name="Google Shape;84;p16"/>
              <p:cNvCxnSpPr/>
              <p:nvPr/>
            </p:nvCxnSpPr>
            <p:spPr>
              <a:xfrm flipH="1" rot="10800000">
                <a:off x="1368303" y="2877197"/>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85" name="Google Shape;85;p16"/>
              <p:cNvCxnSpPr/>
              <p:nvPr/>
            </p:nvCxnSpPr>
            <p:spPr>
              <a:xfrm>
                <a:off x="1695690" y="2877197"/>
                <a:ext cx="763061" cy="0"/>
              </a:xfrm>
              <a:prstGeom prst="straightConnector1">
                <a:avLst/>
              </a:prstGeom>
              <a:noFill/>
              <a:ln cap="rnd" cmpd="sng" w="38100">
                <a:solidFill>
                  <a:srgbClr val="0072FF"/>
                </a:solidFill>
                <a:prstDash val="solid"/>
                <a:round/>
                <a:headEnd len="sm" w="sm" type="none"/>
                <a:tailEnd len="sm" w="sm" type="none"/>
              </a:ln>
            </p:spPr>
          </p:cxnSp>
          <p:sp>
            <p:nvSpPr>
              <p:cNvPr id="86" name="Google Shape;86;p16"/>
              <p:cNvSpPr/>
              <p:nvPr/>
            </p:nvSpPr>
            <p:spPr>
              <a:xfrm>
                <a:off x="2432901" y="271518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87" name="Google Shape;87;p16"/>
            <p:cNvGrpSpPr/>
            <p:nvPr/>
          </p:nvGrpSpPr>
          <p:grpSpPr>
            <a:xfrm>
              <a:off x="-1225468" y="3843225"/>
              <a:ext cx="2802371" cy="433101"/>
              <a:chOff x="-34420" y="3843718"/>
              <a:chExt cx="2802371" cy="433101"/>
            </a:xfrm>
          </p:grpSpPr>
          <p:cxnSp>
            <p:nvCxnSpPr>
              <p:cNvPr id="88" name="Google Shape;88;p16"/>
              <p:cNvCxnSpPr/>
              <p:nvPr/>
            </p:nvCxnSpPr>
            <p:spPr>
              <a:xfrm>
                <a:off x="-34420" y="3843718"/>
                <a:ext cx="1402723" cy="0"/>
              </a:xfrm>
              <a:prstGeom prst="straightConnector1">
                <a:avLst/>
              </a:prstGeom>
              <a:noFill/>
              <a:ln cap="rnd" cmpd="sng" w="38100">
                <a:solidFill>
                  <a:srgbClr val="0072FF"/>
                </a:solidFill>
                <a:prstDash val="solid"/>
                <a:round/>
                <a:headEnd len="sm" w="sm" type="none"/>
                <a:tailEnd len="sm" w="sm" type="none"/>
              </a:ln>
            </p:spPr>
          </p:cxnSp>
          <p:cxnSp>
            <p:nvCxnSpPr>
              <p:cNvPr id="89" name="Google Shape;89;p16"/>
              <p:cNvCxnSpPr/>
              <p:nvPr/>
            </p:nvCxnSpPr>
            <p:spPr>
              <a:xfrm>
                <a:off x="1360748" y="3843718"/>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90" name="Google Shape;90;p16"/>
              <p:cNvCxnSpPr/>
              <p:nvPr/>
            </p:nvCxnSpPr>
            <p:spPr>
              <a:xfrm>
                <a:off x="1688135" y="4118442"/>
                <a:ext cx="763061" cy="0"/>
              </a:xfrm>
              <a:prstGeom prst="straightConnector1">
                <a:avLst/>
              </a:prstGeom>
              <a:noFill/>
              <a:ln cap="rnd" cmpd="sng" w="38100">
                <a:solidFill>
                  <a:srgbClr val="0072FF"/>
                </a:solidFill>
                <a:prstDash val="solid"/>
                <a:round/>
                <a:headEnd len="sm" w="sm" type="none"/>
                <a:tailEnd len="sm" w="sm" type="none"/>
              </a:ln>
            </p:spPr>
          </p:cxnSp>
          <p:sp>
            <p:nvSpPr>
              <p:cNvPr id="91" name="Google Shape;91;p16"/>
              <p:cNvSpPr/>
              <p:nvPr/>
            </p:nvSpPr>
            <p:spPr>
              <a:xfrm>
                <a:off x="2451196" y="3960064"/>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2" name="Google Shape;92;p16"/>
          <p:cNvGrpSpPr/>
          <p:nvPr/>
        </p:nvGrpSpPr>
        <p:grpSpPr>
          <a:xfrm flipH="1">
            <a:off x="8607643" y="1121391"/>
            <a:ext cx="4841288" cy="5054000"/>
            <a:chOff x="-1259888" y="901609"/>
            <a:chExt cx="4841288" cy="5054000"/>
          </a:xfrm>
        </p:grpSpPr>
        <p:grpSp>
          <p:nvGrpSpPr>
            <p:cNvPr id="93" name="Google Shape;93;p16"/>
            <p:cNvGrpSpPr/>
            <p:nvPr/>
          </p:nvGrpSpPr>
          <p:grpSpPr>
            <a:xfrm>
              <a:off x="-1225468" y="901609"/>
              <a:ext cx="4806868" cy="664514"/>
              <a:chOff x="0" y="901609"/>
              <a:chExt cx="4806868" cy="664514"/>
            </a:xfrm>
          </p:grpSpPr>
          <p:cxnSp>
            <p:nvCxnSpPr>
              <p:cNvPr id="94" name="Google Shape;94;p16"/>
              <p:cNvCxnSpPr/>
              <p:nvPr/>
            </p:nvCxnSpPr>
            <p:spPr>
              <a:xfrm>
                <a:off x="0" y="1566123"/>
                <a:ext cx="2533933" cy="0"/>
              </a:xfrm>
              <a:prstGeom prst="straightConnector1">
                <a:avLst/>
              </a:prstGeom>
              <a:noFill/>
              <a:ln cap="rnd" cmpd="sng" w="38100">
                <a:solidFill>
                  <a:srgbClr val="0072FF"/>
                </a:solidFill>
                <a:prstDash val="solid"/>
                <a:round/>
                <a:headEnd len="sm" w="sm" type="none"/>
                <a:tailEnd len="sm" w="sm" type="none"/>
              </a:ln>
            </p:spPr>
          </p:cxnSp>
          <p:cxnSp>
            <p:nvCxnSpPr>
              <p:cNvPr id="95" name="Google Shape;95;p16"/>
              <p:cNvCxnSpPr/>
              <p:nvPr/>
            </p:nvCxnSpPr>
            <p:spPr>
              <a:xfrm flipH="1" rot="10800000">
                <a:off x="2520285" y="1059987"/>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96" name="Google Shape;96;p16"/>
              <p:cNvCxnSpPr/>
              <p:nvPr/>
            </p:nvCxnSpPr>
            <p:spPr>
              <a:xfrm>
                <a:off x="3111690" y="1059987"/>
                <a:ext cx="1378423" cy="0"/>
              </a:xfrm>
              <a:prstGeom prst="straightConnector1">
                <a:avLst/>
              </a:prstGeom>
              <a:noFill/>
              <a:ln cap="rnd" cmpd="sng" w="38100">
                <a:solidFill>
                  <a:srgbClr val="0072FF"/>
                </a:solidFill>
                <a:prstDash val="solid"/>
                <a:round/>
                <a:headEnd len="sm" w="sm" type="none"/>
                <a:tailEnd len="sm" w="sm" type="none"/>
              </a:ln>
            </p:spPr>
          </p:cxnSp>
          <p:sp>
            <p:nvSpPr>
              <p:cNvPr id="97" name="Google Shape;97;p16"/>
              <p:cNvSpPr/>
              <p:nvPr/>
            </p:nvSpPr>
            <p:spPr>
              <a:xfrm>
                <a:off x="4490113" y="901609"/>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98" name="Google Shape;98;p16"/>
            <p:cNvGrpSpPr/>
            <p:nvPr/>
          </p:nvGrpSpPr>
          <p:grpSpPr>
            <a:xfrm flipH="1" rot="10800000">
              <a:off x="-1225468" y="5291095"/>
              <a:ext cx="4806868" cy="664514"/>
              <a:chOff x="0" y="1232525"/>
              <a:chExt cx="4806868" cy="664514"/>
            </a:xfrm>
          </p:grpSpPr>
          <p:cxnSp>
            <p:nvCxnSpPr>
              <p:cNvPr id="99" name="Google Shape;99;p16"/>
              <p:cNvCxnSpPr/>
              <p:nvPr/>
            </p:nvCxnSpPr>
            <p:spPr>
              <a:xfrm>
                <a:off x="0" y="1897039"/>
                <a:ext cx="2533933" cy="0"/>
              </a:xfrm>
              <a:prstGeom prst="straightConnector1">
                <a:avLst/>
              </a:prstGeom>
              <a:noFill/>
              <a:ln cap="rnd" cmpd="sng" w="38100">
                <a:solidFill>
                  <a:srgbClr val="0072FF"/>
                </a:solidFill>
                <a:prstDash val="solid"/>
                <a:round/>
                <a:headEnd len="sm" w="sm" type="none"/>
                <a:tailEnd len="sm" w="sm" type="none"/>
              </a:ln>
            </p:spPr>
          </p:cxnSp>
          <p:cxnSp>
            <p:nvCxnSpPr>
              <p:cNvPr id="100" name="Google Shape;100;p16"/>
              <p:cNvCxnSpPr/>
              <p:nvPr/>
            </p:nvCxnSpPr>
            <p:spPr>
              <a:xfrm flipH="1" rot="10800000">
                <a:off x="2520285" y="1390903"/>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101" name="Google Shape;101;p16"/>
              <p:cNvCxnSpPr/>
              <p:nvPr/>
            </p:nvCxnSpPr>
            <p:spPr>
              <a:xfrm>
                <a:off x="3111690" y="1390903"/>
                <a:ext cx="1378423" cy="0"/>
              </a:xfrm>
              <a:prstGeom prst="straightConnector1">
                <a:avLst/>
              </a:prstGeom>
              <a:noFill/>
              <a:ln cap="rnd" cmpd="sng" w="38100">
                <a:solidFill>
                  <a:srgbClr val="0072FF"/>
                </a:solidFill>
                <a:prstDash val="solid"/>
                <a:round/>
                <a:headEnd len="sm" w="sm" type="none"/>
                <a:tailEnd len="sm" w="sm" type="none"/>
              </a:ln>
            </p:spPr>
          </p:cxnSp>
          <p:sp>
            <p:nvSpPr>
              <p:cNvPr id="102" name="Google Shape;102;p16"/>
              <p:cNvSpPr/>
              <p:nvPr/>
            </p:nvSpPr>
            <p:spPr>
              <a:xfrm>
                <a:off x="4490113" y="123252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3" name="Google Shape;103;p16"/>
            <p:cNvGrpSpPr/>
            <p:nvPr/>
          </p:nvGrpSpPr>
          <p:grpSpPr>
            <a:xfrm>
              <a:off x="-1225469" y="1860637"/>
              <a:ext cx="3835321" cy="547270"/>
              <a:chOff x="-1" y="1860637"/>
              <a:chExt cx="3835321" cy="547270"/>
            </a:xfrm>
          </p:grpSpPr>
          <p:sp>
            <p:nvSpPr>
              <p:cNvPr id="104" name="Google Shape;104;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5" name="Google Shape;105;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106" name="Google Shape;106;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107" name="Google Shape;107;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108" name="Google Shape;108;p16"/>
            <p:cNvGrpSpPr/>
            <p:nvPr/>
          </p:nvGrpSpPr>
          <p:grpSpPr>
            <a:xfrm flipH="1" rot="10800000">
              <a:off x="-1259888" y="4408929"/>
              <a:ext cx="3835321" cy="547270"/>
              <a:chOff x="-1" y="1860637"/>
              <a:chExt cx="3835321" cy="547270"/>
            </a:xfrm>
          </p:grpSpPr>
          <p:sp>
            <p:nvSpPr>
              <p:cNvPr id="109" name="Google Shape;109;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0" name="Google Shape;110;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111" name="Google Shape;111;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112" name="Google Shape;112;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113" name="Google Shape;113;p16"/>
            <p:cNvGrpSpPr/>
            <p:nvPr/>
          </p:nvGrpSpPr>
          <p:grpSpPr>
            <a:xfrm>
              <a:off x="-1252333" y="2715185"/>
              <a:ext cx="2776521" cy="436736"/>
              <a:chOff x="-26865" y="2715185"/>
              <a:chExt cx="2776521" cy="436736"/>
            </a:xfrm>
          </p:grpSpPr>
          <p:cxnSp>
            <p:nvCxnSpPr>
              <p:cNvPr id="114" name="Google Shape;114;p16"/>
              <p:cNvCxnSpPr/>
              <p:nvPr/>
            </p:nvCxnSpPr>
            <p:spPr>
              <a:xfrm>
                <a:off x="-26865" y="3151921"/>
                <a:ext cx="1402723" cy="0"/>
              </a:xfrm>
              <a:prstGeom prst="straightConnector1">
                <a:avLst/>
              </a:prstGeom>
              <a:noFill/>
              <a:ln cap="rnd" cmpd="sng" w="38100">
                <a:solidFill>
                  <a:srgbClr val="0072FF"/>
                </a:solidFill>
                <a:prstDash val="solid"/>
                <a:round/>
                <a:headEnd len="sm" w="sm" type="none"/>
                <a:tailEnd len="sm" w="sm" type="none"/>
              </a:ln>
            </p:spPr>
          </p:cxnSp>
          <p:cxnSp>
            <p:nvCxnSpPr>
              <p:cNvPr id="115" name="Google Shape;115;p16"/>
              <p:cNvCxnSpPr/>
              <p:nvPr/>
            </p:nvCxnSpPr>
            <p:spPr>
              <a:xfrm flipH="1" rot="10800000">
                <a:off x="1368303" y="2877197"/>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116" name="Google Shape;116;p16"/>
              <p:cNvCxnSpPr/>
              <p:nvPr/>
            </p:nvCxnSpPr>
            <p:spPr>
              <a:xfrm>
                <a:off x="1695690" y="2877197"/>
                <a:ext cx="763061" cy="0"/>
              </a:xfrm>
              <a:prstGeom prst="straightConnector1">
                <a:avLst/>
              </a:prstGeom>
              <a:noFill/>
              <a:ln cap="rnd" cmpd="sng" w="38100">
                <a:solidFill>
                  <a:srgbClr val="0072FF"/>
                </a:solidFill>
                <a:prstDash val="solid"/>
                <a:round/>
                <a:headEnd len="sm" w="sm" type="none"/>
                <a:tailEnd len="sm" w="sm" type="none"/>
              </a:ln>
            </p:spPr>
          </p:cxnSp>
          <p:sp>
            <p:nvSpPr>
              <p:cNvPr id="117" name="Google Shape;117;p16"/>
              <p:cNvSpPr/>
              <p:nvPr/>
            </p:nvSpPr>
            <p:spPr>
              <a:xfrm>
                <a:off x="2432901" y="271518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18" name="Google Shape;118;p16"/>
            <p:cNvGrpSpPr/>
            <p:nvPr/>
          </p:nvGrpSpPr>
          <p:grpSpPr>
            <a:xfrm>
              <a:off x="-1225468" y="3843225"/>
              <a:ext cx="2802371" cy="433101"/>
              <a:chOff x="-34420" y="3843718"/>
              <a:chExt cx="2802371" cy="433101"/>
            </a:xfrm>
          </p:grpSpPr>
          <p:cxnSp>
            <p:nvCxnSpPr>
              <p:cNvPr id="119" name="Google Shape;119;p16"/>
              <p:cNvCxnSpPr/>
              <p:nvPr/>
            </p:nvCxnSpPr>
            <p:spPr>
              <a:xfrm>
                <a:off x="-34420" y="3843718"/>
                <a:ext cx="1402723" cy="0"/>
              </a:xfrm>
              <a:prstGeom prst="straightConnector1">
                <a:avLst/>
              </a:prstGeom>
              <a:noFill/>
              <a:ln cap="rnd" cmpd="sng" w="38100">
                <a:solidFill>
                  <a:srgbClr val="0072FF"/>
                </a:solidFill>
                <a:prstDash val="solid"/>
                <a:round/>
                <a:headEnd len="sm" w="sm" type="none"/>
                <a:tailEnd len="sm" w="sm" type="none"/>
              </a:ln>
            </p:spPr>
          </p:cxnSp>
          <p:cxnSp>
            <p:nvCxnSpPr>
              <p:cNvPr id="120" name="Google Shape;120;p16"/>
              <p:cNvCxnSpPr/>
              <p:nvPr/>
            </p:nvCxnSpPr>
            <p:spPr>
              <a:xfrm>
                <a:off x="1360748" y="3843718"/>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121" name="Google Shape;121;p16"/>
              <p:cNvCxnSpPr/>
              <p:nvPr/>
            </p:nvCxnSpPr>
            <p:spPr>
              <a:xfrm>
                <a:off x="1688135" y="4118442"/>
                <a:ext cx="763061" cy="0"/>
              </a:xfrm>
              <a:prstGeom prst="straightConnector1">
                <a:avLst/>
              </a:prstGeom>
              <a:noFill/>
              <a:ln cap="rnd" cmpd="sng" w="38100">
                <a:solidFill>
                  <a:srgbClr val="0072FF"/>
                </a:solidFill>
                <a:prstDash val="solid"/>
                <a:round/>
                <a:headEnd len="sm" w="sm" type="none"/>
                <a:tailEnd len="sm" w="sm" type="none"/>
              </a:ln>
            </p:spPr>
          </p:cxnSp>
          <p:sp>
            <p:nvSpPr>
              <p:cNvPr id="122" name="Google Shape;122;p16"/>
              <p:cNvSpPr/>
              <p:nvPr/>
            </p:nvSpPr>
            <p:spPr>
              <a:xfrm>
                <a:off x="2451196" y="3960064"/>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123" name="Google Shape;123;p16"/>
          <p:cNvSpPr/>
          <p:nvPr/>
        </p:nvSpPr>
        <p:spPr>
          <a:xfrm>
            <a:off x="11924591" y="658314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24" name="Google Shape;124;p16"/>
          <p:cNvSpPr txBox="1"/>
          <p:nvPr>
            <p:ph idx="12" type="sldNum"/>
          </p:nvPr>
        </p:nvSpPr>
        <p:spPr>
          <a:xfrm>
            <a:off x="11900400"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125" name="Google Shape;125;p16"/>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vi-VN" sz="3600">
                <a:solidFill>
                  <a:schemeClr val="lt1"/>
                </a:solidFill>
                <a:latin typeface="Times New Roman"/>
                <a:ea typeface="Times New Roman"/>
                <a:cs typeface="Times New Roman"/>
                <a:sym typeface="Times New Roman"/>
              </a:rPr>
              <a:t>NỘI DUNG</a:t>
            </a:r>
            <a:endParaRPr/>
          </a:p>
        </p:txBody>
      </p:sp>
      <p:sp>
        <p:nvSpPr>
          <p:cNvPr id="126" name="Google Shape;126;p16"/>
          <p:cNvSpPr txBox="1"/>
          <p:nvPr>
            <p:ph idx="1" type="body"/>
          </p:nvPr>
        </p:nvSpPr>
        <p:spPr>
          <a:xfrm>
            <a:off x="2735144" y="1286346"/>
            <a:ext cx="6721714" cy="4699000"/>
          </a:xfrm>
          <a:prstGeom prst="rect">
            <a:avLst/>
          </a:prstGeom>
          <a:noFill/>
          <a:ln>
            <a:noFill/>
          </a:ln>
        </p:spPr>
        <p:txBody>
          <a:bodyPr anchorCtr="0" anchor="ctr" bIns="45700" lIns="91425" spcFirstLastPara="1" rIns="91425" wrap="square" tIns="45700">
            <a:normAutofit/>
          </a:bodyPr>
          <a:lstStyle>
            <a:lvl1pPr indent="-368300" lvl="0" marL="457200" algn="just">
              <a:lnSpc>
                <a:spcPct val="90000"/>
              </a:lnSpc>
              <a:spcBef>
                <a:spcPts val="1000"/>
              </a:spcBef>
              <a:spcAft>
                <a:spcPts val="0"/>
              </a:spcAft>
              <a:buClr>
                <a:schemeClr val="dk1"/>
              </a:buClr>
              <a:buSzPts val="2200"/>
              <a:buFont typeface="Calibri"/>
              <a:buAutoNum type="arabicPeriod"/>
              <a:defRPr sz="22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6"/>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8" name="Google Shape;128;p16"/>
          <p:cNvGrpSpPr/>
          <p:nvPr/>
        </p:nvGrpSpPr>
        <p:grpSpPr>
          <a:xfrm>
            <a:off x="58527" y="40944"/>
            <a:ext cx="2869771" cy="886519"/>
            <a:chOff x="44879" y="27296"/>
            <a:chExt cx="2869771" cy="886519"/>
          </a:xfrm>
        </p:grpSpPr>
        <p:cxnSp>
          <p:nvCxnSpPr>
            <p:cNvPr id="129" name="Google Shape;129;p16"/>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30" name="Google Shape;130;p16"/>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31" name="Google Shape;131;p16"/>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pic>
        <p:nvPicPr>
          <p:cNvPr descr="A picture containing clipart, vector graphics&#10;&#10;Description automatically generated" id="132" name="Google Shape;132;p16"/>
          <p:cNvPicPr preferRelativeResize="0"/>
          <p:nvPr/>
        </p:nvPicPr>
        <p:blipFill rotWithShape="1">
          <a:blip r:embed="rId2">
            <a:alphaModFix/>
          </a:blip>
          <a:srcRect b="0" l="0" r="0" t="0"/>
          <a:stretch/>
        </p:blipFill>
        <p:spPr>
          <a:xfrm>
            <a:off x="412638" y="362637"/>
            <a:ext cx="544288" cy="450213"/>
          </a:xfrm>
          <a:prstGeom prst="rect">
            <a:avLst/>
          </a:prstGeom>
          <a:noFill/>
          <a:ln>
            <a:noFill/>
          </a:ln>
        </p:spPr>
      </p:pic>
      <p:sp>
        <p:nvSpPr>
          <p:cNvPr id="133" name="Google Shape;133;p16"/>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type="obj">
  <p:cSld name="OBJECT">
    <p:spTree>
      <p:nvGrpSpPr>
        <p:cNvPr id="134" name="Shape 134"/>
        <p:cNvGrpSpPr/>
        <p:nvPr/>
      </p:nvGrpSpPr>
      <p:grpSpPr>
        <a:xfrm>
          <a:off x="0" y="0"/>
          <a:ext cx="0" cy="0"/>
          <a:chOff x="0" y="0"/>
          <a:chExt cx="0" cy="0"/>
        </a:xfrm>
      </p:grpSpPr>
      <p:sp>
        <p:nvSpPr>
          <p:cNvPr id="135" name="Google Shape;135;p17"/>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17"/>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7" name="Google Shape;137;p17"/>
          <p:cNvGrpSpPr/>
          <p:nvPr/>
        </p:nvGrpSpPr>
        <p:grpSpPr>
          <a:xfrm>
            <a:off x="58527" y="54292"/>
            <a:ext cx="2869771" cy="1563379"/>
            <a:chOff x="44879" y="27296"/>
            <a:chExt cx="2869771" cy="1563379"/>
          </a:xfrm>
        </p:grpSpPr>
        <p:cxnSp>
          <p:nvCxnSpPr>
            <p:cNvPr id="138" name="Google Shape;138;p17"/>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39" name="Google Shape;139;p17"/>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40" name="Google Shape;140;p17"/>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41" name="Google Shape;141;p17"/>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7"/>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17"/>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1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45" name="Google Shape;145;p17"/>
          <p:cNvGrpSpPr/>
          <p:nvPr/>
        </p:nvGrpSpPr>
        <p:grpSpPr>
          <a:xfrm>
            <a:off x="16026" y="4629289"/>
            <a:ext cx="434350" cy="2228711"/>
            <a:chOff x="16026" y="4629289"/>
            <a:chExt cx="434350" cy="2228711"/>
          </a:xfrm>
        </p:grpSpPr>
        <p:sp>
          <p:nvSpPr>
            <p:cNvPr id="146" name="Google Shape;146;p17"/>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7"/>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17"/>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7"/>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7"/>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7"/>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52" name="Google Shape;152;p17"/>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7"/>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7"/>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55" name="Google Shape;155;p1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156" name="Google Shape;156;p17"/>
          <p:cNvGrpSpPr/>
          <p:nvPr/>
        </p:nvGrpSpPr>
        <p:grpSpPr>
          <a:xfrm rot="10800000">
            <a:off x="9265363" y="5246044"/>
            <a:ext cx="2869771" cy="1563379"/>
            <a:chOff x="44879" y="27296"/>
            <a:chExt cx="2869771" cy="1563379"/>
          </a:xfrm>
        </p:grpSpPr>
        <p:cxnSp>
          <p:nvCxnSpPr>
            <p:cNvPr id="157" name="Google Shape;157;p17"/>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58" name="Google Shape;158;p17"/>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59" name="Google Shape;159;p17"/>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ống" type="blank">
  <p:cSld name="BLANK">
    <p:spTree>
      <p:nvGrpSpPr>
        <p:cNvPr id="160" name="Shape 160"/>
        <p:cNvGrpSpPr/>
        <p:nvPr/>
      </p:nvGrpSpPr>
      <p:grpSpPr>
        <a:xfrm>
          <a:off x="0" y="0"/>
          <a:ext cx="0" cy="0"/>
          <a:chOff x="0" y="0"/>
          <a:chExt cx="0" cy="0"/>
        </a:xfrm>
      </p:grpSpPr>
      <p:sp>
        <p:nvSpPr>
          <p:cNvPr id="161" name="Google Shape;161;p18"/>
          <p:cNvSpPr txBox="1"/>
          <p:nvPr>
            <p:ph idx="11" type="ftr"/>
          </p:nvPr>
        </p:nvSpPr>
        <p:spPr>
          <a:xfrm>
            <a:off x="3684104" y="6481647"/>
            <a:ext cx="482379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18"/>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4" name="Google Shape;164;p18"/>
          <p:cNvGrpSpPr/>
          <p:nvPr/>
        </p:nvGrpSpPr>
        <p:grpSpPr>
          <a:xfrm>
            <a:off x="58527" y="40944"/>
            <a:ext cx="2869771" cy="1563379"/>
            <a:chOff x="44879" y="27296"/>
            <a:chExt cx="2869771" cy="1563379"/>
          </a:xfrm>
        </p:grpSpPr>
        <p:cxnSp>
          <p:nvCxnSpPr>
            <p:cNvPr id="165" name="Google Shape;165;p18"/>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66" name="Google Shape;166;p18"/>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67" name="Google Shape;167;p18"/>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68" name="Google Shape;168;p18"/>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9" name="Google Shape;169;p18"/>
          <p:cNvGrpSpPr/>
          <p:nvPr/>
        </p:nvGrpSpPr>
        <p:grpSpPr>
          <a:xfrm rot="10800000">
            <a:off x="9263702" y="5253677"/>
            <a:ext cx="2869771" cy="1563379"/>
            <a:chOff x="44879" y="27296"/>
            <a:chExt cx="2869771" cy="1563379"/>
          </a:xfrm>
        </p:grpSpPr>
        <p:cxnSp>
          <p:nvCxnSpPr>
            <p:cNvPr id="170" name="Google Shape;170;p18"/>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171" name="Google Shape;171;p18"/>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172" name="Google Shape;172;p18"/>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173" name="Google Shape;173;p18"/>
          <p:cNvSpPr/>
          <p:nvPr/>
        </p:nvSpPr>
        <p:spPr>
          <a:xfrm>
            <a:off x="11926541" y="6589084"/>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74" name="Google Shape;174;p18"/>
          <p:cNvSpPr/>
          <p:nvPr/>
        </p:nvSpPr>
        <p:spPr>
          <a:xfrm>
            <a:off x="16026" y="4629289"/>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18"/>
          <p:cNvSpPr/>
          <p:nvPr/>
        </p:nvSpPr>
        <p:spPr>
          <a:xfrm>
            <a:off x="16026" y="5005641"/>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18"/>
          <p:cNvSpPr/>
          <p:nvPr/>
        </p:nvSpPr>
        <p:spPr>
          <a:xfrm>
            <a:off x="16026" y="5381993"/>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18"/>
          <p:cNvSpPr/>
          <p:nvPr/>
        </p:nvSpPr>
        <p:spPr>
          <a:xfrm>
            <a:off x="16026" y="5758345"/>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18"/>
          <p:cNvSpPr/>
          <p:nvPr/>
        </p:nvSpPr>
        <p:spPr>
          <a:xfrm>
            <a:off x="16026" y="6134697"/>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8"/>
          <p:cNvSpPr/>
          <p:nvPr/>
        </p:nvSpPr>
        <p:spPr>
          <a:xfrm>
            <a:off x="16026" y="6511050"/>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180" name="Google Shape;180;p18"/>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181" name="Google Shape;181;p18"/>
          <p:cNvSpPr txBox="1"/>
          <p:nvPr>
            <p:ph idx="12" type="sldNum"/>
          </p:nvPr>
        </p:nvSpPr>
        <p:spPr>
          <a:xfrm>
            <a:off x="11897699" y="6560242"/>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182" name="Google Shape;182;p18"/>
          <p:cNvSpPr txBox="1"/>
          <p:nvPr>
            <p:ph idx="10" type="dt"/>
          </p:nvPr>
        </p:nvSpPr>
        <p:spPr>
          <a:xfrm>
            <a:off x="838200" y="6481647"/>
            <a:ext cx="2148299"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êu đề chương">
  <p:cSld name="3_Tiêu đề chương">
    <p:spTree>
      <p:nvGrpSpPr>
        <p:cNvPr id="183" name="Shape 183"/>
        <p:cNvGrpSpPr/>
        <p:nvPr/>
      </p:nvGrpSpPr>
      <p:grpSpPr>
        <a:xfrm>
          <a:off x="0" y="0"/>
          <a:ext cx="0" cy="0"/>
          <a:chOff x="0" y="0"/>
          <a:chExt cx="0" cy="0"/>
        </a:xfrm>
      </p:grpSpPr>
      <p:pic>
        <p:nvPicPr>
          <p:cNvPr descr="Background pattern&#10;&#10;Description automatically generated" id="184" name="Google Shape;184;p19"/>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185" name="Google Shape;185;p19"/>
          <p:cNvSpPr/>
          <p:nvPr/>
        </p:nvSpPr>
        <p:spPr>
          <a:xfrm>
            <a:off x="-1" y="-3113"/>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19"/>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7" name="Google Shape;187;p19"/>
          <p:cNvGrpSpPr/>
          <p:nvPr/>
        </p:nvGrpSpPr>
        <p:grpSpPr>
          <a:xfrm>
            <a:off x="58527" y="40944"/>
            <a:ext cx="2869771" cy="1563379"/>
            <a:chOff x="44879" y="27296"/>
            <a:chExt cx="2869771" cy="1563379"/>
          </a:xfrm>
        </p:grpSpPr>
        <p:cxnSp>
          <p:nvCxnSpPr>
            <p:cNvPr id="188" name="Google Shape;188;p19"/>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189" name="Google Shape;189;p19"/>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190" name="Google Shape;190;p19"/>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191" name="Google Shape;191;p19"/>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2" name="Google Shape;192;p19"/>
          <p:cNvGrpSpPr/>
          <p:nvPr/>
        </p:nvGrpSpPr>
        <p:grpSpPr>
          <a:xfrm rot="10800000">
            <a:off x="9263702" y="5253677"/>
            <a:ext cx="2869771" cy="1563379"/>
            <a:chOff x="44879" y="27296"/>
            <a:chExt cx="2869771" cy="1563379"/>
          </a:xfrm>
        </p:grpSpPr>
        <p:cxnSp>
          <p:nvCxnSpPr>
            <p:cNvPr id="193" name="Google Shape;193;p19"/>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194" name="Google Shape;194;p19"/>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195" name="Google Shape;195;p19"/>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196" name="Google Shape;196;p19"/>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9"/>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9"/>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19"/>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00" name="Google Shape;200;p19"/>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201" name="Google Shape;201;p19"/>
          <p:cNvSpPr/>
          <p:nvPr>
            <p:ph idx="1" type="body"/>
          </p:nvPr>
        </p:nvSpPr>
        <p:spPr>
          <a:xfrm>
            <a:off x="1704109" y="3019167"/>
            <a:ext cx="4583866" cy="1439258"/>
          </a:xfrm>
          <a:prstGeom prst="roundRect">
            <a:avLst>
              <a:gd fmla="val 2631" name="adj"/>
            </a:avLst>
          </a:prstGeom>
          <a:solidFill>
            <a:srgbClr val="F2F2F2"/>
          </a:solidFill>
          <a:ln cap="rnd" cmpd="sng" w="19050">
            <a:solidFill>
              <a:srgbClr val="00C6FF"/>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72FF"/>
              </a:buClr>
              <a:buSzPts val="2000"/>
              <a:buNone/>
              <a:defRPr b="1" i="0" sz="2000">
                <a:solidFill>
                  <a:srgbClr val="0072F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02" name="Google Shape;202;p19"/>
          <p:cNvGrpSpPr/>
          <p:nvPr/>
        </p:nvGrpSpPr>
        <p:grpSpPr>
          <a:xfrm>
            <a:off x="-1" y="4458425"/>
            <a:ext cx="8647103" cy="664514"/>
            <a:chOff x="-349411" y="1322122"/>
            <a:chExt cx="8647103" cy="664514"/>
          </a:xfrm>
        </p:grpSpPr>
        <p:cxnSp>
          <p:nvCxnSpPr>
            <p:cNvPr id="203" name="Google Shape;203;p19"/>
            <p:cNvCxnSpPr/>
            <p:nvPr/>
          </p:nvCxnSpPr>
          <p:spPr>
            <a:xfrm>
              <a:off x="-349411" y="1986636"/>
              <a:ext cx="6360520" cy="0"/>
            </a:xfrm>
            <a:prstGeom prst="straightConnector1">
              <a:avLst/>
            </a:prstGeom>
            <a:noFill/>
            <a:ln cap="rnd" cmpd="sng" w="38100">
              <a:solidFill>
                <a:srgbClr val="00F7FF"/>
              </a:solidFill>
              <a:prstDash val="solid"/>
              <a:round/>
              <a:headEnd len="sm" w="sm" type="none"/>
              <a:tailEnd len="sm" w="sm" type="none"/>
            </a:ln>
          </p:spPr>
        </p:cxnSp>
        <p:cxnSp>
          <p:nvCxnSpPr>
            <p:cNvPr id="204" name="Google Shape;204;p19"/>
            <p:cNvCxnSpPr/>
            <p:nvPr/>
          </p:nvCxnSpPr>
          <p:spPr>
            <a:xfrm flipH="1" rot="10800000">
              <a:off x="6011109" y="1480500"/>
              <a:ext cx="591405" cy="506136"/>
            </a:xfrm>
            <a:prstGeom prst="straightConnector1">
              <a:avLst/>
            </a:prstGeom>
            <a:noFill/>
            <a:ln cap="rnd" cmpd="sng" w="38100">
              <a:solidFill>
                <a:srgbClr val="00F7FF"/>
              </a:solidFill>
              <a:prstDash val="solid"/>
              <a:round/>
              <a:headEnd len="sm" w="sm" type="none"/>
              <a:tailEnd len="sm" w="sm" type="none"/>
            </a:ln>
          </p:spPr>
        </p:cxnSp>
        <p:cxnSp>
          <p:nvCxnSpPr>
            <p:cNvPr id="205" name="Google Shape;205;p19"/>
            <p:cNvCxnSpPr/>
            <p:nvPr/>
          </p:nvCxnSpPr>
          <p:spPr>
            <a:xfrm>
              <a:off x="6602514" y="1480500"/>
              <a:ext cx="1378423" cy="0"/>
            </a:xfrm>
            <a:prstGeom prst="straightConnector1">
              <a:avLst/>
            </a:prstGeom>
            <a:noFill/>
            <a:ln cap="rnd" cmpd="sng" w="38100">
              <a:solidFill>
                <a:srgbClr val="00F7FF"/>
              </a:solidFill>
              <a:prstDash val="solid"/>
              <a:round/>
              <a:headEnd len="sm" w="sm" type="none"/>
              <a:tailEnd len="sm" w="sm" type="none"/>
            </a:ln>
          </p:spPr>
        </p:cxnSp>
        <p:sp>
          <p:nvSpPr>
            <p:cNvPr id="206" name="Google Shape;206;p19"/>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07" name="Google Shape;207;p19"/>
          <p:cNvSpPr/>
          <p:nvPr/>
        </p:nvSpPr>
        <p:spPr>
          <a:xfrm>
            <a:off x="796022" y="2736380"/>
            <a:ext cx="2019600" cy="2019600"/>
          </a:xfrm>
          <a:prstGeom prst="ellipse">
            <a:avLst/>
          </a:prstGeom>
          <a:gradFill>
            <a:gsLst>
              <a:gs pos="0">
                <a:srgbClr val="00C6FF"/>
              </a:gs>
              <a:gs pos="100000">
                <a:srgbClr val="0072FF"/>
              </a:gs>
            </a:gsLst>
            <a:lin ang="5400000" scaled="0"/>
          </a:gradFill>
          <a:ln cap="flat" cmpd="sng" w="12700">
            <a:solidFill>
              <a:srgbClr val="00C6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19"/>
          <p:cNvSpPr/>
          <p:nvPr>
            <p:ph idx="2" type="pic"/>
          </p:nvPr>
        </p:nvSpPr>
        <p:spPr>
          <a:xfrm>
            <a:off x="690326" y="2728996"/>
            <a:ext cx="2020888" cy="2019600"/>
          </a:xfrm>
          <a:prstGeom prst="ellipse">
            <a:avLst/>
          </a:prstGeom>
          <a:solidFill>
            <a:schemeClr val="lt1"/>
          </a:solidFill>
          <a:ln cap="flat" cmpd="sng" w="19050">
            <a:solidFill>
              <a:srgbClr val="00F7FF"/>
            </a:solidFill>
            <a:prstDash val="solid"/>
            <a:round/>
            <a:headEnd len="sm" w="sm" type="none"/>
            <a:tailEnd len="sm" w="sm" type="none"/>
          </a:ln>
          <a:effectLst>
            <a:outerShdw blurRad="63500" sx="102000" rotWithShape="0" algn="ctr" sy="102000">
              <a:srgbClr val="000000">
                <a:alpha val="40000"/>
              </a:srgbClr>
            </a:outerShdw>
          </a:effectLst>
        </p:spPr>
      </p:sp>
      <p:sp>
        <p:nvSpPr>
          <p:cNvPr id="209" name="Google Shape;209;p19"/>
          <p:cNvSpPr txBox="1"/>
          <p:nvPr>
            <p:ph idx="3" type="body"/>
          </p:nvPr>
        </p:nvSpPr>
        <p:spPr>
          <a:xfrm>
            <a:off x="2711214" y="2263753"/>
            <a:ext cx="3576761" cy="622002"/>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rgbClr val="00F7FF"/>
              </a:buClr>
              <a:buSzPts val="3600"/>
              <a:buNone/>
              <a:defRPr b="1" sz="36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ục lục">
  <p:cSld name="1_Mục lục">
    <p:spTree>
      <p:nvGrpSpPr>
        <p:cNvPr id="210" name="Shape 210"/>
        <p:cNvGrpSpPr/>
        <p:nvPr/>
      </p:nvGrpSpPr>
      <p:grpSpPr>
        <a:xfrm>
          <a:off x="0" y="0"/>
          <a:ext cx="0" cy="0"/>
          <a:chOff x="0" y="0"/>
          <a:chExt cx="0" cy="0"/>
        </a:xfrm>
      </p:grpSpPr>
      <p:sp>
        <p:nvSpPr>
          <p:cNvPr id="211" name="Google Shape;211;p20"/>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2" name="Google Shape;212;p20"/>
          <p:cNvGrpSpPr/>
          <p:nvPr/>
        </p:nvGrpSpPr>
        <p:grpSpPr>
          <a:xfrm rot="10800000">
            <a:off x="9263702" y="5930537"/>
            <a:ext cx="2869771" cy="886519"/>
            <a:chOff x="44879" y="27296"/>
            <a:chExt cx="2869771" cy="886519"/>
          </a:xfrm>
        </p:grpSpPr>
        <p:cxnSp>
          <p:nvCxnSpPr>
            <p:cNvPr id="213" name="Google Shape;213;p20"/>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14" name="Google Shape;214;p20"/>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15" name="Google Shape;215;p20"/>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216" name="Google Shape;216;p20"/>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17" name="Google Shape;217;p20"/>
          <p:cNvGrpSpPr/>
          <p:nvPr/>
        </p:nvGrpSpPr>
        <p:grpSpPr>
          <a:xfrm>
            <a:off x="-2323526" y="1121391"/>
            <a:ext cx="4841288" cy="5054000"/>
            <a:chOff x="-1259888" y="901609"/>
            <a:chExt cx="4841288" cy="5054000"/>
          </a:xfrm>
        </p:grpSpPr>
        <p:grpSp>
          <p:nvGrpSpPr>
            <p:cNvPr id="218" name="Google Shape;218;p20"/>
            <p:cNvGrpSpPr/>
            <p:nvPr/>
          </p:nvGrpSpPr>
          <p:grpSpPr>
            <a:xfrm>
              <a:off x="-1225468" y="901609"/>
              <a:ext cx="4806868" cy="664514"/>
              <a:chOff x="0" y="901609"/>
              <a:chExt cx="4806868" cy="664514"/>
            </a:xfrm>
          </p:grpSpPr>
          <p:cxnSp>
            <p:nvCxnSpPr>
              <p:cNvPr id="219" name="Google Shape;219;p20"/>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0" name="Google Shape;220;p20"/>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1" name="Google Shape;221;p20"/>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22" name="Google Shape;222;p20"/>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23" name="Google Shape;223;p20"/>
            <p:cNvGrpSpPr/>
            <p:nvPr/>
          </p:nvGrpSpPr>
          <p:grpSpPr>
            <a:xfrm flipH="1" rot="10800000">
              <a:off x="-1225468" y="5291095"/>
              <a:ext cx="4806868" cy="664514"/>
              <a:chOff x="0" y="1232525"/>
              <a:chExt cx="4806868" cy="664514"/>
            </a:xfrm>
          </p:grpSpPr>
          <p:cxnSp>
            <p:nvCxnSpPr>
              <p:cNvPr id="224" name="Google Shape;224;p20"/>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5" name="Google Shape;225;p20"/>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6" name="Google Shape;226;p20"/>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27" name="Google Shape;227;p20"/>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28" name="Google Shape;228;p20"/>
            <p:cNvGrpSpPr/>
            <p:nvPr/>
          </p:nvGrpSpPr>
          <p:grpSpPr>
            <a:xfrm>
              <a:off x="-1225469" y="1860637"/>
              <a:ext cx="3835321" cy="547270"/>
              <a:chOff x="-1" y="1860637"/>
              <a:chExt cx="3835321" cy="547270"/>
            </a:xfrm>
          </p:grpSpPr>
          <p:sp>
            <p:nvSpPr>
              <p:cNvPr id="229" name="Google Shape;229;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0" name="Google Shape;230;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1" name="Google Shape;231;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2" name="Google Shape;232;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33" name="Google Shape;233;p20"/>
            <p:cNvGrpSpPr/>
            <p:nvPr/>
          </p:nvGrpSpPr>
          <p:grpSpPr>
            <a:xfrm flipH="1" rot="10800000">
              <a:off x="-1259888" y="4408929"/>
              <a:ext cx="3835321" cy="547270"/>
              <a:chOff x="-1" y="1860637"/>
              <a:chExt cx="3835321" cy="547270"/>
            </a:xfrm>
          </p:grpSpPr>
          <p:sp>
            <p:nvSpPr>
              <p:cNvPr id="234" name="Google Shape;234;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5" name="Google Shape;235;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6" name="Google Shape;236;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7" name="Google Shape;237;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38" name="Google Shape;238;p20"/>
            <p:cNvGrpSpPr/>
            <p:nvPr/>
          </p:nvGrpSpPr>
          <p:grpSpPr>
            <a:xfrm>
              <a:off x="-1252333" y="2715185"/>
              <a:ext cx="2776521" cy="436736"/>
              <a:chOff x="-26865" y="2715185"/>
              <a:chExt cx="2776521" cy="436736"/>
            </a:xfrm>
          </p:grpSpPr>
          <p:cxnSp>
            <p:nvCxnSpPr>
              <p:cNvPr id="239" name="Google Shape;239;p20"/>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0" name="Google Shape;240;p20"/>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1" name="Google Shape;241;p20"/>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42" name="Google Shape;242;p20"/>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43" name="Google Shape;243;p20"/>
            <p:cNvGrpSpPr/>
            <p:nvPr/>
          </p:nvGrpSpPr>
          <p:grpSpPr>
            <a:xfrm>
              <a:off x="-1225468" y="3843225"/>
              <a:ext cx="2802371" cy="433101"/>
              <a:chOff x="-34420" y="3843718"/>
              <a:chExt cx="2802371" cy="433101"/>
            </a:xfrm>
          </p:grpSpPr>
          <p:cxnSp>
            <p:nvCxnSpPr>
              <p:cNvPr id="244" name="Google Shape;244;p20"/>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5" name="Google Shape;245;p20"/>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6" name="Google Shape;246;p20"/>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47" name="Google Shape;247;p20"/>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48" name="Google Shape;248;p20"/>
          <p:cNvGrpSpPr/>
          <p:nvPr/>
        </p:nvGrpSpPr>
        <p:grpSpPr>
          <a:xfrm flipH="1">
            <a:off x="9674240" y="1121391"/>
            <a:ext cx="4841288" cy="5054000"/>
            <a:chOff x="-1259888" y="901609"/>
            <a:chExt cx="4841288" cy="5054000"/>
          </a:xfrm>
        </p:grpSpPr>
        <p:grpSp>
          <p:nvGrpSpPr>
            <p:cNvPr id="249" name="Google Shape;249;p20"/>
            <p:cNvGrpSpPr/>
            <p:nvPr/>
          </p:nvGrpSpPr>
          <p:grpSpPr>
            <a:xfrm>
              <a:off x="-1225468" y="901609"/>
              <a:ext cx="4806868" cy="664514"/>
              <a:chOff x="0" y="901609"/>
              <a:chExt cx="4806868" cy="664514"/>
            </a:xfrm>
          </p:grpSpPr>
          <p:cxnSp>
            <p:nvCxnSpPr>
              <p:cNvPr id="250" name="Google Shape;250;p20"/>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1" name="Google Shape;251;p20"/>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2" name="Google Shape;252;p20"/>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53" name="Google Shape;253;p20"/>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54" name="Google Shape;254;p20"/>
            <p:cNvGrpSpPr/>
            <p:nvPr/>
          </p:nvGrpSpPr>
          <p:grpSpPr>
            <a:xfrm flipH="1" rot="10800000">
              <a:off x="-1225468" y="5291095"/>
              <a:ext cx="4806868" cy="664514"/>
              <a:chOff x="0" y="1232525"/>
              <a:chExt cx="4806868" cy="664514"/>
            </a:xfrm>
          </p:grpSpPr>
          <p:cxnSp>
            <p:nvCxnSpPr>
              <p:cNvPr id="255" name="Google Shape;255;p20"/>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6" name="Google Shape;256;p20"/>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7" name="Google Shape;257;p20"/>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58" name="Google Shape;258;p20"/>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59" name="Google Shape;259;p20"/>
            <p:cNvGrpSpPr/>
            <p:nvPr/>
          </p:nvGrpSpPr>
          <p:grpSpPr>
            <a:xfrm>
              <a:off x="-1225469" y="1860637"/>
              <a:ext cx="3835321" cy="547270"/>
              <a:chOff x="-1" y="1860637"/>
              <a:chExt cx="3835321" cy="547270"/>
            </a:xfrm>
          </p:grpSpPr>
          <p:sp>
            <p:nvSpPr>
              <p:cNvPr id="260" name="Google Shape;260;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1" name="Google Shape;261;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2" name="Google Shape;262;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3" name="Google Shape;263;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64" name="Google Shape;264;p20"/>
            <p:cNvGrpSpPr/>
            <p:nvPr/>
          </p:nvGrpSpPr>
          <p:grpSpPr>
            <a:xfrm flipH="1" rot="10800000">
              <a:off x="-1259888" y="4408929"/>
              <a:ext cx="3835321" cy="547270"/>
              <a:chOff x="-1" y="1860637"/>
              <a:chExt cx="3835321" cy="547270"/>
            </a:xfrm>
          </p:grpSpPr>
          <p:sp>
            <p:nvSpPr>
              <p:cNvPr id="265" name="Google Shape;265;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6" name="Google Shape;266;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7" name="Google Shape;267;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8" name="Google Shape;268;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69" name="Google Shape;269;p20"/>
            <p:cNvGrpSpPr/>
            <p:nvPr/>
          </p:nvGrpSpPr>
          <p:grpSpPr>
            <a:xfrm>
              <a:off x="-1252333" y="2715185"/>
              <a:ext cx="2776521" cy="436736"/>
              <a:chOff x="-26865" y="2715185"/>
              <a:chExt cx="2776521" cy="436736"/>
            </a:xfrm>
          </p:grpSpPr>
          <p:cxnSp>
            <p:nvCxnSpPr>
              <p:cNvPr id="270" name="Google Shape;270;p20"/>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1" name="Google Shape;271;p20"/>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2" name="Google Shape;272;p20"/>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73" name="Google Shape;273;p20"/>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74" name="Google Shape;274;p20"/>
            <p:cNvGrpSpPr/>
            <p:nvPr/>
          </p:nvGrpSpPr>
          <p:grpSpPr>
            <a:xfrm>
              <a:off x="-1225468" y="3843225"/>
              <a:ext cx="2802371" cy="433101"/>
              <a:chOff x="-34420" y="3843718"/>
              <a:chExt cx="2802371" cy="433101"/>
            </a:xfrm>
          </p:grpSpPr>
          <p:cxnSp>
            <p:nvCxnSpPr>
              <p:cNvPr id="275" name="Google Shape;275;p20"/>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6" name="Google Shape;276;p20"/>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7" name="Google Shape;277;p20"/>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78" name="Google Shape;278;p20"/>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279" name="Google Shape;279;p20"/>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80" name="Google Shape;280;p20"/>
          <p:cNvSpPr txBox="1"/>
          <p:nvPr>
            <p:ph idx="12" type="sldNum"/>
          </p:nvPr>
        </p:nvSpPr>
        <p:spPr>
          <a:xfrm>
            <a:off x="58527"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281" name="Google Shape;281;p20"/>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b="1" sz="3600">
              <a:solidFill>
                <a:schemeClr val="lt1"/>
              </a:solidFill>
              <a:latin typeface="Times New Roman"/>
              <a:ea typeface="Times New Roman"/>
              <a:cs typeface="Times New Roman"/>
              <a:sym typeface="Times New Roman"/>
            </a:endParaRPr>
          </a:p>
        </p:txBody>
      </p:sp>
      <p:sp>
        <p:nvSpPr>
          <p:cNvPr id="282" name="Google Shape;282;p20"/>
          <p:cNvSpPr txBox="1"/>
          <p:nvPr>
            <p:ph idx="1" type="body"/>
          </p:nvPr>
        </p:nvSpPr>
        <p:spPr>
          <a:xfrm>
            <a:off x="2033899" y="1559014"/>
            <a:ext cx="8124204" cy="4153664"/>
          </a:xfrm>
          <a:prstGeom prst="rect">
            <a:avLst/>
          </a:prstGeom>
          <a:noFill/>
          <a:ln>
            <a:noFill/>
          </a:ln>
        </p:spPr>
        <p:txBody>
          <a:bodyPr anchorCtr="0" anchor="ctr"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 name="Google Shape;283;p20"/>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84" name="Google Shape;284;p20"/>
          <p:cNvGrpSpPr/>
          <p:nvPr/>
        </p:nvGrpSpPr>
        <p:grpSpPr>
          <a:xfrm>
            <a:off x="58527" y="40944"/>
            <a:ext cx="2869771" cy="886519"/>
            <a:chOff x="44879" y="27296"/>
            <a:chExt cx="2869771" cy="886519"/>
          </a:xfrm>
        </p:grpSpPr>
        <p:cxnSp>
          <p:nvCxnSpPr>
            <p:cNvPr id="285" name="Google Shape;285;p20"/>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286" name="Google Shape;286;p20"/>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287" name="Google Shape;287;p20"/>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sp>
        <p:nvSpPr>
          <p:cNvPr id="288" name="Google Shape;288;p20"/>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20"/>
          <p:cNvSpPr txBox="1"/>
          <p:nvPr>
            <p:ph idx="2" type="body"/>
          </p:nvPr>
        </p:nvSpPr>
        <p:spPr>
          <a:xfrm>
            <a:off x="4859729" y="734646"/>
            <a:ext cx="2714625" cy="4572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20"/>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chương">
  <p:cSld name="Tiêu đề chương">
    <p:spTree>
      <p:nvGrpSpPr>
        <p:cNvPr id="291" name="Shape 291"/>
        <p:cNvGrpSpPr/>
        <p:nvPr/>
      </p:nvGrpSpPr>
      <p:grpSpPr>
        <a:xfrm>
          <a:off x="0" y="0"/>
          <a:ext cx="0" cy="0"/>
          <a:chOff x="0" y="0"/>
          <a:chExt cx="0" cy="0"/>
        </a:xfrm>
      </p:grpSpPr>
      <p:pic>
        <p:nvPicPr>
          <p:cNvPr descr="Background pattern&#10;&#10;Description automatically generated" id="292" name="Google Shape;292;p21"/>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293" name="Google Shape;293;p21"/>
          <p:cNvSpPr/>
          <p:nvPr/>
        </p:nvSpPr>
        <p:spPr>
          <a:xfrm>
            <a:off x="-1" y="-3113"/>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21"/>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95" name="Google Shape;295;p21"/>
          <p:cNvGrpSpPr/>
          <p:nvPr/>
        </p:nvGrpSpPr>
        <p:grpSpPr>
          <a:xfrm>
            <a:off x="58527" y="40944"/>
            <a:ext cx="2869771" cy="1563379"/>
            <a:chOff x="44879" y="27296"/>
            <a:chExt cx="2869771" cy="1563379"/>
          </a:xfrm>
        </p:grpSpPr>
        <p:cxnSp>
          <p:nvCxnSpPr>
            <p:cNvPr id="296" name="Google Shape;296;p21"/>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297" name="Google Shape;297;p21"/>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298" name="Google Shape;298;p21"/>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299" name="Google Shape;299;p21"/>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00" name="Google Shape;300;p21"/>
          <p:cNvGrpSpPr/>
          <p:nvPr/>
        </p:nvGrpSpPr>
        <p:grpSpPr>
          <a:xfrm rot="10800000">
            <a:off x="9263702" y="5253677"/>
            <a:ext cx="2869771" cy="1563379"/>
            <a:chOff x="44879" y="27296"/>
            <a:chExt cx="2869771" cy="1563379"/>
          </a:xfrm>
        </p:grpSpPr>
        <p:cxnSp>
          <p:nvCxnSpPr>
            <p:cNvPr id="301" name="Google Shape;301;p21"/>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302" name="Google Shape;302;p21"/>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303" name="Google Shape;303;p21"/>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304" name="Google Shape;304;p21"/>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21"/>
          <p:cNvSpPr txBox="1"/>
          <p:nvPr>
            <p:ph idx="1" type="body"/>
          </p:nvPr>
        </p:nvSpPr>
        <p:spPr>
          <a:xfrm>
            <a:off x="1470929" y="2095027"/>
            <a:ext cx="9941071"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 name="Google Shape;306;p21"/>
          <p:cNvSpPr txBox="1"/>
          <p:nvPr>
            <p:ph idx="2" type="body"/>
          </p:nvPr>
        </p:nvSpPr>
        <p:spPr>
          <a:xfrm>
            <a:off x="1470930" y="3169159"/>
            <a:ext cx="9941070"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 name="Google Shape;307;p21"/>
          <p:cNvSpPr txBox="1"/>
          <p:nvPr>
            <p:ph idx="3" type="body"/>
          </p:nvPr>
        </p:nvSpPr>
        <p:spPr>
          <a:xfrm>
            <a:off x="1470930" y="4137397"/>
            <a:ext cx="7147030" cy="91669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21"/>
          <p:cNvSpPr txBox="1"/>
          <p:nvPr>
            <p:ph idx="4" type="body"/>
          </p:nvPr>
        </p:nvSpPr>
        <p:spPr>
          <a:xfrm>
            <a:off x="8896576" y="5231902"/>
            <a:ext cx="2521280" cy="1577819"/>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rgbClr val="00F7FF"/>
              </a:buClr>
              <a:buSzPts val="12000"/>
              <a:buNone/>
              <a:defRPr b="1" sz="120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09" name="Google Shape;309;p21"/>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
        <p:nvSpPr>
          <p:cNvPr id="310" name="Google Shape;310;p21"/>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21"/>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12" name="Google Shape;312;p21"/>
          <p:cNvGrpSpPr/>
          <p:nvPr/>
        </p:nvGrpSpPr>
        <p:grpSpPr>
          <a:xfrm>
            <a:off x="16026" y="4629289"/>
            <a:ext cx="434350" cy="2228711"/>
            <a:chOff x="16026" y="4629289"/>
            <a:chExt cx="434350" cy="2228711"/>
          </a:xfrm>
        </p:grpSpPr>
        <p:sp>
          <p:nvSpPr>
            <p:cNvPr id="313" name="Google Shape;313;p21"/>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21"/>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21"/>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21"/>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21"/>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21"/>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19" name="Google Shape;319;p21"/>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20" name="Google Shape;320;p21"/>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pic>
        <p:nvPicPr>
          <p:cNvPr descr="Background pattern&#10;&#10;Description automatically generated" id="321" name="Google Shape;321;p21"/>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322" name="Google Shape;322;p21"/>
          <p:cNvSpPr/>
          <p:nvPr/>
        </p:nvSpPr>
        <p:spPr>
          <a:xfrm>
            <a:off x="0" y="0"/>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21"/>
          <p:cNvSpPr/>
          <p:nvPr/>
        </p:nvSpPr>
        <p:spPr>
          <a:xfrm>
            <a:off x="16026" y="4629289"/>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21"/>
          <p:cNvSpPr/>
          <p:nvPr/>
        </p:nvSpPr>
        <p:spPr>
          <a:xfrm>
            <a:off x="16026" y="5005641"/>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21"/>
          <p:cNvSpPr/>
          <p:nvPr/>
        </p:nvSpPr>
        <p:spPr>
          <a:xfrm>
            <a:off x="16026" y="5381993"/>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21"/>
          <p:cNvSpPr/>
          <p:nvPr/>
        </p:nvSpPr>
        <p:spPr>
          <a:xfrm>
            <a:off x="16026" y="5758345"/>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21"/>
          <p:cNvSpPr/>
          <p:nvPr/>
        </p:nvSpPr>
        <p:spPr>
          <a:xfrm>
            <a:off x="16026" y="6134697"/>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21"/>
          <p:cNvSpPr/>
          <p:nvPr/>
        </p:nvSpPr>
        <p:spPr>
          <a:xfrm>
            <a:off x="16026" y="6511050"/>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21"/>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30" name="Google Shape;330;p21"/>
          <p:cNvGrpSpPr/>
          <p:nvPr/>
        </p:nvGrpSpPr>
        <p:grpSpPr>
          <a:xfrm>
            <a:off x="58527" y="40944"/>
            <a:ext cx="2869771" cy="1563379"/>
            <a:chOff x="44879" y="27296"/>
            <a:chExt cx="2869771" cy="1563379"/>
          </a:xfrm>
        </p:grpSpPr>
        <p:cxnSp>
          <p:nvCxnSpPr>
            <p:cNvPr id="331" name="Google Shape;331;p21"/>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332" name="Google Shape;332;p21"/>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333" name="Google Shape;333;p21"/>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334" name="Google Shape;334;p21"/>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35" name="Google Shape;335;p21"/>
          <p:cNvGrpSpPr/>
          <p:nvPr/>
        </p:nvGrpSpPr>
        <p:grpSpPr>
          <a:xfrm rot="10800000">
            <a:off x="9263702" y="5253677"/>
            <a:ext cx="2869771" cy="1563379"/>
            <a:chOff x="44879" y="27296"/>
            <a:chExt cx="2869771" cy="1563379"/>
          </a:xfrm>
        </p:grpSpPr>
        <p:cxnSp>
          <p:nvCxnSpPr>
            <p:cNvPr id="336" name="Google Shape;336;p21"/>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337" name="Google Shape;337;p21"/>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338" name="Google Shape;338;p21"/>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339" name="Google Shape;339;p21"/>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1"/>
          <p:cNvSpPr txBox="1"/>
          <p:nvPr>
            <p:ph idx="5" type="sldNum"/>
          </p:nvPr>
        </p:nvSpPr>
        <p:spPr>
          <a:xfrm>
            <a:off x="1189939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341" name="Google Shape;341;p21"/>
          <p:cNvSpPr txBox="1"/>
          <p:nvPr>
            <p:ph idx="6" type="body"/>
          </p:nvPr>
        </p:nvSpPr>
        <p:spPr>
          <a:xfrm>
            <a:off x="1470930" y="2095027"/>
            <a:ext cx="6264164"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2" name="Google Shape;342;p21"/>
          <p:cNvSpPr txBox="1"/>
          <p:nvPr>
            <p:ph idx="7" type="body"/>
          </p:nvPr>
        </p:nvSpPr>
        <p:spPr>
          <a:xfrm>
            <a:off x="1470930" y="3169159"/>
            <a:ext cx="8913813"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21"/>
          <p:cNvSpPr txBox="1"/>
          <p:nvPr>
            <p:ph idx="8" type="body"/>
          </p:nvPr>
        </p:nvSpPr>
        <p:spPr>
          <a:xfrm>
            <a:off x="1470930" y="4137397"/>
            <a:ext cx="7147030" cy="916698"/>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44" name="Google Shape;344;p21"/>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1">
  <p:cSld name="So sanh 1">
    <p:spTree>
      <p:nvGrpSpPr>
        <p:cNvPr id="345" name="Shape 345"/>
        <p:cNvGrpSpPr/>
        <p:nvPr/>
      </p:nvGrpSpPr>
      <p:grpSpPr>
        <a:xfrm>
          <a:off x="0" y="0"/>
          <a:ext cx="0" cy="0"/>
          <a:chOff x="0" y="0"/>
          <a:chExt cx="0" cy="0"/>
        </a:xfrm>
      </p:grpSpPr>
      <p:sp>
        <p:nvSpPr>
          <p:cNvPr id="346" name="Google Shape;346;p22"/>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22"/>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48" name="Google Shape;348;p22"/>
          <p:cNvGrpSpPr/>
          <p:nvPr/>
        </p:nvGrpSpPr>
        <p:grpSpPr>
          <a:xfrm>
            <a:off x="58527" y="54292"/>
            <a:ext cx="2869771" cy="1563379"/>
            <a:chOff x="44879" y="27296"/>
            <a:chExt cx="2869771" cy="1563379"/>
          </a:xfrm>
        </p:grpSpPr>
        <p:cxnSp>
          <p:nvCxnSpPr>
            <p:cNvPr id="349" name="Google Shape;349;p22"/>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50" name="Google Shape;350;p22"/>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51" name="Google Shape;351;p22"/>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52" name="Google Shape;352;p22"/>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22"/>
          <p:cNvSpPr txBox="1"/>
          <p:nvPr>
            <p:ph idx="1" type="body"/>
          </p:nvPr>
        </p:nvSpPr>
        <p:spPr>
          <a:xfrm>
            <a:off x="774144" y="1233825"/>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22"/>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55" name="Google Shape;355;p22"/>
          <p:cNvGrpSpPr/>
          <p:nvPr/>
        </p:nvGrpSpPr>
        <p:grpSpPr>
          <a:xfrm>
            <a:off x="16026" y="4629289"/>
            <a:ext cx="434350" cy="2228711"/>
            <a:chOff x="16026" y="4629289"/>
            <a:chExt cx="434350" cy="2228711"/>
          </a:xfrm>
        </p:grpSpPr>
        <p:sp>
          <p:nvSpPr>
            <p:cNvPr id="356" name="Google Shape;356;p22"/>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22"/>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22"/>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22"/>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22"/>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p22"/>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62" name="Google Shape;362;p22"/>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3" name="Google Shape;363;p22"/>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2"/>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65" name="Google Shape;365;p22"/>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366" name="Google Shape;366;p22"/>
          <p:cNvGrpSpPr/>
          <p:nvPr/>
        </p:nvGrpSpPr>
        <p:grpSpPr>
          <a:xfrm rot="10800000">
            <a:off x="9265363" y="5246044"/>
            <a:ext cx="2869771" cy="1563379"/>
            <a:chOff x="44879" y="27296"/>
            <a:chExt cx="2869771" cy="1563379"/>
          </a:xfrm>
        </p:grpSpPr>
        <p:cxnSp>
          <p:nvCxnSpPr>
            <p:cNvPr id="367" name="Google Shape;367;p22"/>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68" name="Google Shape;368;p22"/>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69" name="Google Shape;369;p22"/>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70" name="Google Shape;370;p22"/>
          <p:cNvSpPr txBox="1"/>
          <p:nvPr>
            <p:ph idx="2" type="body"/>
          </p:nvPr>
        </p:nvSpPr>
        <p:spPr>
          <a:xfrm>
            <a:off x="6151800" y="1228490"/>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1" name="Google Shape;371;p22"/>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2">
  <p:cSld name="So sanh 2">
    <p:spTree>
      <p:nvGrpSpPr>
        <p:cNvPr id="372" name="Shape 372"/>
        <p:cNvGrpSpPr/>
        <p:nvPr/>
      </p:nvGrpSpPr>
      <p:grpSpPr>
        <a:xfrm>
          <a:off x="0" y="0"/>
          <a:ext cx="0" cy="0"/>
          <a:chOff x="0" y="0"/>
          <a:chExt cx="0" cy="0"/>
        </a:xfrm>
      </p:grpSpPr>
      <p:sp>
        <p:nvSpPr>
          <p:cNvPr id="373" name="Google Shape;373;p23"/>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3"/>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75" name="Google Shape;375;p23"/>
          <p:cNvGrpSpPr/>
          <p:nvPr/>
        </p:nvGrpSpPr>
        <p:grpSpPr>
          <a:xfrm>
            <a:off x="58527" y="54292"/>
            <a:ext cx="2869771" cy="1563379"/>
            <a:chOff x="44879" y="27296"/>
            <a:chExt cx="2869771" cy="1563379"/>
          </a:xfrm>
        </p:grpSpPr>
        <p:cxnSp>
          <p:nvCxnSpPr>
            <p:cNvPr id="376" name="Google Shape;376;p23"/>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77" name="Google Shape;377;p23"/>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78" name="Google Shape;378;p23"/>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79" name="Google Shape;379;p23"/>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23"/>
          <p:cNvSpPr txBox="1"/>
          <p:nvPr>
            <p:ph idx="1" type="body"/>
          </p:nvPr>
        </p:nvSpPr>
        <p:spPr>
          <a:xfrm>
            <a:off x="774144" y="1962615"/>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2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82" name="Google Shape;382;p23"/>
          <p:cNvGrpSpPr/>
          <p:nvPr/>
        </p:nvGrpSpPr>
        <p:grpSpPr>
          <a:xfrm>
            <a:off x="16026" y="4629289"/>
            <a:ext cx="434350" cy="2228711"/>
            <a:chOff x="16026" y="4629289"/>
            <a:chExt cx="434350" cy="2228711"/>
          </a:xfrm>
        </p:grpSpPr>
        <p:sp>
          <p:nvSpPr>
            <p:cNvPr id="383" name="Google Shape;383;p23"/>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23"/>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23"/>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23"/>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23"/>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23"/>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89" name="Google Shape;389;p2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23"/>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3"/>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92" name="Google Shape;392;p2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393" name="Google Shape;393;p23"/>
          <p:cNvGrpSpPr/>
          <p:nvPr/>
        </p:nvGrpSpPr>
        <p:grpSpPr>
          <a:xfrm rot="10800000">
            <a:off x="9265363" y="5246044"/>
            <a:ext cx="2869771" cy="1563379"/>
            <a:chOff x="44879" y="27296"/>
            <a:chExt cx="2869771" cy="1563379"/>
          </a:xfrm>
        </p:grpSpPr>
        <p:cxnSp>
          <p:nvCxnSpPr>
            <p:cNvPr id="394" name="Google Shape;394;p23"/>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95" name="Google Shape;395;p23"/>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96" name="Google Shape;396;p23"/>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97" name="Google Shape;397;p23"/>
          <p:cNvSpPr txBox="1"/>
          <p:nvPr>
            <p:ph idx="2" type="body"/>
          </p:nvPr>
        </p:nvSpPr>
        <p:spPr>
          <a:xfrm>
            <a:off x="6151800" y="1957280"/>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23"/>
          <p:cNvSpPr txBox="1"/>
          <p:nvPr>
            <p:ph idx="3" type="body"/>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9" name="Google Shape;399;p23"/>
          <p:cNvSpPr txBox="1"/>
          <p:nvPr>
            <p:ph idx="4" type="body"/>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0" name="Google Shape;400;p23"/>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2">
  <p:cSld name="Noi dung 2">
    <p:spTree>
      <p:nvGrpSpPr>
        <p:cNvPr id="401" name="Shape 401"/>
        <p:cNvGrpSpPr/>
        <p:nvPr/>
      </p:nvGrpSpPr>
      <p:grpSpPr>
        <a:xfrm>
          <a:off x="0" y="0"/>
          <a:ext cx="0" cy="0"/>
          <a:chOff x="0" y="0"/>
          <a:chExt cx="0" cy="0"/>
        </a:xfrm>
      </p:grpSpPr>
      <p:sp>
        <p:nvSpPr>
          <p:cNvPr id="402" name="Google Shape;402;p24"/>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p24"/>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04" name="Google Shape;404;p24"/>
          <p:cNvGrpSpPr/>
          <p:nvPr/>
        </p:nvGrpSpPr>
        <p:grpSpPr>
          <a:xfrm>
            <a:off x="58527" y="54292"/>
            <a:ext cx="2869771" cy="1563379"/>
            <a:chOff x="44879" y="27296"/>
            <a:chExt cx="2869771" cy="1563379"/>
          </a:xfrm>
        </p:grpSpPr>
        <p:cxnSp>
          <p:nvCxnSpPr>
            <p:cNvPr id="405" name="Google Shape;405;p2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06" name="Google Shape;406;p2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07" name="Google Shape;407;p2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08" name="Google Shape;408;p24"/>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24"/>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24"/>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2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412" name="Google Shape;412;p24"/>
          <p:cNvGrpSpPr/>
          <p:nvPr/>
        </p:nvGrpSpPr>
        <p:grpSpPr>
          <a:xfrm>
            <a:off x="16026" y="4629289"/>
            <a:ext cx="434350" cy="2228711"/>
            <a:chOff x="16026" y="4629289"/>
            <a:chExt cx="434350" cy="2228711"/>
          </a:xfrm>
        </p:grpSpPr>
        <p:sp>
          <p:nvSpPr>
            <p:cNvPr id="413" name="Google Shape;413;p24"/>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24"/>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p24"/>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24"/>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 name="Google Shape;417;p24"/>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p24"/>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19" name="Google Shape;419;p2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24"/>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4"/>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22" name="Google Shape;422;p2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423" name="Google Shape;423;p24"/>
          <p:cNvGrpSpPr/>
          <p:nvPr/>
        </p:nvGrpSpPr>
        <p:grpSpPr>
          <a:xfrm rot="10800000">
            <a:off x="9265363" y="5246044"/>
            <a:ext cx="2869771" cy="1563379"/>
            <a:chOff x="44879" y="27296"/>
            <a:chExt cx="2869771" cy="1563379"/>
          </a:xfrm>
        </p:grpSpPr>
        <p:cxnSp>
          <p:nvCxnSpPr>
            <p:cNvPr id="424" name="Google Shape;424;p2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25" name="Google Shape;425;p2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26" name="Google Shape;426;p2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27" name="Google Shape;427;p24"/>
          <p:cNvSpPr txBox="1"/>
          <p:nvPr>
            <p:ph idx="2" type="body"/>
          </p:nvPr>
        </p:nvSpPr>
        <p:spPr>
          <a:xfrm>
            <a:off x="5085934" y="202009"/>
            <a:ext cx="6267866" cy="5969620"/>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ình ảnh">
  <p:cSld name="Hình ảnh">
    <p:spTree>
      <p:nvGrpSpPr>
        <p:cNvPr id="428" name="Shape 428"/>
        <p:cNvGrpSpPr/>
        <p:nvPr/>
      </p:nvGrpSpPr>
      <p:grpSpPr>
        <a:xfrm>
          <a:off x="0" y="0"/>
          <a:ext cx="0" cy="0"/>
          <a:chOff x="0" y="0"/>
          <a:chExt cx="0" cy="0"/>
        </a:xfrm>
      </p:grpSpPr>
      <p:sp>
        <p:nvSpPr>
          <p:cNvPr id="429" name="Google Shape;429;p25"/>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p2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31" name="Google Shape;431;p25"/>
          <p:cNvGrpSpPr/>
          <p:nvPr/>
        </p:nvGrpSpPr>
        <p:grpSpPr>
          <a:xfrm>
            <a:off x="58527" y="54292"/>
            <a:ext cx="2869771" cy="1563379"/>
            <a:chOff x="44879" y="27296"/>
            <a:chExt cx="2869771" cy="1563379"/>
          </a:xfrm>
        </p:grpSpPr>
        <p:cxnSp>
          <p:nvCxnSpPr>
            <p:cNvPr id="432" name="Google Shape;432;p2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33" name="Google Shape;433;p2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34" name="Google Shape;434;p2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35" name="Google Shape;435;p2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 name="Google Shape;436;p25"/>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7" name="Google Shape;437;p25"/>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2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439" name="Google Shape;439;p25"/>
          <p:cNvGrpSpPr/>
          <p:nvPr/>
        </p:nvGrpSpPr>
        <p:grpSpPr>
          <a:xfrm>
            <a:off x="16026" y="4629289"/>
            <a:ext cx="434350" cy="2228711"/>
            <a:chOff x="16026" y="4629289"/>
            <a:chExt cx="434350" cy="2228711"/>
          </a:xfrm>
        </p:grpSpPr>
        <p:sp>
          <p:nvSpPr>
            <p:cNvPr id="440" name="Google Shape;440;p25"/>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1" name="Google Shape;441;p25"/>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25"/>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25"/>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25"/>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25"/>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46" name="Google Shape;446;p25"/>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25"/>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25"/>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49" name="Google Shape;449;p2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450" name="Google Shape;450;p25"/>
          <p:cNvGrpSpPr/>
          <p:nvPr/>
        </p:nvGrpSpPr>
        <p:grpSpPr>
          <a:xfrm rot="10800000">
            <a:off x="9265363" y="5246044"/>
            <a:ext cx="2869771" cy="1563379"/>
            <a:chOff x="44879" y="27296"/>
            <a:chExt cx="2869771" cy="1563379"/>
          </a:xfrm>
        </p:grpSpPr>
        <p:cxnSp>
          <p:nvCxnSpPr>
            <p:cNvPr id="451" name="Google Shape;451;p2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52" name="Google Shape;452;p2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53" name="Google Shape;453;p2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54" name="Google Shape;454;p25"/>
          <p:cNvSpPr/>
          <p:nvPr>
            <p:ph idx="2" type="pic"/>
          </p:nvPr>
        </p:nvSpPr>
        <p:spPr>
          <a:xfrm>
            <a:off x="5160373" y="202009"/>
            <a:ext cx="6237261" cy="5976999"/>
          </a:xfrm>
          <a:prstGeom prst="roundRect">
            <a:avLst>
              <a:gd fmla="val 574" name="adj"/>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1">
  <p:cSld name="Trang trong 1">
    <p:spTree>
      <p:nvGrpSpPr>
        <p:cNvPr id="455" name="Shape 455"/>
        <p:cNvGrpSpPr/>
        <p:nvPr/>
      </p:nvGrpSpPr>
      <p:grpSpPr>
        <a:xfrm>
          <a:off x="0" y="0"/>
          <a:ext cx="0" cy="0"/>
          <a:chOff x="0" y="0"/>
          <a:chExt cx="0" cy="0"/>
        </a:xfrm>
      </p:grpSpPr>
      <p:sp>
        <p:nvSpPr>
          <p:cNvPr id="456" name="Google Shape;456;p26"/>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57" name="Google Shape;457;p26"/>
          <p:cNvGrpSpPr/>
          <p:nvPr/>
        </p:nvGrpSpPr>
        <p:grpSpPr>
          <a:xfrm rot="10800000">
            <a:off x="9263702" y="5930537"/>
            <a:ext cx="2869771" cy="886519"/>
            <a:chOff x="44879" y="27296"/>
            <a:chExt cx="2869771" cy="886519"/>
          </a:xfrm>
        </p:grpSpPr>
        <p:cxnSp>
          <p:nvCxnSpPr>
            <p:cNvPr id="458" name="Google Shape;458;p26"/>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59" name="Google Shape;459;p26"/>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60" name="Google Shape;460;p26"/>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461" name="Google Shape;461;p26"/>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62" name="Google Shape;462;p26"/>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463" name="Google Shape;463;p26"/>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4" name="Google Shape;464;p26"/>
          <p:cNvGrpSpPr/>
          <p:nvPr/>
        </p:nvGrpSpPr>
        <p:grpSpPr>
          <a:xfrm>
            <a:off x="58527" y="40944"/>
            <a:ext cx="2869771" cy="886519"/>
            <a:chOff x="44879" y="27296"/>
            <a:chExt cx="2869771" cy="886519"/>
          </a:xfrm>
        </p:grpSpPr>
        <p:cxnSp>
          <p:nvCxnSpPr>
            <p:cNvPr id="465" name="Google Shape;465;p26"/>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66" name="Google Shape;466;p26"/>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67" name="Google Shape;467;p26"/>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sp>
        <p:nvSpPr>
          <p:cNvPr id="468" name="Google Shape;468;p26"/>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0" name="Google Shape;470;p26"/>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2">
  <p:cSld name="Trang trong 2">
    <p:spTree>
      <p:nvGrpSpPr>
        <p:cNvPr id="471" name="Shape 471"/>
        <p:cNvGrpSpPr/>
        <p:nvPr/>
      </p:nvGrpSpPr>
      <p:grpSpPr>
        <a:xfrm>
          <a:off x="0" y="0"/>
          <a:ext cx="0" cy="0"/>
          <a:chOff x="0" y="0"/>
          <a:chExt cx="0" cy="0"/>
        </a:xfrm>
      </p:grpSpPr>
      <p:sp>
        <p:nvSpPr>
          <p:cNvPr id="472" name="Google Shape;472;p27"/>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73" name="Google Shape;473;p27"/>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êu đề">
  <p:cSld name="1_Tiêu đề">
    <p:spTree>
      <p:nvGrpSpPr>
        <p:cNvPr id="474" name="Shape 474"/>
        <p:cNvGrpSpPr/>
        <p:nvPr/>
      </p:nvGrpSpPr>
      <p:grpSpPr>
        <a:xfrm>
          <a:off x="0" y="0"/>
          <a:ext cx="0" cy="0"/>
          <a:chOff x="0" y="0"/>
          <a:chExt cx="0" cy="0"/>
        </a:xfrm>
      </p:grpSpPr>
      <p:sp>
        <p:nvSpPr>
          <p:cNvPr id="475" name="Google Shape;475;p28"/>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28"/>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28"/>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78" name="Google Shape;478;p28"/>
          <p:cNvGrpSpPr/>
          <p:nvPr/>
        </p:nvGrpSpPr>
        <p:grpSpPr>
          <a:xfrm>
            <a:off x="58527" y="40944"/>
            <a:ext cx="2869771" cy="1563379"/>
            <a:chOff x="44879" y="27296"/>
            <a:chExt cx="2869771" cy="1563379"/>
          </a:xfrm>
        </p:grpSpPr>
        <p:cxnSp>
          <p:nvCxnSpPr>
            <p:cNvPr id="479" name="Google Shape;479;p28"/>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80" name="Google Shape;480;p28"/>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81" name="Google Shape;481;p28"/>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82" name="Google Shape;482;p28"/>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3" name="Google Shape;483;p28"/>
          <p:cNvGrpSpPr/>
          <p:nvPr/>
        </p:nvGrpSpPr>
        <p:grpSpPr>
          <a:xfrm rot="10800000">
            <a:off x="9263702" y="5253677"/>
            <a:ext cx="2869771" cy="1563379"/>
            <a:chOff x="44879" y="27296"/>
            <a:chExt cx="2869771" cy="1563379"/>
          </a:xfrm>
        </p:grpSpPr>
        <p:cxnSp>
          <p:nvCxnSpPr>
            <p:cNvPr id="484" name="Google Shape;484;p28"/>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85" name="Google Shape;485;p28"/>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86" name="Google Shape;486;p28"/>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487" name="Google Shape;487;p28"/>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 name="Google Shape;488;p28"/>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489" name="Google Shape;489;p28"/>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490" name="Google Shape;490;p28"/>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vi-VN" sz="1400">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vi-VN" sz="1400">
                <a:solidFill>
                  <a:srgbClr val="000046"/>
                </a:solidFill>
                <a:latin typeface="Arial"/>
                <a:ea typeface="Arial"/>
                <a:cs typeface="Arial"/>
                <a:sym typeface="Arial"/>
              </a:rPr>
              <a:t>TRƯỜNG ĐẠI HỌC CÔNG NGHỆ THÔNG TIN</a:t>
            </a:r>
            <a:endParaRPr/>
          </a:p>
        </p:txBody>
      </p:sp>
      <p:sp>
        <p:nvSpPr>
          <p:cNvPr id="491" name="Google Shape;491;p28"/>
          <p:cNvSpPr/>
          <p:nvPr/>
        </p:nvSpPr>
        <p:spPr>
          <a:xfrm>
            <a:off x="11924591" y="658314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92" name="Google Shape;492;p28"/>
          <p:cNvSpPr txBox="1"/>
          <p:nvPr>
            <p:ph idx="12" type="sldNum"/>
          </p:nvPr>
        </p:nvSpPr>
        <p:spPr>
          <a:xfrm>
            <a:off x="11894359" y="6566401"/>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sz="700">
                <a:solidFill>
                  <a:schemeClr val="dk1"/>
                </a:solidFill>
                <a:latin typeface="Arial"/>
                <a:ea typeface="Arial"/>
                <a:cs typeface="Arial"/>
                <a:sym typeface="Arial"/>
              </a:defRPr>
            </a:lvl1pPr>
            <a:lvl2pPr indent="0" lvl="1" marL="0" marR="0" algn="ctr">
              <a:spcBef>
                <a:spcPts val="0"/>
              </a:spcBef>
              <a:buNone/>
              <a:defRPr sz="700">
                <a:solidFill>
                  <a:schemeClr val="dk1"/>
                </a:solidFill>
                <a:latin typeface="Arial"/>
                <a:ea typeface="Arial"/>
                <a:cs typeface="Arial"/>
                <a:sym typeface="Arial"/>
              </a:defRPr>
            </a:lvl2pPr>
            <a:lvl3pPr indent="0" lvl="2" marL="0" marR="0" algn="ctr">
              <a:spcBef>
                <a:spcPts val="0"/>
              </a:spcBef>
              <a:buNone/>
              <a:defRPr sz="700">
                <a:solidFill>
                  <a:schemeClr val="dk1"/>
                </a:solidFill>
                <a:latin typeface="Arial"/>
                <a:ea typeface="Arial"/>
                <a:cs typeface="Arial"/>
                <a:sym typeface="Arial"/>
              </a:defRPr>
            </a:lvl3pPr>
            <a:lvl4pPr indent="0" lvl="3" marL="0" marR="0" algn="ctr">
              <a:spcBef>
                <a:spcPts val="0"/>
              </a:spcBef>
              <a:buNone/>
              <a:defRPr sz="700">
                <a:solidFill>
                  <a:schemeClr val="dk1"/>
                </a:solidFill>
                <a:latin typeface="Arial"/>
                <a:ea typeface="Arial"/>
                <a:cs typeface="Arial"/>
                <a:sym typeface="Arial"/>
              </a:defRPr>
            </a:lvl4pPr>
            <a:lvl5pPr indent="0" lvl="4" marL="0" marR="0" algn="ctr">
              <a:spcBef>
                <a:spcPts val="0"/>
              </a:spcBef>
              <a:buNone/>
              <a:defRPr sz="700">
                <a:solidFill>
                  <a:schemeClr val="dk1"/>
                </a:solidFill>
                <a:latin typeface="Arial"/>
                <a:ea typeface="Arial"/>
                <a:cs typeface="Arial"/>
                <a:sym typeface="Arial"/>
              </a:defRPr>
            </a:lvl5pPr>
            <a:lvl6pPr indent="0" lvl="5" marL="0" marR="0" algn="ctr">
              <a:spcBef>
                <a:spcPts val="0"/>
              </a:spcBef>
              <a:buNone/>
              <a:defRPr sz="700">
                <a:solidFill>
                  <a:schemeClr val="dk1"/>
                </a:solidFill>
                <a:latin typeface="Arial"/>
                <a:ea typeface="Arial"/>
                <a:cs typeface="Arial"/>
                <a:sym typeface="Arial"/>
              </a:defRPr>
            </a:lvl6pPr>
            <a:lvl7pPr indent="0" lvl="6" marL="0" marR="0" algn="ctr">
              <a:spcBef>
                <a:spcPts val="0"/>
              </a:spcBef>
              <a:buNone/>
              <a:defRPr sz="700">
                <a:solidFill>
                  <a:schemeClr val="dk1"/>
                </a:solidFill>
                <a:latin typeface="Arial"/>
                <a:ea typeface="Arial"/>
                <a:cs typeface="Arial"/>
                <a:sym typeface="Arial"/>
              </a:defRPr>
            </a:lvl7pPr>
            <a:lvl8pPr indent="0" lvl="7" marL="0" marR="0" algn="ctr">
              <a:spcBef>
                <a:spcPts val="0"/>
              </a:spcBef>
              <a:buNone/>
              <a:defRPr sz="700">
                <a:solidFill>
                  <a:schemeClr val="dk1"/>
                </a:solidFill>
                <a:latin typeface="Arial"/>
                <a:ea typeface="Arial"/>
                <a:cs typeface="Arial"/>
                <a:sym typeface="Arial"/>
              </a:defRPr>
            </a:lvl8pPr>
            <a:lvl9pPr indent="0" lvl="8" marL="0" marR="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493" name="Google Shape;493;p28"/>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SzPts val="4400"/>
              <a:buNone/>
              <a:defRPr b="1" sz="4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28"/>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2000"/>
              <a:buNone/>
              <a:defRPr b="1" sz="20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5" name="Google Shape;495;p28"/>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28"/>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BFBFBF"/>
              </a:buClr>
              <a:buSzPts val="1200"/>
              <a:buNone/>
              <a:defRPr sz="1200">
                <a:solidFill>
                  <a:srgbClr val="BFBFB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28"/>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72FF"/>
              </a:buClr>
              <a:buSzPts val="4000"/>
              <a:buFont typeface="Times New Roman"/>
              <a:buNone/>
              <a:defRPr b="1" i="0" sz="4000" u="none" cap="none" strike="noStrik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C95"/>
                </a:solidFill>
                <a:latin typeface="Calibri"/>
                <a:ea typeface="Calibri"/>
                <a:cs typeface="Calibri"/>
                <a:sym typeface="Calibri"/>
              </a:defRPr>
            </a:lvl1pPr>
            <a:lvl2pPr indent="0" lvl="1" marL="0" marR="0" rtl="0" algn="r">
              <a:spcBef>
                <a:spcPts val="0"/>
              </a:spcBef>
              <a:buNone/>
              <a:defRPr b="0" i="0" sz="1200" u="none" cap="none" strike="noStrike">
                <a:solidFill>
                  <a:srgbClr val="8B8C95"/>
                </a:solidFill>
                <a:latin typeface="Calibri"/>
                <a:ea typeface="Calibri"/>
                <a:cs typeface="Calibri"/>
                <a:sym typeface="Calibri"/>
              </a:defRPr>
            </a:lvl2pPr>
            <a:lvl3pPr indent="0" lvl="2" marL="0" marR="0" rtl="0" algn="r">
              <a:spcBef>
                <a:spcPts val="0"/>
              </a:spcBef>
              <a:buNone/>
              <a:defRPr b="0" i="0" sz="1200" u="none" cap="none" strike="noStrike">
                <a:solidFill>
                  <a:srgbClr val="8B8C95"/>
                </a:solidFill>
                <a:latin typeface="Calibri"/>
                <a:ea typeface="Calibri"/>
                <a:cs typeface="Calibri"/>
                <a:sym typeface="Calibri"/>
              </a:defRPr>
            </a:lvl3pPr>
            <a:lvl4pPr indent="0" lvl="3" marL="0" marR="0" rtl="0" algn="r">
              <a:spcBef>
                <a:spcPts val="0"/>
              </a:spcBef>
              <a:buNone/>
              <a:defRPr b="0" i="0" sz="1200" u="none" cap="none" strike="noStrike">
                <a:solidFill>
                  <a:srgbClr val="8B8C95"/>
                </a:solidFill>
                <a:latin typeface="Calibri"/>
                <a:ea typeface="Calibri"/>
                <a:cs typeface="Calibri"/>
                <a:sym typeface="Calibri"/>
              </a:defRPr>
            </a:lvl4pPr>
            <a:lvl5pPr indent="0" lvl="4" marL="0" marR="0" rtl="0" algn="r">
              <a:spcBef>
                <a:spcPts val="0"/>
              </a:spcBef>
              <a:buNone/>
              <a:defRPr b="0" i="0" sz="1200" u="none" cap="none" strike="noStrike">
                <a:solidFill>
                  <a:srgbClr val="8B8C95"/>
                </a:solidFill>
                <a:latin typeface="Calibri"/>
                <a:ea typeface="Calibri"/>
                <a:cs typeface="Calibri"/>
                <a:sym typeface="Calibri"/>
              </a:defRPr>
            </a:lvl5pPr>
            <a:lvl6pPr indent="0" lvl="5" marL="0" marR="0" rtl="0" algn="r">
              <a:spcBef>
                <a:spcPts val="0"/>
              </a:spcBef>
              <a:buNone/>
              <a:defRPr b="0" i="0" sz="1200" u="none" cap="none" strike="noStrike">
                <a:solidFill>
                  <a:srgbClr val="8B8C95"/>
                </a:solidFill>
                <a:latin typeface="Calibri"/>
                <a:ea typeface="Calibri"/>
                <a:cs typeface="Calibri"/>
                <a:sym typeface="Calibri"/>
              </a:defRPr>
            </a:lvl6pPr>
            <a:lvl7pPr indent="0" lvl="6" marL="0" marR="0" rtl="0" algn="r">
              <a:spcBef>
                <a:spcPts val="0"/>
              </a:spcBef>
              <a:buNone/>
              <a:defRPr b="0" i="0" sz="1200" u="none" cap="none" strike="noStrike">
                <a:solidFill>
                  <a:srgbClr val="8B8C95"/>
                </a:solidFill>
                <a:latin typeface="Calibri"/>
                <a:ea typeface="Calibri"/>
                <a:cs typeface="Calibri"/>
                <a:sym typeface="Calibri"/>
              </a:defRPr>
            </a:lvl7pPr>
            <a:lvl8pPr indent="0" lvl="7" marL="0" marR="0" rtl="0" algn="r">
              <a:spcBef>
                <a:spcPts val="0"/>
              </a:spcBef>
              <a:buNone/>
              <a:defRPr b="0" i="0" sz="1200" u="none" cap="none" strike="noStrike">
                <a:solidFill>
                  <a:srgbClr val="8B8C95"/>
                </a:solidFill>
                <a:latin typeface="Calibri"/>
                <a:ea typeface="Calibri"/>
                <a:cs typeface="Calibri"/>
                <a:sym typeface="Calibri"/>
              </a:defRPr>
            </a:lvl8pPr>
            <a:lvl9pPr indent="0" lvl="8" marL="0" marR="0" rtl="0" algn="r">
              <a:spcBef>
                <a:spcPts val="0"/>
              </a:spcBef>
              <a:buNone/>
              <a:defRPr b="0" i="0" sz="1200" u="none" cap="none" strike="noStrike">
                <a:solidFill>
                  <a:srgbClr val="8B8C9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03" name="Google Shape;503;p1"/>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
        <p:nvSpPr>
          <p:cNvPr id="504" name="Google Shape;504;p1"/>
          <p:cNvSpPr txBox="1"/>
          <p:nvPr>
            <p:ph idx="1" type="body"/>
          </p:nvPr>
        </p:nvSpPr>
        <p:spPr>
          <a:xfrm>
            <a:off x="1916121" y="1483760"/>
            <a:ext cx="8490387" cy="696165"/>
          </a:xfrm>
          <a:prstGeom prst="rect">
            <a:avLst/>
          </a:prstGeom>
          <a:noFill/>
          <a:ln>
            <a:noFill/>
          </a:ln>
        </p:spPr>
        <p:txBody>
          <a:bodyPr anchorCtr="0" anchor="ctr" bIns="45700" lIns="91425" spcFirstLastPara="1" rIns="91425" wrap="square" tIns="45700">
            <a:normAutofit fontScale="62500" lnSpcReduction="20000"/>
          </a:bodyPr>
          <a:lstStyle/>
          <a:p>
            <a:pPr indent="0" lvl="0" marL="0" rtl="0" algn="ctr">
              <a:lnSpc>
                <a:spcPct val="90000"/>
              </a:lnSpc>
              <a:spcBef>
                <a:spcPts val="0"/>
              </a:spcBef>
              <a:spcAft>
                <a:spcPts val="0"/>
              </a:spcAft>
              <a:buClr>
                <a:srgbClr val="000046"/>
              </a:buClr>
              <a:buSzPct val="100000"/>
              <a:buNone/>
            </a:pPr>
            <a:r>
              <a:rPr lang="vi-VN"/>
              <a:t>ĐỒ ÁN MÔN HỌC: MÁY HỌC NÂNG CAO</a:t>
            </a:r>
            <a:endParaRPr/>
          </a:p>
        </p:txBody>
      </p:sp>
      <p:sp>
        <p:nvSpPr>
          <p:cNvPr id="505" name="Google Shape;505;p1"/>
          <p:cNvSpPr txBox="1"/>
          <p:nvPr>
            <p:ph idx="2" type="body"/>
          </p:nvPr>
        </p:nvSpPr>
        <p:spPr>
          <a:xfrm>
            <a:off x="876991" y="2400301"/>
            <a:ext cx="10437900" cy="11103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46"/>
              </a:buClr>
              <a:buSzPts val="2800"/>
              <a:buNone/>
            </a:pPr>
            <a:r>
              <a:rPr sz="2400" b="1">
                <a:solidFill>
                  <a:srgbClr val="1C305E"/>
                </a:solidFill>
                <a:latin typeface="Arial"/>
              </a:rPr>
              <a:t>NGHIÊN CỨU VÀ XÂY DỰNG HỆ THỐNG SINH ẢNH X-QUANG MỐI HÀN TỔNG HỢP CÓ CHÚ THÍCH TỰ ĐỘNG</a:t>
            </a:r>
            <a:endParaRPr>
              <a:latin typeface="Arial"/>
              <a:ea typeface="Arial"/>
              <a:cs typeface="Arial"/>
              <a:sym typeface="Arial"/>
            </a:endParaRPr>
          </a:p>
          <a:p>
            <a:pPr algn="ctr"/>
            <a:r>
              <a:rPr sz="2400" b="1">
                <a:solidFill>
                  <a:srgbClr val="1C305E"/>
                </a:solidFill>
                <a:latin typeface="Arial"/>
              </a:rPr>
              <a:t>SỬ DỤNG STABLE DIFFUSION 1.5 VÀ LoRA</a:t>
            </a:r>
          </a:p>
        </p:txBody>
      </p:sp>
      <p:sp>
        <p:nvSpPr>
          <p:cNvPr id="506" name="Google Shape;506;p1"/>
          <p:cNvSpPr txBox="1"/>
          <p:nvPr/>
        </p:nvSpPr>
        <p:spPr>
          <a:xfrm>
            <a:off x="1916121" y="3513309"/>
            <a:ext cx="9144000" cy="1727700"/>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sz="1800" b="1">
                <a:solidFill>
                  <a:srgbClr val="2A2F4F"/>
                </a:solidFill>
                <a:latin typeface="Arial"/>
              </a:rPr>
              <a:t>GVHD: ThS. Đặng Việt Dũng</a:t>
            </a:r>
            <a:endParaRPr b="1" sz="2800">
              <a:solidFill>
                <a:srgbClr val="000046"/>
              </a:solidFill>
              <a:latin typeface="Arial"/>
              <a:ea typeface="Arial"/>
              <a:cs typeface="Arial"/>
              <a:sym typeface="Arial"/>
            </a:endParaRPr>
          </a:p>
          <a:p>
            <a:pPr algn="ctr"/>
            <a:r>
              <a:rPr sz="1700" b="0">
                <a:solidFill>
                  <a:srgbClr val="2A2F4F"/>
                </a:solidFill>
                <a:latin typeface="Arial"/>
              </a:rPr>
              <a:t>Trương Ngọc Sơn, 25210183</a:t>
            </a:r>
          </a:p>
          <a:p>
            <a:pPr algn="ctr"/>
            <a:r>
              <a:rPr sz="1700" b="0">
                <a:solidFill>
                  <a:srgbClr val="2A2F4F"/>
                </a:solidFill>
                <a:latin typeface="Arial"/>
              </a:rPr>
              <a:t>Trần Tín Nghĩa, 25210147</a:t>
            </a:r>
          </a:p>
          <a:p>
            <a:pPr algn="ctr"/>
            <a:r>
              <a:rPr sz="1700" b="0">
                <a:solidFill>
                  <a:srgbClr val="2A2F4F"/>
                </a:solidFill>
                <a:latin typeface="Arial"/>
              </a:rPr>
              <a:t>Hồ Thị Mỹ Phương, 25210170</a:t>
            </a:r>
          </a:p>
          <a:p>
            <a:pPr algn="ctr"/>
            <a:r>
              <a:rPr sz="1500" b="0">
                <a:solidFill>
                  <a:srgbClr val="2A2F4F"/>
                </a:solidFill>
                <a:latin typeface="Arial"/>
              </a:rPr>
              <a:t>Cử nhân ngành Trí tuệ nhân tạo, TP. Hồ Chí Minh,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vi-VN"/>
              <a:t>Trường Đại học Công nghệ Thông tin, ĐHQG-HCM</a:t>
            </a:r>
            <a:endParaRPr/>
          </a:p>
        </p:txBody>
      </p:sp>
      <p:sp>
        <p:nvSpPr>
          <p:cNvPr id="512" name="Google Shape;512;p2"/>
          <p:cNvSpPr txBox="1"/>
          <p:nvPr>
            <p:ph idx="12" type="sldNum"/>
          </p:nvPr>
        </p:nvSpPr>
        <p:spPr>
          <a:xfrm>
            <a:off x="11900400" y="6566400"/>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
        <p:nvSpPr>
          <p:cNvPr id="513" name="Google Shape;513;p2"/>
          <p:cNvSpPr txBox="1"/>
          <p:nvPr>
            <p:ph idx="1" type="body"/>
          </p:nvPr>
        </p:nvSpPr>
        <p:spPr>
          <a:xfrm>
            <a:off x="2735144" y="1286346"/>
            <a:ext cx="6721714" cy="4699000"/>
          </a:xfrm>
          <a:prstGeom prst="rect">
            <a:avLst/>
          </a:prstGeom>
          <a:noFill/>
          <a:ln>
            <a:noFill/>
          </a:ln>
        </p:spPr>
        <p:txBody>
          <a:bodyPr anchorCtr="0" anchor="ctr" bIns="45700" lIns="91425" spcFirstLastPara="1" rIns="91425" wrap="square" tIns="45700">
            <a:normAutofit/>
          </a:bodyPr>
          <a:lstStyle/>
          <a:p>
            <a:pPr indent="-514350" lvl="0" marL="514350" rtl="0" algn="just">
              <a:lnSpc>
                <a:spcPct val="150000"/>
              </a:lnSpc>
              <a:spcBef>
                <a:spcPts val="0"/>
              </a:spcBef>
              <a:spcAft>
                <a:spcPts val="0"/>
              </a:spcAft>
              <a:buClr>
                <a:schemeClr val="dk1"/>
              </a:buClr>
              <a:buSzPts val="2400"/>
              <a:buAutoNum type="arabicPeriod"/>
            </a:pPr>
            <a:r>
              <a:rPr b="1" lang="vi-VN" sz="2400"/>
              <a:t>TỔNG QUAN ĐỀ TÀI</a:t>
            </a:r>
            <a:endParaRPr/>
          </a:p>
          <a:p>
            <a:pPr indent="-514350" lvl="0" marL="514350" rtl="0" algn="just">
              <a:lnSpc>
                <a:spcPct val="150000"/>
              </a:lnSpc>
              <a:spcBef>
                <a:spcPts val="1000"/>
              </a:spcBef>
              <a:spcAft>
                <a:spcPts val="0"/>
              </a:spcAft>
              <a:buClr>
                <a:schemeClr val="dk1"/>
              </a:buClr>
              <a:buSzPts val="2400"/>
              <a:buAutoNum type="arabicPeriod"/>
            </a:pPr>
            <a:r>
              <a:rPr b="1" lang="vi-VN" sz="2400"/>
              <a:t>CƠ SỞ LÝ THUYẾT</a:t>
            </a:r>
            <a:endParaRPr/>
          </a:p>
          <a:p>
            <a:pPr indent="-514350" lvl="0" marL="514350" rtl="0" algn="just">
              <a:lnSpc>
                <a:spcPct val="150000"/>
              </a:lnSpc>
              <a:spcBef>
                <a:spcPts val="1000"/>
              </a:spcBef>
              <a:spcAft>
                <a:spcPts val="0"/>
              </a:spcAft>
              <a:buClr>
                <a:schemeClr val="dk1"/>
              </a:buClr>
              <a:buSzPts val="2400"/>
              <a:buAutoNum type="arabicPeriod"/>
            </a:pPr>
            <a:r>
              <a:rPr b="1" lang="vi-VN" sz="2400"/>
              <a:t>PHÂN TÍCH VÀ THIẾT KẾ HỆ THỐNG</a:t>
            </a:r>
            <a:endParaRPr/>
          </a:p>
          <a:p>
            <a:pPr indent="-514350" lvl="0" marL="514350" rtl="0" algn="just">
              <a:lnSpc>
                <a:spcPct val="150000"/>
              </a:lnSpc>
              <a:spcBef>
                <a:spcPts val="1000"/>
              </a:spcBef>
              <a:spcAft>
                <a:spcPts val="0"/>
              </a:spcAft>
              <a:buClr>
                <a:schemeClr val="dk1"/>
              </a:buClr>
              <a:buSzPts val="2400"/>
              <a:buAutoNum type="arabicPeriod"/>
            </a:pPr>
            <a:r>
              <a:rPr b="1" lang="vi-VN" sz="2400"/>
              <a:t>KẾT QUẢ THỰC NGHIỆM</a:t>
            </a:r>
            <a:endParaRPr/>
          </a:p>
          <a:p>
            <a:pPr indent="-514350" lvl="0" marL="514350" rtl="0" algn="just">
              <a:lnSpc>
                <a:spcPct val="150000"/>
              </a:lnSpc>
              <a:spcBef>
                <a:spcPts val="1000"/>
              </a:spcBef>
              <a:spcAft>
                <a:spcPts val="0"/>
              </a:spcAft>
              <a:buClr>
                <a:schemeClr val="dk1"/>
              </a:buClr>
              <a:buSzPts val="2400"/>
              <a:buAutoNum type="arabicPeriod"/>
            </a:pPr>
            <a:r>
              <a:rPr b="1" lang="vi-VN" sz="2400"/>
              <a:t>KẾT LUẬN VÀ HƯỚNG PHÁT TRIỂN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2"/>
          <p:cNvSpPr txBox="1"/>
          <p:nvPr>
            <p:ph idx="11" type="ftr"/>
          </p:nvPr>
        </p:nvSpPr>
        <p:spPr>
          <a:xfrm>
            <a:off x="3684104" y="6481647"/>
            <a:ext cx="4823792" cy="23982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vi-VN"/>
              <a:t>Trường Đại học Công nghệ Thông tin, ĐHQG-HCM</a:t>
            </a:r>
            <a:endParaRPr/>
          </a:p>
        </p:txBody>
      </p:sp>
      <p:sp>
        <p:nvSpPr>
          <p:cNvPr id="600" name="Google Shape;600;p12"/>
          <p:cNvSpPr txBox="1"/>
          <p:nvPr>
            <p:ph idx="12" type="sldNum"/>
          </p:nvPr>
        </p:nvSpPr>
        <p:spPr>
          <a:xfrm>
            <a:off x="11897699" y="6560242"/>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
        <p:nvSpPr>
          <p:cNvPr id="601" name="Google Shape;601;p12"/>
          <p:cNvSpPr txBox="1"/>
          <p:nvPr/>
        </p:nvSpPr>
        <p:spPr>
          <a:xfrm>
            <a:off x="4343213" y="1735130"/>
            <a:ext cx="4012558" cy="110092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72FF"/>
              </a:buClr>
              <a:buSzPts val="4000"/>
              <a:buFont typeface="Times New Roman"/>
              <a:buNone/>
            </a:pPr>
            <a:r>
              <a:rPr b="1" lang="vi-VN" sz="4000">
                <a:solidFill>
                  <a:srgbClr val="0072FF"/>
                </a:solidFill>
                <a:latin typeface="Times New Roman"/>
                <a:ea typeface="Times New Roman"/>
                <a:cs typeface="Times New Roman"/>
                <a:sym typeface="Times New Roman"/>
              </a:rPr>
              <a:t>HỎI VÀ ĐÁP</a:t>
            </a:r>
            <a:endParaRPr b="1" sz="4000">
              <a:solidFill>
                <a:srgbClr val="0072FF"/>
              </a:solidFill>
              <a:latin typeface="Times New Roman"/>
              <a:ea typeface="Times New Roman"/>
              <a:cs typeface="Times New Roman"/>
              <a:sym typeface="Times New Roman"/>
            </a:endParaRPr>
          </a:p>
        </p:txBody>
      </p:sp>
      <p:pic>
        <p:nvPicPr>
          <p:cNvPr descr="http://data.sinhvienit.net/2013/T09/img/SinhVienIT.Net---suy-nghi.jpg" id="602" name="Google Shape;602;p12"/>
          <p:cNvPicPr preferRelativeResize="0"/>
          <p:nvPr/>
        </p:nvPicPr>
        <p:blipFill rotWithShape="1">
          <a:blip r:embed="rId3">
            <a:alphaModFix/>
          </a:blip>
          <a:srcRect b="0" l="0" r="0" t="0"/>
          <a:stretch/>
        </p:blipFill>
        <p:spPr>
          <a:xfrm>
            <a:off x="4895842" y="3018931"/>
            <a:ext cx="3211551" cy="2408663"/>
          </a:xfrm>
          <a:prstGeom prst="rect">
            <a:avLst/>
          </a:prstGeom>
          <a:noFill/>
          <a:ln>
            <a:no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1. TỔNG QUAN ĐỀ TÀI</a:t>
            </a:r>
          </a:p>
        </p:txBody>
      </p:sp>
      <p:sp>
        <p:nvSpPr>
          <p:cNvPr id="3" name="Text Placeholder 2"/>
          <p:cNvSpPr>
            <a:spLocks noGrp="1"/>
          </p:cNvSpPr>
          <p:nvPr>
            <p:ph type="body" idx="1"/>
          </p:nvPr>
        </p:nvSpPr>
        <p:spPr>
          <a:xfrm>
            <a:off x="777240" y="1170432"/>
            <a:ext cx="10579608" cy="3039871"/>
          </a:xfrm>
        </p:spPr>
        <p:txBody>
          <a:bodyPr wrap="square"/>
          <a:lstStyle/>
          <a:p>
            <a:pPr algn="l">
              <a:spcAft>
                <a:spcPts val="600"/>
              </a:spcAft>
            </a:pPr>
            <a:r>
              <a:rPr sz="1600" b="0">
                <a:solidFill>
                  <a:srgbClr val="2A2F4F"/>
                </a:solidFill>
                <a:latin typeface="Arial"/>
              </a:rPr>
              <a:t>Chụp ảnh phóng xạ là phương pháp duy nhất cho hình ảnh trực tiếp khuyết tật nằm trong chiều dày mối hàn. Quy phạm coi phim chụp là bằng chứng nghiệm thu.</a:t>
            </a:r>
          </a:p>
          <a:p>
            <a:pPr algn="l">
              <a:spcAft>
                <a:spcPts val="600"/>
              </a:spcAft>
            </a:pPr>
            <a:r>
              <a:rPr sz="1600" b="0">
                <a:solidFill>
                  <a:srgbClr val="2A2F4F"/>
                </a:solidFill>
                <a:latin typeface="Arial"/>
              </a:rPr>
              <a:t>Đọc phim thủ công có ba hạn chế: năng suất thấp, kết quả giữa hai chuyên gia không thống nhất, chi phí nhân lực cao.</a:t>
            </a:r>
          </a:p>
          <a:p>
            <a:pPr algn="l">
              <a:spcAft>
                <a:spcPts val="600"/>
              </a:spcAft>
            </a:pPr>
            <a:r>
              <a:rPr sz="1600" b="0">
                <a:solidFill>
                  <a:srgbClr val="2A2F4F"/>
                </a:solidFill>
                <a:latin typeface="Arial"/>
              </a:rPr>
              <a:t>Học sâu vướng thiếu dữ liệu: GDXray W0003 chỉ có </a:t>
            </a:r>
            <a:r>
              <a:rPr sz="1600" b="1">
                <a:solidFill>
                  <a:srgbClr val="0071FF"/>
                </a:solidFill>
                <a:latin typeface="Arial"/>
              </a:rPr>
              <a:t>73 phim, 876 nhãn</a:t>
            </a:r>
            <a:r>
              <a:rPr sz="1600" b="0">
                <a:solidFill>
                  <a:srgbClr val="2A2F4F"/>
                </a:solidFill>
                <a:latin typeface="Arial"/>
              </a:rPr>
              <a:t>; lẫn xỉ kim loại 23 mẫu, hốc kéo dài 28 mẫu.</a:t>
            </a:r>
          </a:p>
          <a:p>
            <a:pPr algn="l">
              <a:spcAft>
                <a:spcPts val="600"/>
              </a:spcAft>
            </a:pPr>
            <a:r>
              <a:rPr sz="1600" b="0">
                <a:solidFill>
                  <a:srgbClr val="2A2F4F"/>
                </a:solidFill>
                <a:latin typeface="Arial"/>
              </a:rPr>
              <a:t>Hướng giải quyết: </a:t>
            </a:r>
            <a:r>
              <a:rPr sz="1600" b="1">
                <a:solidFill>
                  <a:srgbClr val="0071FF"/>
                </a:solidFill>
                <a:latin typeface="Arial"/>
              </a:rPr>
              <a:t>sinh ảnh theo nhãn đã biết trước</a:t>
            </a:r>
            <a:r>
              <a:rPr sz="1600" b="0">
                <a:solidFill>
                  <a:srgbClr val="2A2F4F"/>
                </a:solidFill>
                <a:latin typeface="Arial"/>
              </a:rPr>
              <a:t>, chú thích lấy ngay từ mặt nạ, loại bỏ khâu gán nhãn thủ công.</a:t>
            </a:r>
          </a:p>
        </p:txBody>
      </p:sp>
      <p:pic>
        <p:nvPicPr>
          <p:cNvPr id="4" name="Picture 3" descr="fig-1-1-phim-that-w0003.png"/>
          <p:cNvPicPr>
            <a:picLocks noChangeAspect="1"/>
          </p:cNvPicPr>
          <p:nvPr/>
        </p:nvPicPr>
        <p:blipFill>
          <a:blip r:embed="rId2"/>
          <a:stretch>
            <a:fillRect/>
          </a:stretch>
        </p:blipFill>
        <p:spPr>
          <a:xfrm>
            <a:off x="2656552" y="4283456"/>
            <a:ext cx="6820984" cy="1696720"/>
          </a:xfrm>
          <a:prstGeom prst="rect">
            <a:avLst/>
          </a:prstGeom>
        </p:spPr>
      </p:pic>
      <p:sp>
        <p:nvSpPr>
          <p:cNvPr id="5" name="TextBox 4"/>
          <p:cNvSpPr txBox="1"/>
          <p:nvPr/>
        </p:nvSpPr>
        <p:spPr>
          <a:xfrm>
            <a:off x="777240" y="6016752"/>
            <a:ext cx="10579608" cy="274320"/>
          </a:xfrm>
          <a:prstGeom prst="rect">
            <a:avLst/>
          </a:prstGeom>
          <a:noFill/>
        </p:spPr>
        <p:txBody>
          <a:bodyPr wrap="square">
            <a:spAutoFit/>
          </a:bodyPr>
          <a:lstStyle/>
          <a:p>
            <a:pPr algn="ctr"/>
            <a:r>
              <a:rPr sz="1200" i="1">
                <a:solidFill>
                  <a:srgbClr val="2A2F4F"/>
                </a:solidFill>
                <a:latin typeface="Arial"/>
              </a:rPr>
              <a:t>Hình 1.1: Phim chụp phóng xạ mối hàn thật của bộ GDXray W0003, 4984 × 1240 px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1. MỤC TIÊU, ĐỐI TƯỢNG VÀ PHẠM VI</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900" b="1">
                <a:solidFill>
                  <a:srgbClr val="0071FF"/>
                </a:solidFill>
                <a:latin typeface="Arial"/>
              </a:rPr>
              <a:t>Mục tiêu tổng quát</a:t>
            </a:r>
            <a:r>
              <a:rPr sz="1900" b="0">
                <a:solidFill>
                  <a:srgbClr val="2A2F4F"/>
                </a:solidFill>
                <a:latin typeface="Arial"/>
              </a:rPr>
              <a:t>: quy trình khép kín sinh ảnh X-quang mối hàn tổng hợp có chú thích tự động, chạy ở quy mô hàng chục nghìn ảnh trên một card đồ hoạ, chứng minh bằng đo đạc rằng dữ liệu sinh ra nâng được chất lượng mô hình phát hiện.</a:t>
            </a:r>
          </a:p>
          <a:p>
            <a:pPr algn="l">
              <a:spcAft>
                <a:spcPts val="600"/>
              </a:spcAft>
            </a:pPr>
            <a:r>
              <a:rPr sz="1900" b="1">
                <a:solidFill>
                  <a:srgbClr val="0071FF"/>
                </a:solidFill>
                <a:latin typeface="Arial"/>
              </a:rPr>
              <a:t>Chín mục tiêu cụ thể</a:t>
            </a:r>
          </a:p>
          <a:p>
            <a:pPr lvl="1" algn="l">
              <a:spcAft>
                <a:spcPts val="600"/>
              </a:spcAft>
            </a:pPr>
            <a:r>
              <a:rPr sz="1600" b="0">
                <a:solidFill>
                  <a:srgbClr val="2A2F4F"/>
                </a:solidFill>
                <a:latin typeface="Arial"/>
              </a:rPr>
              <a:t>Tiền xử lý GDXray W0003 và RIAWELC; tinh chỉnh LoRA cho từng lớp khuyết tật.</a:t>
            </a:r>
          </a:p>
          <a:p>
            <a:pPr lvl="1" algn="l">
              <a:spcAft>
                <a:spcPts val="600"/>
              </a:spcAft>
            </a:pPr>
            <a:r>
              <a:rPr sz="1600" b="0">
                <a:solidFill>
                  <a:srgbClr val="2A2F4F"/>
                </a:solidFill>
                <a:latin typeface="Arial"/>
              </a:rPr>
              <a:t>Sinh mặt nạ theo thủ tục cho 12 lớp, bám ISO 6520-1; inpainting có điều kiện trên ComfyUI.</a:t>
            </a:r>
          </a:p>
          <a:p>
            <a:pPr lvl="1" algn="l">
              <a:spcAft>
                <a:spcPts val="600"/>
              </a:spcAft>
            </a:pPr>
            <a:r>
              <a:rPr sz="1600" b="0">
                <a:solidFill>
                  <a:srgbClr val="2A2F4F"/>
                </a:solidFill>
                <a:latin typeface="Arial"/>
              </a:rPr>
              <a:t>Bộ điều phối hàng loạt đạt tối thiểu 900 ảnh/giờ; xuất COCO và YOLO, chia tập 70/20/10.</a:t>
            </a:r>
          </a:p>
          <a:p>
            <a:pPr lvl="1" algn="l">
              <a:spcAft>
                <a:spcPts val="600"/>
              </a:spcAft>
            </a:pPr>
            <a:r>
              <a:rPr sz="1600" b="0">
                <a:solidFill>
                  <a:srgbClr val="2A2F4F"/>
                </a:solidFill>
                <a:latin typeface="Arial"/>
              </a:rPr>
              <a:t>Cổng kiểm định chất lượng, giao diện một nút bấm, so sánh sáu mô hình nền, xác thực bằng YOLOv8.</a:t>
            </a:r>
          </a:p>
          <a:p>
            <a:pPr algn="l">
              <a:spcAft>
                <a:spcPts val="600"/>
              </a:spcAft>
            </a:pPr>
            <a:r>
              <a:rPr sz="1900" b="1">
                <a:solidFill>
                  <a:srgbClr val="0071FF"/>
                </a:solidFill>
                <a:latin typeface="Arial"/>
              </a:rPr>
              <a:t>Phạm vi</a:t>
            </a:r>
            <a:r>
              <a:rPr sz="1900" b="0">
                <a:solidFill>
                  <a:srgbClr val="2A2F4F"/>
                </a:solidFill>
                <a:latin typeface="Arial"/>
              </a:rPr>
              <a:t>: 12 lớp khuyết tật, ảnh 512 × 512 thang xám 8 bit, một RTX 3090, nền Stable Diffusion 1.5 và năm biến thể.</a:t>
            </a:r>
          </a:p>
          <a:p>
            <a:pPr algn="l">
              <a:spcAft>
                <a:spcPts val="600"/>
              </a:spcAft>
            </a:pPr>
            <a:r>
              <a:rPr sz="1900" b="1">
                <a:solidFill>
                  <a:srgbClr val="0071FF"/>
                </a:solidFill>
                <a:latin typeface="Arial"/>
              </a:rPr>
              <a:t>Ngoài phạm vi</a:t>
            </a:r>
            <a:r>
              <a:rPr sz="1900" b="0">
                <a:solidFill>
                  <a:srgbClr val="2A2F4F"/>
                </a:solidFill>
                <a:latin typeface="Arial"/>
              </a:rPr>
              <a:t>: thu thập phim mới, gán nhãn thủ công, huấn luyện ControlNet riêng, triển khai mô hình phát hiện vào sản xuất.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2800" b="1">
                <a:solidFill>
                  <a:srgbClr val="1C305E"/>
                </a:solidFill>
                <a:latin typeface="Arial"/>
              </a:rPr>
              <a:t>2. CƠ SỞ LÝ THUYẾT: STABLE DIFFUSION 1.5 VÀ LoRA</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800" b="1">
                <a:solidFill>
                  <a:srgbClr val="0071FF"/>
                </a:solidFill>
                <a:latin typeface="Arial"/>
              </a:rPr>
              <a:t>Khuếch tán tiềm ẩn</a:t>
            </a:r>
            <a:r>
              <a:rPr sz="1800" b="0">
                <a:solidFill>
                  <a:srgbClr val="2A2F4F"/>
                </a:solidFill>
                <a:latin typeface="Arial"/>
              </a:rPr>
              <a:t>: bộ tự mã hoá biến phân nén ảnh 512 × 512 × 3 xuống bản đồ tiềm ẩn 64 × 64 × 4, giảm khoảng 48 lần số phần tử phải xử lý.</a:t>
            </a:r>
          </a:p>
          <a:p>
            <a:pPr lvl="1" algn="l">
              <a:spcAft>
                <a:spcPts val="600"/>
              </a:spcAft>
            </a:pPr>
            <a:r>
              <a:rPr sz="1500" b="0">
                <a:solidFill>
                  <a:srgbClr val="2A2F4F"/>
                </a:solidFill>
                <a:latin typeface="Arial"/>
              </a:rPr>
              <a:t>U-Net khử nhiễu là nơi diễn ra quá trình sinh ảnh và cũng là nơi LoRA can thiệp.</a:t>
            </a:r>
          </a:p>
          <a:p>
            <a:pPr lvl="1" algn="l">
              <a:spcAft>
                <a:spcPts val="600"/>
              </a:spcAft>
            </a:pPr>
            <a:r>
              <a:rPr sz="1500" b="0">
                <a:solidFill>
                  <a:srgbClr val="2A2F4F"/>
                </a:solidFill>
                <a:latin typeface="Arial"/>
              </a:rPr>
              <a:t>Bộ mã hoá CLIP đưa lời nhắc vào U-Net qua chú ý chéo.</a:t>
            </a:r>
          </a:p>
          <a:p>
            <a:pPr lvl="1" algn="l">
              <a:spcAft>
                <a:spcPts val="600"/>
              </a:spcAft>
            </a:pPr>
            <a:r>
              <a:rPr sz="1500" b="0">
                <a:solidFill>
                  <a:srgbClr val="2A2F4F"/>
                </a:solidFill>
                <a:latin typeface="Arial"/>
              </a:rPr>
              <a:t>Đồ án dùng </a:t>
            </a:r>
            <a:r>
              <a:rPr sz="1500" b="1">
                <a:solidFill>
                  <a:srgbClr val="0071FF"/>
                </a:solidFill>
                <a:latin typeface="Arial"/>
              </a:rPr>
              <a:t>25 bước, bộ lấy mẫu Euler, CFG 9,0</a:t>
            </a:r>
            <a:r>
              <a:rPr sz="1500" b="0">
                <a:solidFill>
                  <a:srgbClr val="2A2F4F"/>
                </a:solidFill>
                <a:latin typeface="Arial"/>
              </a:rPr>
              <a:t>; Euler cho kết quả tất định khi cố định hạt giống.</a:t>
            </a:r>
          </a:p>
          <a:p>
            <a:pPr algn="l">
              <a:spcAft>
                <a:spcPts val="600"/>
              </a:spcAft>
            </a:pPr>
            <a:r>
              <a:rPr sz="1800" b="1">
                <a:solidFill>
                  <a:srgbClr val="0071FF"/>
                </a:solidFill>
                <a:latin typeface="Arial"/>
              </a:rPr>
              <a:t>LoRA</a:t>
            </a:r>
            <a:r>
              <a:rPr sz="1800" b="0">
                <a:solidFill>
                  <a:srgbClr val="2A2F4F"/>
                </a:solidFill>
                <a:latin typeface="Arial"/>
              </a:rPr>
              <a:t>: thay vì cập nhật khoảng 860 triệu tham số U-Net, phân tích ma trận cập nhật thành tích hai ma trận hẹp hạng r, chỉ huấn luyện hai ma trận này.</a:t>
            </a:r>
          </a:p>
          <a:p>
            <a:pPr lvl="1" algn="l">
              <a:spcAft>
                <a:spcPts val="600"/>
              </a:spcAft>
            </a:pPr>
            <a:r>
              <a:rPr sz="1500" b="0">
                <a:solidFill>
                  <a:srgbClr val="2A2F4F"/>
                </a:solidFill>
                <a:latin typeface="Arial"/>
              </a:rPr>
              <a:t>Đồ án dùng </a:t>
            </a:r>
            <a:r>
              <a:rPr sz="1500" b="1">
                <a:solidFill>
                  <a:srgbClr val="0071FF"/>
                </a:solidFill>
                <a:latin typeface="Arial"/>
              </a:rPr>
              <a:t>r = 32, alpha = 16</a:t>
            </a:r>
            <a:r>
              <a:rPr sz="1500" b="0">
                <a:solidFill>
                  <a:srgbClr val="2A2F4F"/>
                </a:solidFill>
                <a:latin typeface="Arial"/>
              </a:rPr>
              <a:t>, hệ số tỷ lệ 0,5.</a:t>
            </a:r>
          </a:p>
          <a:p>
            <a:pPr lvl="1" algn="l">
              <a:spcAft>
                <a:spcPts val="600"/>
              </a:spcAft>
            </a:pPr>
            <a:r>
              <a:rPr sz="1500" b="0">
                <a:solidFill>
                  <a:srgbClr val="2A2F4F"/>
                </a:solidFill>
                <a:latin typeface="Arial"/>
              </a:rPr>
              <a:t>Mỗi mô hình khoảng </a:t>
            </a:r>
            <a:r>
              <a:rPr sz="1500" b="1">
                <a:solidFill>
                  <a:srgbClr val="0071FF"/>
                </a:solidFill>
                <a:latin typeface="Arial"/>
              </a:rPr>
              <a:t>37 MB</a:t>
            </a:r>
            <a:r>
              <a:rPr sz="1500" b="0">
                <a:solidFill>
                  <a:srgbClr val="2A2F4F"/>
                </a:solidFill>
                <a:latin typeface="Arial"/>
              </a:rPr>
              <a:t> so với 4 GB của mô hình nền; 12 lớp chỉ chiếm 444 MB.</a:t>
            </a:r>
          </a:p>
          <a:p>
            <a:pPr lvl="1" algn="l">
              <a:spcAft>
                <a:spcPts val="600"/>
              </a:spcAft>
            </a:pPr>
            <a:r>
              <a:rPr sz="1500" b="0">
                <a:solidFill>
                  <a:srgbClr val="2A2F4F"/>
                </a:solidFill>
                <a:latin typeface="Arial"/>
              </a:rPr>
              <a:t>Chi phí huấn luyện khoảng </a:t>
            </a:r>
            <a:r>
              <a:rPr sz="1500" b="1">
                <a:solidFill>
                  <a:srgbClr val="0071FF"/>
                </a:solidFill>
                <a:latin typeface="Arial"/>
              </a:rPr>
              <a:t>2,5 giờ mỗi lớp</a:t>
            </a:r>
            <a:r>
              <a:rPr sz="1500" b="0">
                <a:solidFill>
                  <a:srgbClr val="2A2F4F"/>
                </a:solidFill>
                <a:latin typeface="Arial"/>
              </a:rPr>
              <a:t> trên RTX 3090.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2300" b="1">
                <a:solidFill>
                  <a:srgbClr val="1C305E"/>
                </a:solidFill>
                <a:latin typeface="Arial"/>
              </a:rPr>
              <a:t>2. CƠ SỞ LÝ THUYẾT: INPAINTING, CONTROLNET, CHỈ SỐ ĐÁNH GIÁ</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700" b="1">
                <a:solidFill>
                  <a:srgbClr val="0071FF"/>
                </a:solidFill>
                <a:latin typeface="Arial"/>
              </a:rPr>
              <a:t>Inpainting</a:t>
            </a:r>
            <a:r>
              <a:rPr sz="1700" b="0">
                <a:solidFill>
                  <a:srgbClr val="2A2F4F"/>
                </a:solidFill>
                <a:latin typeface="Arial"/>
              </a:rPr>
              <a:t>: mã hoá ảnh gốc sang không gian tiềm ẩn, đặt mặt nạ nhiễu lên vùng cần vẽ, chỉ khử nhiễu trong vùng đó. Tham số denoise dùng dải 0,85 tới 0,90.</a:t>
            </a:r>
          </a:p>
          <a:p>
            <a:pPr algn="l">
              <a:spcAft>
                <a:spcPts val="600"/>
              </a:spcAft>
            </a:pPr>
            <a:r>
              <a:rPr sz="1700" b="1">
                <a:solidFill>
                  <a:srgbClr val="0071FF"/>
                </a:solidFill>
                <a:latin typeface="Arial"/>
              </a:rPr>
              <a:t>ControlNet</a:t>
            </a:r>
            <a:r>
              <a:rPr sz="1700" b="0">
                <a:solidFill>
                  <a:srgbClr val="2A2F4F"/>
                </a:solidFill>
                <a:latin typeface="Arial"/>
              </a:rPr>
              <a:t> control_v11p_sd15_inpaint, độ mạnh 0,8: nhánh mạng song song nhận mặt nạ làm ảnh điều kiện, ép ảnh sinh bám điều kiện không gian.</a:t>
            </a:r>
          </a:p>
          <a:p>
            <a:pPr algn="l">
              <a:spcAft>
                <a:spcPts val="600"/>
              </a:spcAft>
            </a:pPr>
            <a:r>
              <a:rPr sz="1700" b="0">
                <a:solidFill>
                  <a:srgbClr val="2A2F4F"/>
                </a:solidFill>
                <a:latin typeface="Arial"/>
              </a:rPr>
              <a:t>Vai trò ba thành phần: mặt nạ quyết định </a:t>
            </a:r>
            <a:r>
              <a:rPr sz="1700" b="1">
                <a:solidFill>
                  <a:srgbClr val="0071FF"/>
                </a:solidFill>
                <a:latin typeface="Arial"/>
              </a:rPr>
              <a:t>khuyết tật ở đâu và hình gì</a:t>
            </a:r>
            <a:r>
              <a:rPr sz="1700" b="0">
                <a:solidFill>
                  <a:srgbClr val="2A2F4F"/>
                </a:solidFill>
                <a:latin typeface="Arial"/>
              </a:rPr>
              <a:t>, LoRA quyết định </a:t>
            </a:r>
            <a:r>
              <a:rPr sz="1700" b="1">
                <a:solidFill>
                  <a:srgbClr val="0071FF"/>
                </a:solidFill>
                <a:latin typeface="Arial"/>
              </a:rPr>
              <a:t>khuyết tật trông thế nào</a:t>
            </a:r>
            <a:r>
              <a:rPr sz="1700" b="0">
                <a:solidFill>
                  <a:srgbClr val="2A2F4F"/>
                </a:solidFill>
                <a:latin typeface="Arial"/>
              </a:rPr>
              <a:t>, ControlNet giữ hai điều đó không mâu thuẫn.</a:t>
            </a:r>
          </a:p>
          <a:p>
            <a:pPr algn="l">
              <a:spcAft>
                <a:spcPts val="600"/>
              </a:spcAft>
            </a:pPr>
            <a:r>
              <a:rPr sz="1700" b="1">
                <a:solidFill>
                  <a:srgbClr val="0071FF"/>
                </a:solidFill>
                <a:latin typeface="Arial"/>
              </a:rPr>
              <a:t>Bốn chỉ số đánh giá</a:t>
            </a:r>
          </a:p>
          <a:p>
            <a:pPr lvl="1" algn="l">
              <a:spcAft>
                <a:spcPts val="600"/>
              </a:spcAft>
            </a:pPr>
            <a:r>
              <a:rPr sz="1500" b="0">
                <a:solidFill>
                  <a:srgbClr val="2A2F4F"/>
                </a:solidFill>
                <a:latin typeface="Arial"/>
              </a:rPr>
              <a:t>FID: khoảng cách phân bố đặc trưng giữa ảnh thật và ảnh sinh, càng nhỏ càng tốt.</a:t>
            </a:r>
          </a:p>
          <a:p>
            <a:pPr lvl="1" algn="l">
              <a:spcAft>
                <a:spcPts val="600"/>
              </a:spcAft>
            </a:pPr>
            <a:r>
              <a:rPr sz="1500" b="0">
                <a:solidFill>
                  <a:srgbClr val="2A2F4F"/>
                </a:solidFill>
                <a:latin typeface="Arial"/>
              </a:rPr>
              <a:t>SSIM: dùng cho hai mục đích khác nhau, đo bảo toàn nền và đo độ giống ảnh thật.</a:t>
            </a:r>
          </a:p>
          <a:p>
            <a:pPr lvl="1" algn="l">
              <a:spcAft>
                <a:spcPts val="600"/>
              </a:spcAft>
            </a:pPr>
            <a:r>
              <a:rPr sz="1500" b="0">
                <a:solidFill>
                  <a:srgbClr val="2A2F4F"/>
                </a:solidFill>
                <a:latin typeface="Arial"/>
              </a:rPr>
              <a:t>Độ nét Laplace: mức chi tiết cạnh.</a:t>
            </a:r>
          </a:p>
          <a:p>
            <a:pPr lvl="1" algn="l">
              <a:spcAft>
                <a:spcPts val="600"/>
              </a:spcAft>
            </a:pPr>
            <a:r>
              <a:rPr sz="1500" b="0">
                <a:solidFill>
                  <a:srgbClr val="2A2F4F"/>
                </a:solidFill>
                <a:latin typeface="Arial"/>
              </a:rPr>
              <a:t>mAP@0,5 và mAP@0,5:0,95 trên tập kiểm tra giữ nguyên 100% ảnh thật.</a:t>
            </a:r>
          </a:p>
          <a:p>
            <a:pPr algn="l">
              <a:spcAft>
                <a:spcPts val="600"/>
              </a:spcAft>
            </a:pPr>
            <a:r>
              <a:rPr sz="1700" b="0">
                <a:solidFill>
                  <a:srgbClr val="2A2F4F"/>
                </a:solidFill>
                <a:latin typeface="Arial"/>
              </a:rPr>
              <a:t>Chỉ số quyết định cuối cùng là </a:t>
            </a:r>
            <a:r>
              <a:rPr sz="1700" b="1">
                <a:solidFill>
                  <a:srgbClr val="0071FF"/>
                </a:solidFill>
                <a:latin typeface="Arial"/>
              </a:rPr>
              <a:t>mAP</a:t>
            </a:r>
            <a:r>
              <a:rPr sz="1700" b="0">
                <a:solidFill>
                  <a:srgbClr val="2A2F4F"/>
                </a:solidFill>
                <a:latin typeface="Arial"/>
              </a:rPr>
              <a:t>. FID đẹp mà mAP không tăng thì vẫn là thất bại.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3. KIẾN TRÚC TỔNG THỂ: CHÍN GIAI ĐOẠN</a:t>
            </a:r>
          </a:p>
        </p:txBody>
      </p:sp>
      <p:graphicFrame>
        <p:nvGraphicFramePr>
          <p:cNvPr id="3" name="Table 2"/>
          <p:cNvGraphicFramePr>
            <a:graphicFrameLocks noGrp="1"/>
          </p:cNvGraphicFramePr>
          <p:nvPr/>
        </p:nvGraphicFramePr>
        <p:xfrm>
          <a:off x="777240" y="1234440"/>
          <a:ext cx="10579607" cy="4251960"/>
        </p:xfrm>
        <a:graphic>
          <a:graphicData uri="http://schemas.openxmlformats.org/drawingml/2006/table">
            <a:tbl>
              <a:tblPr firstRow="1" bandRow="1">
                <a:tableStyleId>{5C22544A-7EE6-4342-B048-85BDC9FD1C3A}</a:tableStyleId>
              </a:tblPr>
              <a:tblGrid>
                <a:gridCol w="998076"/>
                <a:gridCol w="3393459"/>
                <a:gridCol w="6188072"/>
              </a:tblGrid>
              <a:tr h="425196">
                <a:tc>
                  <a:txBody>
                    <a:bodyPr wrap="square"/>
                    <a:lstStyle/>
                    <a:p>
                      <a:pPr algn="ctr"/>
                      <a:r>
                        <a:rPr sz="1300" b="1">
                          <a:solidFill>
                            <a:srgbClr val="FFFFFF"/>
                          </a:solidFill>
                          <a:latin typeface="Arial"/>
                        </a:rPr>
                        <a:t>Giai đoạn</a:t>
                      </a:r>
                    </a:p>
                  </a:txBody>
                  <a:tcPr marL="54864" marR="54864" marT="18288" marB="18288" anchor="ctr">
                    <a:solidFill>
                      <a:srgbClr val="1C305E"/>
                    </a:solidFill>
                  </a:tcPr>
                </a:tc>
                <a:tc>
                  <a:txBody>
                    <a:bodyPr wrap="square"/>
                    <a:lstStyle/>
                    <a:p>
                      <a:pPr algn="ctr"/>
                      <a:r>
                        <a:rPr sz="1300" b="1">
                          <a:solidFill>
                            <a:srgbClr val="FFFFFF"/>
                          </a:solidFill>
                          <a:latin typeface="Arial"/>
                        </a:rPr>
                        <a:t>Nội dung</a:t>
                      </a:r>
                    </a:p>
                  </a:txBody>
                  <a:tcPr marL="54864" marR="54864" marT="18288" marB="18288" anchor="ctr">
                    <a:solidFill>
                      <a:srgbClr val="1C305E"/>
                    </a:solidFill>
                  </a:tcPr>
                </a:tc>
                <a:tc>
                  <a:txBody>
                    <a:bodyPr wrap="square"/>
                    <a:lstStyle/>
                    <a:p>
                      <a:pPr algn="ctr"/>
                      <a:r>
                        <a:rPr sz="1300" b="1">
                          <a:solidFill>
                            <a:srgbClr val="FFFFFF"/>
                          </a:solidFill>
                          <a:latin typeface="Arial"/>
                        </a:rPr>
                        <a:t>Sản phẩm bàn giao</a:t>
                      </a:r>
                    </a:p>
                  </a:txBody>
                  <a:tcPr marL="54864" marR="54864" marT="18288" marB="18288" anchor="ctr">
                    <a:solidFill>
                      <a:srgbClr val="1C305E"/>
                    </a:solidFill>
                  </a:tcPr>
                </a:tc>
              </a:tr>
              <a:tr h="425196">
                <a:tc>
                  <a:txBody>
                    <a:bodyPr wrap="square"/>
                    <a:lstStyle/>
                    <a:p>
                      <a:pPr algn="ctr"/>
                      <a:r>
                        <a:rPr sz="1300" b="0">
                          <a:solidFill>
                            <a:srgbClr val="2A2F4F"/>
                          </a:solidFill>
                          <a:latin typeface="Arial"/>
                        </a:rPr>
                        <a:t>1</a:t>
                      </a:r>
                    </a:p>
                  </a:txBody>
                  <a:tcPr marL="54864" marR="54864" marT="18288" marB="18288" anchor="ctr">
                    <a:solidFill>
                      <a:srgbClr val="FFFFFF"/>
                    </a:solidFill>
                  </a:tcPr>
                </a:tc>
                <a:tc>
                  <a:txBody>
                    <a:bodyPr wrap="square"/>
                    <a:lstStyle/>
                    <a:p>
                      <a:pPr algn="l"/>
                      <a:r>
                        <a:rPr sz="1300" b="0">
                          <a:solidFill>
                            <a:srgbClr val="2A2F4F"/>
                          </a:solidFill>
                          <a:latin typeface="Arial"/>
                        </a:rPr>
                        <a:t>Thiết lập môi trường</a:t>
                      </a:r>
                    </a:p>
                  </a:txBody>
                  <a:tcPr marL="54864" marR="54864" marT="18288" marB="18288" anchor="ctr">
                    <a:solidFill>
                      <a:srgbClr val="FFFFFF"/>
                    </a:solidFill>
                  </a:tcPr>
                </a:tc>
                <a:tc>
                  <a:txBody>
                    <a:bodyPr wrap="square"/>
                    <a:lstStyle/>
                    <a:p>
                      <a:pPr algn="l"/>
                      <a:r>
                        <a:rPr sz="1300" b="0">
                          <a:solidFill>
                            <a:srgbClr val="2A2F4F"/>
                          </a:solidFill>
                          <a:latin typeface="Arial"/>
                        </a:rPr>
                        <a:t>ComfyUI có API, mô hình nền, môi trường Python</a:t>
                      </a:r>
                    </a:p>
                  </a:txBody>
                  <a:tcPr marL="54864" marR="54864" marT="18288" marB="18288" anchor="ctr">
                    <a:solidFill>
                      <a:srgbClr val="FFFFFF"/>
                    </a:solidFill>
                  </a:tcPr>
                </a:tc>
              </a:tr>
              <a:tr h="425196">
                <a:tc>
                  <a:txBody>
                    <a:bodyPr wrap="square"/>
                    <a:lstStyle/>
                    <a:p>
                      <a:pPr algn="ctr"/>
                      <a:r>
                        <a:rPr sz="1300" b="0">
                          <a:solidFill>
                            <a:srgbClr val="2A2F4F"/>
                          </a:solidFill>
                          <a:latin typeface="Arial"/>
                        </a:rPr>
                        <a:t>2</a:t>
                      </a:r>
                    </a:p>
                  </a:txBody>
                  <a:tcPr marL="54864" marR="54864" marT="18288" marB="18288" anchor="ctr">
                    <a:solidFill>
                      <a:srgbClr val="EDF1F7"/>
                    </a:solidFill>
                  </a:tcPr>
                </a:tc>
                <a:tc>
                  <a:txBody>
                    <a:bodyPr wrap="square"/>
                    <a:lstStyle/>
                    <a:p>
                      <a:pPr algn="l"/>
                      <a:r>
                        <a:rPr sz="1300" b="0">
                          <a:solidFill>
                            <a:srgbClr val="2A2F4F"/>
                          </a:solidFill>
                          <a:latin typeface="Arial"/>
                        </a:rPr>
                        <a:t>Tiền xử lý dữ liệu</a:t>
                      </a:r>
                    </a:p>
                  </a:txBody>
                  <a:tcPr marL="54864" marR="54864" marT="18288" marB="18288" anchor="ctr">
                    <a:solidFill>
                      <a:srgbClr val="EDF1F7"/>
                    </a:solidFill>
                  </a:tcPr>
                </a:tc>
                <a:tc>
                  <a:txBody>
                    <a:bodyPr wrap="square"/>
                    <a:lstStyle/>
                    <a:p>
                      <a:pPr algn="l"/>
                      <a:r>
                        <a:rPr sz="1300" b="0">
                          <a:solidFill>
                            <a:srgbClr val="2A2F4F"/>
                          </a:solidFill>
                          <a:latin typeface="Arial"/>
                        </a:rPr>
                        <a:t>Patch 512 × 512 theo lớp, tập nền sạch</a:t>
                      </a:r>
                    </a:p>
                  </a:txBody>
                  <a:tcPr marL="54864" marR="54864" marT="18288" marB="18288" anchor="ctr">
                    <a:solidFill>
                      <a:srgbClr val="EDF1F7"/>
                    </a:solidFill>
                  </a:tcPr>
                </a:tc>
              </a:tr>
              <a:tr h="425196">
                <a:tc>
                  <a:txBody>
                    <a:bodyPr wrap="square"/>
                    <a:lstStyle/>
                    <a:p>
                      <a:pPr algn="ctr"/>
                      <a:r>
                        <a:rPr sz="1300" b="0">
                          <a:solidFill>
                            <a:srgbClr val="2A2F4F"/>
                          </a:solidFill>
                          <a:latin typeface="Arial"/>
                        </a:rPr>
                        <a:t>3</a:t>
                      </a:r>
                    </a:p>
                  </a:txBody>
                  <a:tcPr marL="54864" marR="54864" marT="18288" marB="18288" anchor="ctr">
                    <a:solidFill>
                      <a:srgbClr val="FFFFFF"/>
                    </a:solidFill>
                  </a:tcPr>
                </a:tc>
                <a:tc>
                  <a:txBody>
                    <a:bodyPr wrap="square"/>
                    <a:lstStyle/>
                    <a:p>
                      <a:pPr algn="l"/>
                      <a:r>
                        <a:rPr sz="1300" b="0">
                          <a:solidFill>
                            <a:srgbClr val="2A2F4F"/>
                          </a:solidFill>
                          <a:latin typeface="Arial"/>
                        </a:rPr>
                        <a:t>Tinh chỉnh LoRA</a:t>
                      </a:r>
                    </a:p>
                  </a:txBody>
                  <a:tcPr marL="54864" marR="54864" marT="18288" marB="18288" anchor="ctr">
                    <a:solidFill>
                      <a:srgbClr val="FFFFFF"/>
                    </a:solidFill>
                  </a:tcPr>
                </a:tc>
                <a:tc>
                  <a:txBody>
                    <a:bodyPr wrap="square"/>
                    <a:lstStyle/>
                    <a:p>
                      <a:pPr algn="l"/>
                      <a:r>
                        <a:rPr sz="1300" b="0">
                          <a:solidFill>
                            <a:srgbClr val="2A2F4F"/>
                          </a:solidFill>
                          <a:latin typeface="Arial"/>
                        </a:rPr>
                        <a:t>Mười hai tệp safetensors hạng 32</a:t>
                      </a:r>
                    </a:p>
                  </a:txBody>
                  <a:tcPr marL="54864" marR="54864" marT="18288" marB="18288" anchor="ctr">
                    <a:solidFill>
                      <a:srgbClr val="FFFFFF"/>
                    </a:solidFill>
                  </a:tcPr>
                </a:tc>
              </a:tr>
              <a:tr h="425196">
                <a:tc>
                  <a:txBody>
                    <a:bodyPr wrap="square"/>
                    <a:lstStyle/>
                    <a:p>
                      <a:pPr algn="ctr"/>
                      <a:r>
                        <a:rPr sz="1300" b="0">
                          <a:solidFill>
                            <a:srgbClr val="2A2F4F"/>
                          </a:solidFill>
                          <a:latin typeface="Arial"/>
                        </a:rPr>
                        <a:t>4</a:t>
                      </a:r>
                    </a:p>
                  </a:txBody>
                  <a:tcPr marL="54864" marR="54864" marT="18288" marB="18288" anchor="ctr">
                    <a:solidFill>
                      <a:srgbClr val="EDF1F7"/>
                    </a:solidFill>
                  </a:tcPr>
                </a:tc>
                <a:tc>
                  <a:txBody>
                    <a:bodyPr wrap="square"/>
                    <a:lstStyle/>
                    <a:p>
                      <a:pPr algn="l"/>
                      <a:r>
                        <a:rPr sz="1300" b="0">
                          <a:solidFill>
                            <a:srgbClr val="2A2F4F"/>
                          </a:solidFill>
                          <a:latin typeface="Arial"/>
                        </a:rPr>
                        <a:t>Thiết kế quy trình ComfyUI</a:t>
                      </a:r>
                    </a:p>
                  </a:txBody>
                  <a:tcPr marL="54864" marR="54864" marT="18288" marB="18288" anchor="ctr">
                    <a:solidFill>
                      <a:srgbClr val="EDF1F7"/>
                    </a:solidFill>
                  </a:tcPr>
                </a:tc>
                <a:tc>
                  <a:txBody>
                    <a:bodyPr wrap="square"/>
                    <a:lstStyle/>
                    <a:p>
                      <a:pPr algn="l"/>
                      <a:r>
                        <a:rPr sz="1300" b="0">
                          <a:solidFill>
                            <a:srgbClr val="2A2F4F"/>
                          </a:solidFill>
                          <a:latin typeface="Arial"/>
                        </a:rPr>
                        <a:t>Đồ thị nút JSON, mẫu lời nhắc theo lớp</a:t>
                      </a:r>
                    </a:p>
                  </a:txBody>
                  <a:tcPr marL="54864" marR="54864" marT="18288" marB="18288" anchor="ctr">
                    <a:solidFill>
                      <a:srgbClr val="EDF1F7"/>
                    </a:solidFill>
                  </a:tcPr>
                </a:tc>
              </a:tr>
              <a:tr h="425196">
                <a:tc>
                  <a:txBody>
                    <a:bodyPr wrap="square"/>
                    <a:lstStyle/>
                    <a:p>
                      <a:pPr algn="ctr"/>
                      <a:r>
                        <a:rPr sz="1300" b="0">
                          <a:solidFill>
                            <a:srgbClr val="2A2F4F"/>
                          </a:solidFill>
                          <a:latin typeface="Arial"/>
                        </a:rPr>
                        <a:t>5</a:t>
                      </a:r>
                    </a:p>
                  </a:txBody>
                  <a:tcPr marL="54864" marR="54864" marT="18288" marB="18288" anchor="ctr">
                    <a:solidFill>
                      <a:srgbClr val="FFFFFF"/>
                    </a:solidFill>
                  </a:tcPr>
                </a:tc>
                <a:tc>
                  <a:txBody>
                    <a:bodyPr wrap="square"/>
                    <a:lstStyle/>
                    <a:p>
                      <a:pPr algn="l"/>
                      <a:r>
                        <a:rPr sz="1300" b="0">
                          <a:solidFill>
                            <a:srgbClr val="2A2F4F"/>
                          </a:solidFill>
                          <a:latin typeface="Arial"/>
                        </a:rPr>
                        <a:t>Sinh mặt nạ theo thủ tục</a:t>
                      </a:r>
                    </a:p>
                  </a:txBody>
                  <a:tcPr marL="54864" marR="54864" marT="18288" marB="18288" anchor="ctr">
                    <a:solidFill>
                      <a:srgbClr val="FFFFFF"/>
                    </a:solidFill>
                  </a:tcPr>
                </a:tc>
                <a:tc>
                  <a:txBody>
                    <a:bodyPr wrap="square"/>
                    <a:lstStyle/>
                    <a:p>
                      <a:pPr algn="l"/>
                      <a:r>
                        <a:rPr sz="1300" b="0">
                          <a:solidFill>
                            <a:srgbClr val="2A2F4F"/>
                          </a:solidFill>
                          <a:latin typeface="Arial"/>
                        </a:rPr>
                        <a:t>Mười hai lớp sinh mặt nạ, ràng buộc vùng hàn</a:t>
                      </a:r>
                    </a:p>
                  </a:txBody>
                  <a:tcPr marL="54864" marR="54864" marT="18288" marB="18288" anchor="ctr">
                    <a:solidFill>
                      <a:srgbClr val="FFFFFF"/>
                    </a:solidFill>
                  </a:tcPr>
                </a:tc>
              </a:tr>
              <a:tr h="425196">
                <a:tc>
                  <a:txBody>
                    <a:bodyPr wrap="square"/>
                    <a:lstStyle/>
                    <a:p>
                      <a:pPr algn="ctr"/>
                      <a:r>
                        <a:rPr sz="1300" b="0">
                          <a:solidFill>
                            <a:srgbClr val="2A2F4F"/>
                          </a:solidFill>
                          <a:latin typeface="Arial"/>
                        </a:rPr>
                        <a:t>6</a:t>
                      </a:r>
                    </a:p>
                  </a:txBody>
                  <a:tcPr marL="54864" marR="54864" marT="18288" marB="18288" anchor="ctr">
                    <a:solidFill>
                      <a:srgbClr val="EDF1F7"/>
                    </a:solidFill>
                  </a:tcPr>
                </a:tc>
                <a:tc>
                  <a:txBody>
                    <a:bodyPr wrap="square"/>
                    <a:lstStyle/>
                    <a:p>
                      <a:pPr algn="l"/>
                      <a:r>
                        <a:rPr sz="1300" b="0">
                          <a:solidFill>
                            <a:srgbClr val="2A2F4F"/>
                          </a:solidFill>
                          <a:latin typeface="Arial"/>
                        </a:rPr>
                        <a:t>Sinh ảnh hàng loạt</a:t>
                      </a:r>
                    </a:p>
                  </a:txBody>
                  <a:tcPr marL="54864" marR="54864" marT="18288" marB="18288" anchor="ctr">
                    <a:solidFill>
                      <a:srgbClr val="EDF1F7"/>
                    </a:solidFill>
                  </a:tcPr>
                </a:tc>
                <a:tc>
                  <a:txBody>
                    <a:bodyPr wrap="square"/>
                    <a:lstStyle/>
                    <a:p>
                      <a:pPr algn="l"/>
                      <a:r>
                        <a:rPr sz="1300" b="0">
                          <a:solidFill>
                            <a:srgbClr val="2A2F4F"/>
                          </a:solidFill>
                          <a:latin typeface="Arial"/>
                        </a:rPr>
                        <a:t>Ảnh tổng hợp, mặt nạ chú thích, siêu dữ liệu JSON</a:t>
                      </a:r>
                    </a:p>
                  </a:txBody>
                  <a:tcPr marL="54864" marR="54864" marT="18288" marB="18288" anchor="ctr">
                    <a:solidFill>
                      <a:srgbClr val="EDF1F7"/>
                    </a:solidFill>
                  </a:tcPr>
                </a:tc>
              </a:tr>
              <a:tr h="425196">
                <a:tc>
                  <a:txBody>
                    <a:bodyPr wrap="square"/>
                    <a:lstStyle/>
                    <a:p>
                      <a:pPr algn="ctr"/>
                      <a:r>
                        <a:rPr sz="1300" b="0">
                          <a:solidFill>
                            <a:srgbClr val="2A2F4F"/>
                          </a:solidFill>
                          <a:latin typeface="Arial"/>
                        </a:rPr>
                        <a:t>7</a:t>
                      </a:r>
                    </a:p>
                  </a:txBody>
                  <a:tcPr marL="54864" marR="54864" marT="18288" marB="18288" anchor="ctr">
                    <a:solidFill>
                      <a:srgbClr val="FFFFFF"/>
                    </a:solidFill>
                  </a:tcPr>
                </a:tc>
                <a:tc>
                  <a:txBody>
                    <a:bodyPr wrap="square"/>
                    <a:lstStyle/>
                    <a:p>
                      <a:pPr algn="l"/>
                      <a:r>
                        <a:rPr sz="1300" b="0">
                          <a:solidFill>
                            <a:srgbClr val="2A2F4F"/>
                          </a:solidFill>
                          <a:latin typeface="Arial"/>
                        </a:rPr>
                        <a:t>Hậu xử lý và chú thích</a:t>
                      </a:r>
                    </a:p>
                  </a:txBody>
                  <a:tcPr marL="54864" marR="54864" marT="18288" marB="18288" anchor="ctr">
                    <a:solidFill>
                      <a:srgbClr val="FFFFFF"/>
                    </a:solidFill>
                  </a:tcPr>
                </a:tc>
                <a:tc>
                  <a:txBody>
                    <a:bodyPr wrap="square"/>
                    <a:lstStyle/>
                    <a:p>
                      <a:pPr algn="l"/>
                      <a:r>
                        <a:rPr sz="1300" b="0">
                          <a:solidFill>
                            <a:srgbClr val="2A2F4F"/>
                          </a:solidFill>
                          <a:latin typeface="Arial"/>
                        </a:rPr>
                        <a:t>COCO JSON, YOLO TXT, chia tập 70/20/10</a:t>
                      </a:r>
                    </a:p>
                  </a:txBody>
                  <a:tcPr marL="54864" marR="54864" marT="18288" marB="18288" anchor="ctr">
                    <a:solidFill>
                      <a:srgbClr val="FFFFFF"/>
                    </a:solidFill>
                  </a:tcPr>
                </a:tc>
              </a:tr>
              <a:tr h="425196">
                <a:tc>
                  <a:txBody>
                    <a:bodyPr wrap="square"/>
                    <a:lstStyle/>
                    <a:p>
                      <a:pPr algn="ctr"/>
                      <a:r>
                        <a:rPr sz="1300" b="0">
                          <a:solidFill>
                            <a:srgbClr val="2A2F4F"/>
                          </a:solidFill>
                          <a:latin typeface="Arial"/>
                        </a:rPr>
                        <a:t>8</a:t>
                      </a:r>
                    </a:p>
                  </a:txBody>
                  <a:tcPr marL="54864" marR="54864" marT="18288" marB="18288" anchor="ctr">
                    <a:solidFill>
                      <a:srgbClr val="EDF1F7"/>
                    </a:solidFill>
                  </a:tcPr>
                </a:tc>
                <a:tc>
                  <a:txBody>
                    <a:bodyPr wrap="square"/>
                    <a:lstStyle/>
                    <a:p>
                      <a:pPr algn="l"/>
                      <a:r>
                        <a:rPr sz="1300" b="0">
                          <a:solidFill>
                            <a:srgbClr val="2A2F4F"/>
                          </a:solidFill>
                          <a:latin typeface="Arial"/>
                        </a:rPr>
                        <a:t>Đảm bảo chất lượng</a:t>
                      </a:r>
                    </a:p>
                  </a:txBody>
                  <a:tcPr marL="54864" marR="54864" marT="18288" marB="18288" anchor="ctr">
                    <a:solidFill>
                      <a:srgbClr val="EDF1F7"/>
                    </a:solidFill>
                  </a:tcPr>
                </a:tc>
                <a:tc>
                  <a:txBody>
                    <a:bodyPr wrap="square"/>
                    <a:lstStyle/>
                    <a:p>
                      <a:pPr algn="l"/>
                      <a:r>
                        <a:rPr sz="1300" b="0">
                          <a:solidFill>
                            <a:srgbClr val="2A2F4F"/>
                          </a:solidFill>
                          <a:latin typeface="Arial"/>
                        </a:rPr>
                        <a:t>Báo cáo SSIM, kiểm tra chú thích, lưới kiểm tra bằng mắt</a:t>
                      </a:r>
                    </a:p>
                  </a:txBody>
                  <a:tcPr marL="54864" marR="54864" marT="18288" marB="18288" anchor="ctr">
                    <a:solidFill>
                      <a:srgbClr val="EDF1F7"/>
                    </a:solidFill>
                  </a:tcPr>
                </a:tc>
              </a:tr>
              <a:tr h="425196">
                <a:tc>
                  <a:txBody>
                    <a:bodyPr wrap="square"/>
                    <a:lstStyle/>
                    <a:p>
                      <a:pPr algn="ctr"/>
                      <a:r>
                        <a:rPr sz="1300" b="0">
                          <a:solidFill>
                            <a:srgbClr val="2A2F4F"/>
                          </a:solidFill>
                          <a:latin typeface="Arial"/>
                        </a:rPr>
                        <a:t>9</a:t>
                      </a:r>
                    </a:p>
                  </a:txBody>
                  <a:tcPr marL="54864" marR="54864" marT="18288" marB="18288" anchor="ctr">
                    <a:solidFill>
                      <a:srgbClr val="FFFFFF"/>
                    </a:solidFill>
                  </a:tcPr>
                </a:tc>
                <a:tc>
                  <a:txBody>
                    <a:bodyPr wrap="square"/>
                    <a:lstStyle/>
                    <a:p>
                      <a:pPr algn="l"/>
                      <a:r>
                        <a:rPr sz="1300" b="0">
                          <a:solidFill>
                            <a:srgbClr val="2A2F4F"/>
                          </a:solidFill>
                          <a:latin typeface="Arial"/>
                        </a:rPr>
                        <a:t>Xác thực xuôi dòng</a:t>
                      </a:r>
                    </a:p>
                  </a:txBody>
                  <a:tcPr marL="54864" marR="54864" marT="18288" marB="18288" anchor="ctr">
                    <a:solidFill>
                      <a:srgbClr val="FFFFFF"/>
                    </a:solidFill>
                  </a:tcPr>
                </a:tc>
                <a:tc>
                  <a:txBody>
                    <a:bodyPr wrap="square"/>
                    <a:lstStyle/>
                    <a:p>
                      <a:pPr algn="l"/>
                      <a:r>
                        <a:rPr sz="1300" b="0">
                          <a:solidFill>
                            <a:srgbClr val="2A2F4F"/>
                          </a:solidFill>
                          <a:latin typeface="Arial"/>
                        </a:rPr>
                        <a:t>Kết quả YOLOv8 theo bốn tỷ lệ trộn</a:t>
                      </a:r>
                    </a:p>
                  </a:txBody>
                  <a:tcPr marL="54864" marR="54864" marT="18288" marB="18288" anchor="ctr">
                    <a:solidFill>
                      <a:srgbClr val="FFFFFF"/>
                    </a:solidFill>
                  </a:tcPr>
                </a:tc>
              </a:tr>
            </a:tbl>
          </a:graphicData>
        </a:graphic>
      </p:graphicFrame>
      <p:sp>
        <p:nvSpPr>
          <p:cNvPr id="4" name="TextBox 3"/>
          <p:cNvSpPr txBox="1"/>
          <p:nvPr/>
        </p:nvSpPr>
        <p:spPr>
          <a:xfrm>
            <a:off x="777240" y="6053328"/>
            <a:ext cx="10579608" cy="457200"/>
          </a:xfrm>
          <a:prstGeom prst="rect">
            <a:avLst/>
          </a:prstGeom>
          <a:noFill/>
        </p:spPr>
        <p:txBody>
          <a:bodyPr wrap="square">
            <a:spAutoFit/>
          </a:bodyPr>
          <a:lstStyle/>
          <a:p>
            <a:r>
              <a:rPr sz="1300" b="0">
                <a:solidFill>
                  <a:srgbClr val="2A2F4F"/>
                </a:solidFill>
                <a:latin typeface="Arial"/>
              </a:rPr>
              <a:t>Bốn giai đoạn đầu chạy một lần. Giai đoạn 5 và 6 là vòng lặp sản xuất. Toàn hệ thống gồm </a:t>
            </a:r>
            <a:r>
              <a:rPr sz="1300" b="1">
                <a:solidFill>
                  <a:srgbClr val="0071FF"/>
                </a:solidFill>
                <a:latin typeface="Arial"/>
              </a:rPr>
              <a:t>18.158 dòng mã Python</a:t>
            </a:r>
            <a:r>
              <a:rPr sz="1300" b="0">
                <a:solidFill>
                  <a:srgbClr val="2A2F4F"/>
                </a:solidFill>
                <a:latin typeface="Arial"/>
              </a:rPr>
              <a:t> chia theo mười một mô-đun.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5852160" cy="868680"/>
          </a:xfrm>
        </p:spPr>
        <p:txBody>
          <a:bodyPr wrap="square"/>
          <a:lstStyle/>
          <a:p>
            <a:r>
              <a:rPr sz="2800" b="1">
                <a:solidFill>
                  <a:srgbClr val="1C305E"/>
                </a:solidFill>
                <a:latin typeface="Arial"/>
              </a:rPr>
              <a:t>3.1 LUỒNG DỮ LIỆU QUY TRÌNH SINH ẢNH</a:t>
            </a:r>
          </a:p>
        </p:txBody>
      </p:sp>
      <p:sp>
        <p:nvSpPr>
          <p:cNvPr id="3" name="Text Placeholder 2"/>
          <p:cNvSpPr>
            <a:spLocks noGrp="1"/>
          </p:cNvSpPr>
          <p:nvPr>
            <p:ph type="body" idx="1"/>
          </p:nvPr>
        </p:nvSpPr>
        <p:spPr>
          <a:xfrm>
            <a:off x="777240" y="1325880"/>
            <a:ext cx="5669280" cy="4846320"/>
          </a:xfrm>
        </p:spPr>
        <p:txBody>
          <a:bodyPr wrap="square"/>
          <a:lstStyle/>
          <a:p>
            <a:pPr algn="l">
              <a:spcAft>
                <a:spcPts val="600"/>
              </a:spcAft>
            </a:pPr>
            <a:r>
              <a:rPr sz="1700" b="0">
                <a:solidFill>
                  <a:srgbClr val="2A2F4F"/>
                </a:solidFill>
                <a:latin typeface="Arial"/>
              </a:rPr>
              <a:t>Đầu vào là tệp cấu hình lô: số ảnh, phân bố lớp, đường dẫn mô hình.</a:t>
            </a:r>
          </a:p>
          <a:p>
            <a:pPr algn="l">
              <a:spcAft>
                <a:spcPts val="600"/>
              </a:spcAft>
            </a:pPr>
            <a:r>
              <a:rPr sz="1700" b="0">
                <a:solidFill>
                  <a:srgbClr val="2A2F4F"/>
                </a:solidFill>
                <a:latin typeface="Arial"/>
              </a:rPr>
              <a:t>Bộ lập lịch dựng danh sách công việc theo phân bố lớp rồi </a:t>
            </a:r>
            <a:r>
              <a:rPr sz="1700" b="1">
                <a:solidFill>
                  <a:srgbClr val="0071FF"/>
                </a:solidFill>
                <a:latin typeface="Arial"/>
              </a:rPr>
              <a:t>xáo trộn</a:t>
            </a:r>
            <a:r>
              <a:rPr sz="1700" b="0">
                <a:solidFill>
                  <a:srgbClr val="2A2F4F"/>
                </a:solidFill>
                <a:latin typeface="Arial"/>
              </a:rPr>
              <a:t> để các lớp xen kẽ.</a:t>
            </a:r>
          </a:p>
          <a:p>
            <a:pPr lvl="1" algn="l">
              <a:spcAft>
                <a:spcPts val="600"/>
              </a:spcAft>
            </a:pPr>
            <a:r>
              <a:rPr sz="1400" b="0">
                <a:solidFill>
                  <a:srgbClr val="2A2F4F"/>
                </a:solidFill>
                <a:latin typeface="Arial"/>
              </a:rPr>
              <a:t>Dừng giữa chừng vẫn thu được tập cân bằng lớp.</a:t>
            </a:r>
          </a:p>
          <a:p>
            <a:pPr lvl="1" algn="l">
              <a:spcAft>
                <a:spcPts val="600"/>
              </a:spcAft>
            </a:pPr>
            <a:r>
              <a:rPr sz="1400" b="0">
                <a:solidFill>
                  <a:srgbClr val="2A2F4F"/>
                </a:solidFill>
                <a:latin typeface="Arial"/>
              </a:rPr>
              <a:t>Lỗi đặc thù một lớp không dồn vào một đoạn thời gian.</a:t>
            </a:r>
          </a:p>
          <a:p>
            <a:pPr algn="l">
              <a:spcAft>
                <a:spcPts val="600"/>
              </a:spcAft>
            </a:pPr>
            <a:r>
              <a:rPr sz="1700" b="0">
                <a:solidFill>
                  <a:srgbClr val="2A2F4F"/>
                </a:solidFill>
                <a:latin typeface="Arial"/>
              </a:rPr>
              <a:t>Mỗi công việc đi qua: sinh mặt nạ trên CPU, tải lên ComfyUI, vá đồ thị nút, sinh ảnh trên GPU, tải về, hậu xử lý, lưu kèm siêu dữ liệu.</a:t>
            </a:r>
          </a:p>
          <a:p>
            <a:pPr algn="l">
              <a:spcAft>
                <a:spcPts val="600"/>
              </a:spcAft>
            </a:pPr>
            <a:r>
              <a:rPr sz="1700" b="0">
                <a:solidFill>
                  <a:srgbClr val="2A2F4F"/>
                </a:solidFill>
                <a:latin typeface="Arial"/>
              </a:rPr>
              <a:t>Mỗi ảnh lưu </a:t>
            </a:r>
            <a:r>
              <a:rPr sz="1700" b="1">
                <a:solidFill>
                  <a:srgbClr val="0071FF"/>
                </a:solidFill>
                <a:latin typeface="Arial"/>
              </a:rPr>
              <a:t>hạt giống và đường dẫn ảnh nền</a:t>
            </a:r>
            <a:r>
              <a:rPr sz="1700" b="0">
                <a:solidFill>
                  <a:srgbClr val="2A2F4F"/>
                </a:solidFill>
                <a:latin typeface="Arial"/>
              </a:rPr>
              <a:t>, nên mọi ảnh trong tập đều tái lập được.</a:t>
            </a:r>
          </a:p>
        </p:txBody>
      </p:sp>
      <p:pic>
        <p:nvPicPr>
          <p:cNvPr id="4" name="Picture 3" descr="fig-3-1-luong-du-lieu-pipeline.png"/>
          <p:cNvPicPr>
            <a:picLocks noChangeAspect="1"/>
          </p:cNvPicPr>
          <p:nvPr/>
        </p:nvPicPr>
        <p:blipFill>
          <a:blip r:embed="rId2"/>
          <a:stretch>
            <a:fillRect/>
          </a:stretch>
        </p:blipFill>
        <p:spPr>
          <a:xfrm>
            <a:off x="7188815" y="457200"/>
            <a:ext cx="3727490" cy="5486400"/>
          </a:xfrm>
          <a:prstGeom prst="rect">
            <a:avLst/>
          </a:prstGeom>
        </p:spPr>
      </p:pic>
      <p:sp>
        <p:nvSpPr>
          <p:cNvPr id="5" name="TextBox 4"/>
          <p:cNvSpPr txBox="1"/>
          <p:nvPr/>
        </p:nvSpPr>
        <p:spPr>
          <a:xfrm>
            <a:off x="6583680" y="5998464"/>
            <a:ext cx="4937760" cy="274320"/>
          </a:xfrm>
          <a:prstGeom prst="rect">
            <a:avLst/>
          </a:prstGeom>
          <a:noFill/>
        </p:spPr>
        <p:txBody>
          <a:bodyPr wrap="square">
            <a:spAutoFit/>
          </a:bodyPr>
          <a:lstStyle/>
          <a:p>
            <a:pPr algn="ctr"/>
            <a:r>
              <a:rPr sz="1200" i="1">
                <a:solidFill>
                  <a:srgbClr val="2A2F4F"/>
                </a:solidFill>
                <a:latin typeface="Arial"/>
              </a:rPr>
              <a:t>Hình 3.1: Luồng dữ liệu quy trình sinh ảnh hàng loạt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3.2 DỮ LIỆU ĐẦU VÀO VÀ TIỀN XỬ LÝ</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700" b="1">
                <a:solidFill>
                  <a:srgbClr val="0071FF"/>
                </a:solidFill>
                <a:latin typeface="Arial"/>
              </a:rPr>
              <a:t>Nguồn dữ liệu</a:t>
            </a:r>
          </a:p>
          <a:p>
            <a:pPr lvl="1" algn="l">
              <a:spcAft>
                <a:spcPts val="600"/>
              </a:spcAft>
            </a:pPr>
            <a:r>
              <a:rPr sz="1500" b="0">
                <a:solidFill>
                  <a:srgbClr val="2A2F4F"/>
                </a:solidFill>
                <a:latin typeface="Arial"/>
              </a:rPr>
              <a:t>GDXray W0003: 73 phim gốc, trung vị 4990 × 1300 px, 876 khuyết tật gán nhãn. Vừa là nguồn ảnh nền, ảnh huấn luyện LoRA, vừa là tham chiếu tính FID.</a:t>
            </a:r>
          </a:p>
          <a:p>
            <a:pPr lvl="1" algn="l">
              <a:spcAft>
                <a:spcPts val="600"/>
              </a:spcAft>
            </a:pPr>
            <a:r>
              <a:rPr sz="1500" b="0">
                <a:solidFill>
                  <a:srgbClr val="2A2F4F"/>
                </a:solidFill>
                <a:latin typeface="Arial"/>
              </a:rPr>
              <a:t>RIAWELC: bổ sung mẫu cho các lớp thiểu số.</a:t>
            </a:r>
          </a:p>
          <a:p>
            <a:pPr lvl="1" algn="l">
              <a:spcAft>
                <a:spcPts val="600"/>
              </a:spcAft>
            </a:pPr>
            <a:r>
              <a:rPr sz="1500" b="0">
                <a:solidFill>
                  <a:srgbClr val="2A2F4F"/>
                </a:solidFill>
                <a:latin typeface="Arial"/>
              </a:rPr>
              <a:t>Ảnh RT từ AlphaNDT: kiểm tra chéo diện mạo ảnh sinh.</a:t>
            </a:r>
          </a:p>
          <a:p>
            <a:pPr algn="l">
              <a:spcAft>
                <a:spcPts val="600"/>
              </a:spcAft>
            </a:pPr>
            <a:r>
              <a:rPr sz="1700" b="1">
                <a:solidFill>
                  <a:srgbClr val="0071FF"/>
                </a:solidFill>
                <a:latin typeface="Arial"/>
              </a:rPr>
              <a:t>Đo từ 876 nhãn gốc</a:t>
            </a:r>
            <a:r>
              <a:rPr sz="1700" b="0">
                <a:solidFill>
                  <a:srgbClr val="2A2F4F"/>
                </a:solidFill>
                <a:latin typeface="Arial"/>
              </a:rPr>
              <a:t>: tâm dải hàn ở khoảng 0,53 chiều cao ảnh, độ lệch chuẩn 0,28; số khuyết tật mỗi phim từ 1 tới 24, trung vị 1, phân bố lệch phải nặng.</a:t>
            </a:r>
          </a:p>
          <a:p>
            <a:pPr algn="l">
              <a:spcAft>
                <a:spcPts val="600"/>
              </a:spcAft>
            </a:pPr>
            <a:r>
              <a:rPr sz="1700" b="1">
                <a:solidFill>
                  <a:srgbClr val="0071FF"/>
                </a:solidFill>
                <a:latin typeface="Arial"/>
              </a:rPr>
              <a:t>Cắt patch</a:t>
            </a:r>
            <a:r>
              <a:rPr sz="1700" b="0">
                <a:solidFill>
                  <a:srgbClr val="2A2F4F"/>
                </a:solidFill>
                <a:latin typeface="Arial"/>
              </a:rPr>
              <a:t>: ô vuông 512 × 512, PNG thang xám 8 bit, chia hai nhóm.</a:t>
            </a:r>
          </a:p>
          <a:p>
            <a:pPr lvl="1" algn="l">
              <a:spcAft>
                <a:spcPts val="600"/>
              </a:spcAft>
            </a:pPr>
            <a:r>
              <a:rPr sz="1500" b="0">
                <a:solidFill>
                  <a:srgbClr val="2A2F4F"/>
                </a:solidFill>
                <a:latin typeface="Arial"/>
              </a:rPr>
              <a:t>Ô có khuyết tật, phân theo lớp, dùng huấn luyện LoRA.</a:t>
            </a:r>
          </a:p>
          <a:p>
            <a:pPr lvl="1" algn="l">
              <a:spcAft>
                <a:spcPts val="600"/>
              </a:spcAft>
            </a:pPr>
            <a:r>
              <a:rPr sz="1500" b="1">
                <a:solidFill>
                  <a:srgbClr val="0071FF"/>
                </a:solidFill>
                <a:latin typeface="Arial"/>
              </a:rPr>
              <a:t>827 ô nền sạch</a:t>
            </a:r>
            <a:r>
              <a:rPr sz="1500" b="0">
                <a:solidFill>
                  <a:srgbClr val="2A2F4F"/>
                </a:solidFill>
                <a:latin typeface="Arial"/>
              </a:rPr>
              <a:t> làm nền cho bước inpainting: kết cấu hạt phim, độ sáng và biên vật liệu đều là thật, chỉ khuyết tật do mô hình vẽ thêm.</a:t>
            </a:r>
          </a:p>
          <a:p>
            <a:pPr algn="l">
              <a:spcAft>
                <a:spcPts val="600"/>
              </a:spcAft>
            </a:pPr>
            <a:r>
              <a:rPr sz="1700" b="0">
                <a:solidFill>
                  <a:srgbClr val="2A2F4F"/>
                </a:solidFill>
                <a:latin typeface="Arial"/>
              </a:rPr>
              <a:t>Bộ lọc độ sáng chỉ giữ patch có trung bình từ </a:t>
            </a:r>
            <a:r>
              <a:rPr sz="1700" b="1">
                <a:solidFill>
                  <a:srgbClr val="0071FF"/>
                </a:solidFill>
                <a:latin typeface="Arial"/>
              </a:rPr>
              <a:t>140 trở lên</a:t>
            </a:r>
            <a:r>
              <a:rPr sz="1700" b="0">
                <a:solidFill>
                  <a:srgbClr val="2A2F4F"/>
                </a:solidFill>
                <a:latin typeface="Arial"/>
              </a:rPr>
              <a:t>: patch quá tối cho tương phản khuyết tật thấp, lại bị bước làm tối đẩy xuống bão hoà đen.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3.3 SINH MẶT NẠ THEO THỦ TỤC</a:t>
            </a:r>
          </a:p>
        </p:txBody>
      </p:sp>
      <p:sp>
        <p:nvSpPr>
          <p:cNvPr id="3" name="Text Placeholder 2"/>
          <p:cNvSpPr>
            <a:spLocks noGrp="1"/>
          </p:cNvSpPr>
          <p:nvPr>
            <p:ph type="body" idx="1"/>
          </p:nvPr>
        </p:nvSpPr>
        <p:spPr>
          <a:xfrm>
            <a:off x="777240" y="1170432"/>
            <a:ext cx="10579608" cy="2659887"/>
          </a:xfrm>
        </p:spPr>
        <p:txBody>
          <a:bodyPr wrap="square"/>
          <a:lstStyle/>
          <a:p>
            <a:pPr algn="l">
              <a:spcAft>
                <a:spcPts val="600"/>
              </a:spcAft>
            </a:pPr>
            <a:r>
              <a:rPr sz="1600" b="0">
                <a:solidFill>
                  <a:srgbClr val="2A2F4F"/>
                </a:solidFill>
                <a:latin typeface="Arial"/>
              </a:rPr>
              <a:t>Mô-đun mask_generator gồm </a:t>
            </a:r>
            <a:r>
              <a:rPr sz="1600" b="1">
                <a:solidFill>
                  <a:srgbClr val="0071FF"/>
                </a:solidFill>
                <a:latin typeface="Arial"/>
              </a:rPr>
              <a:t>1.809 dòng mã</a:t>
            </a:r>
            <a:r>
              <a:rPr sz="1600" b="0">
                <a:solidFill>
                  <a:srgbClr val="2A2F4F"/>
                </a:solidFill>
                <a:latin typeface="Arial"/>
              </a:rPr>
              <a:t>: mười hai lớp sinh mặt nạ bám mô tả hình thái ISO 6520-1, một lớp cơ sở, tiện ích làm mềm biên và bộ ràng buộc vùng hàn.</a:t>
            </a:r>
          </a:p>
          <a:p>
            <a:pPr algn="l">
              <a:spcAft>
                <a:spcPts val="600"/>
              </a:spcAft>
            </a:pPr>
            <a:r>
              <a:rPr sz="1600" b="0">
                <a:solidFill>
                  <a:srgbClr val="2A2F4F"/>
                </a:solidFill>
                <a:latin typeface="Arial"/>
              </a:rPr>
              <a:t>Mỗi lần sinh tạo </a:t>
            </a:r>
            <a:r>
              <a:rPr sz="1600" b="1">
                <a:solidFill>
                  <a:srgbClr val="0071FF"/>
                </a:solidFill>
                <a:latin typeface="Arial"/>
              </a:rPr>
              <a:t>hai mặt nạ</a:t>
            </a:r>
            <a:r>
              <a:rPr sz="1600" b="0">
                <a:solidFill>
                  <a:srgbClr val="2A2F4F"/>
                </a:solidFill>
                <a:latin typeface="Arial"/>
              </a:rPr>
              <a:t> từ cùng một hình dạng gốc: mặt nạ chú thích giữ nguyên kích thước, dùng xuất COCO và YOLO. Mặt nạ inpaint giãn nở ellipse 21 × 21 rồi làm mờ Gauss bán kính 7 để mô hình đủ diện tích vẽ.</a:t>
            </a:r>
          </a:p>
          <a:p>
            <a:pPr algn="l">
              <a:spcAft>
                <a:spcPts val="600"/>
              </a:spcAft>
            </a:pPr>
            <a:r>
              <a:rPr sz="1600" b="0">
                <a:solidFill>
                  <a:srgbClr val="2A2F4F"/>
                </a:solidFill>
                <a:latin typeface="Arial"/>
              </a:rPr>
              <a:t>Hệ quả: vành đai giữa hai mặt nạ là vùng mô hình được phép vẽ nhưng không thuộc vùng chú thích, nơi LoRA thường vẽ </a:t>
            </a:r>
            <a:r>
              <a:rPr sz="1600" b="1">
                <a:solidFill>
                  <a:srgbClr val="0071FF"/>
                </a:solidFill>
                <a:latin typeface="Arial"/>
              </a:rPr>
              <a:t>quầng sáng</a:t>
            </a:r>
            <a:r>
              <a:rPr sz="1600" b="0">
                <a:solidFill>
                  <a:srgbClr val="2A2F4F"/>
                </a:solidFill>
                <a:latin typeface="Arial"/>
              </a:rPr>
              <a:t> không có trên phim thật.</a:t>
            </a:r>
          </a:p>
        </p:txBody>
      </p:sp>
      <p:pic>
        <p:nvPicPr>
          <p:cNvPr id="4" name="Picture 3" descr="fig-3-2-hai-duong-mask.png"/>
          <p:cNvPicPr>
            <a:picLocks noChangeAspect="1"/>
          </p:cNvPicPr>
          <p:nvPr/>
        </p:nvPicPr>
        <p:blipFill>
          <a:blip r:embed="rId2"/>
          <a:stretch>
            <a:fillRect/>
          </a:stretch>
        </p:blipFill>
        <p:spPr>
          <a:xfrm>
            <a:off x="3957890" y="3903471"/>
            <a:ext cx="4218307" cy="2076705"/>
          </a:xfrm>
          <a:prstGeom prst="rect">
            <a:avLst/>
          </a:prstGeom>
        </p:spPr>
      </p:pic>
      <p:sp>
        <p:nvSpPr>
          <p:cNvPr id="5" name="TextBox 4"/>
          <p:cNvSpPr txBox="1"/>
          <p:nvPr/>
        </p:nvSpPr>
        <p:spPr>
          <a:xfrm>
            <a:off x="777240" y="6016752"/>
            <a:ext cx="10579608" cy="274320"/>
          </a:xfrm>
          <a:prstGeom prst="rect">
            <a:avLst/>
          </a:prstGeom>
          <a:noFill/>
        </p:spPr>
        <p:txBody>
          <a:bodyPr wrap="square">
            <a:spAutoFit/>
          </a:bodyPr>
          <a:lstStyle/>
          <a:p>
            <a:pPr algn="ctr"/>
            <a:r>
              <a:rPr sz="1200" i="1">
                <a:solidFill>
                  <a:srgbClr val="2A2F4F"/>
                </a:solidFill>
                <a:latin typeface="Arial"/>
              </a:rPr>
              <a:t>Hình 3.2: Mặt nạ chú thích (trái) và mặt nạ inpaint sau khi giãn nở (phải)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3.4 TINH CHỈNH LoRA CHO TỪNG LỚP KHUYẾT TẬT</a:t>
            </a:r>
          </a:p>
        </p:txBody>
      </p:sp>
      <p:graphicFrame>
        <p:nvGraphicFramePr>
          <p:cNvPr id="3" name="Table 2"/>
          <p:cNvGraphicFramePr>
            <a:graphicFrameLocks noGrp="1"/>
          </p:cNvGraphicFramePr>
          <p:nvPr/>
        </p:nvGraphicFramePr>
        <p:xfrm>
          <a:off x="777240" y="1234440"/>
          <a:ext cx="10579607" cy="4251960"/>
        </p:xfrm>
        <a:graphic>
          <a:graphicData uri="http://schemas.openxmlformats.org/drawingml/2006/table">
            <a:tbl>
              <a:tblPr firstRow="1" bandRow="1">
                <a:tableStyleId>{5C22544A-7EE6-4342-B048-85BDC9FD1C3A}</a:tableStyleId>
              </a:tblPr>
              <a:tblGrid>
                <a:gridCol w="2371291"/>
                <a:gridCol w="2371291"/>
                <a:gridCol w="5837025"/>
              </a:tblGrid>
              <a:tr h="472440">
                <a:tc>
                  <a:txBody>
                    <a:bodyPr wrap="square"/>
                    <a:lstStyle/>
                    <a:p>
                      <a:pPr algn="ctr"/>
                      <a:r>
                        <a:rPr sz="1300" b="1">
                          <a:solidFill>
                            <a:srgbClr val="FFFFFF"/>
                          </a:solidFill>
                          <a:latin typeface="Arial"/>
                        </a:rPr>
                        <a:t>Tham số</a:t>
                      </a:r>
                    </a:p>
                  </a:txBody>
                  <a:tcPr marL="54864" marR="54864" marT="18288" marB="18288" anchor="ctr">
                    <a:solidFill>
                      <a:srgbClr val="1C305E"/>
                    </a:solidFill>
                  </a:tcPr>
                </a:tc>
                <a:tc>
                  <a:txBody>
                    <a:bodyPr wrap="square"/>
                    <a:lstStyle/>
                    <a:p>
                      <a:pPr algn="ctr"/>
                      <a:r>
                        <a:rPr sz="1300" b="1">
                          <a:solidFill>
                            <a:srgbClr val="FFFFFF"/>
                          </a:solidFill>
                          <a:latin typeface="Arial"/>
                        </a:rPr>
                        <a:t>Giá trị</a:t>
                      </a:r>
                    </a:p>
                  </a:txBody>
                  <a:tcPr marL="54864" marR="54864" marT="18288" marB="18288" anchor="ctr">
                    <a:solidFill>
                      <a:srgbClr val="1C305E"/>
                    </a:solidFill>
                  </a:tcPr>
                </a:tc>
                <a:tc>
                  <a:txBody>
                    <a:bodyPr wrap="square"/>
                    <a:lstStyle/>
                    <a:p>
                      <a:pPr algn="ctr"/>
                      <a:r>
                        <a:rPr sz="1300" b="1">
                          <a:solidFill>
                            <a:srgbClr val="FFFFFF"/>
                          </a:solidFill>
                          <a:latin typeface="Arial"/>
                        </a:rPr>
                        <a:t>Lý do chọn</a:t>
                      </a:r>
                    </a:p>
                  </a:txBody>
                  <a:tcPr marL="54864" marR="54864" marT="18288" marB="18288" anchor="ctr">
                    <a:solidFill>
                      <a:srgbClr val="1C305E"/>
                    </a:solidFill>
                  </a:tcPr>
                </a:tc>
              </a:tr>
              <a:tr h="472440">
                <a:tc>
                  <a:txBody>
                    <a:bodyPr wrap="square"/>
                    <a:lstStyle/>
                    <a:p>
                      <a:pPr algn="l"/>
                      <a:r>
                        <a:rPr sz="1300" b="0">
                          <a:solidFill>
                            <a:srgbClr val="2A2F4F"/>
                          </a:solidFill>
                          <a:latin typeface="Arial"/>
                        </a:rPr>
                        <a:t>Mô hình nền</a:t>
                      </a:r>
                    </a:p>
                  </a:txBody>
                  <a:tcPr marL="54864" marR="54864" marT="18288" marB="18288" anchor="ctr">
                    <a:solidFill>
                      <a:srgbClr val="FFFFFF"/>
                    </a:solidFill>
                  </a:tcPr>
                </a:tc>
                <a:tc>
                  <a:txBody>
                    <a:bodyPr wrap="square"/>
                    <a:lstStyle/>
                    <a:p>
                      <a:pPr algn="l"/>
                      <a:r>
                        <a:rPr sz="1300" b="0">
                          <a:solidFill>
                            <a:srgbClr val="2A2F4F"/>
                          </a:solidFill>
                          <a:latin typeface="Arial"/>
                        </a:rPr>
                        <a:t>Stable Diffusion 1.5</a:t>
                      </a:r>
                    </a:p>
                  </a:txBody>
                  <a:tcPr marL="54864" marR="54864" marT="18288" marB="18288" anchor="ctr">
                    <a:solidFill>
                      <a:srgbClr val="FFFFFF"/>
                    </a:solidFill>
                  </a:tcPr>
                </a:tc>
                <a:tc>
                  <a:txBody>
                    <a:bodyPr wrap="square"/>
                    <a:lstStyle/>
                    <a:p>
                      <a:pPr algn="l"/>
                      <a:r>
                        <a:rPr sz="1300" b="0">
                          <a:solidFill>
                            <a:srgbClr val="2A2F4F"/>
                          </a:solidFill>
                          <a:latin typeface="Arial"/>
                        </a:rPr>
                        <a:t>Cân bằng chất lượng và chi phí, hệ sinh thái ControlNet đầy đủ</a:t>
                      </a:r>
                    </a:p>
                  </a:txBody>
                  <a:tcPr marL="54864" marR="54864" marT="18288" marB="18288" anchor="ctr">
                    <a:solidFill>
                      <a:srgbClr val="FFFFFF"/>
                    </a:solidFill>
                  </a:tcPr>
                </a:tc>
              </a:tr>
              <a:tr h="472440">
                <a:tc>
                  <a:txBody>
                    <a:bodyPr wrap="square"/>
                    <a:lstStyle/>
                    <a:p>
                      <a:pPr algn="l"/>
                      <a:r>
                        <a:rPr sz="1300" b="0">
                          <a:solidFill>
                            <a:srgbClr val="2A2F4F"/>
                          </a:solidFill>
                          <a:latin typeface="Arial"/>
                        </a:rPr>
                        <a:t>Hạng r</a:t>
                      </a:r>
                    </a:p>
                  </a:txBody>
                  <a:tcPr marL="54864" marR="54864" marT="18288" marB="18288" anchor="ctr">
                    <a:solidFill>
                      <a:srgbClr val="EDF1F7"/>
                    </a:solidFill>
                  </a:tcPr>
                </a:tc>
                <a:tc>
                  <a:txBody>
                    <a:bodyPr wrap="square"/>
                    <a:lstStyle/>
                    <a:p>
                      <a:pPr algn="l"/>
                      <a:r>
                        <a:rPr sz="1300" b="1">
                          <a:solidFill>
                            <a:srgbClr val="0071FF"/>
                          </a:solidFill>
                          <a:latin typeface="Arial"/>
                        </a:rPr>
                        <a:t>32</a:t>
                      </a:r>
                    </a:p>
                  </a:txBody>
                  <a:tcPr marL="54864" marR="54864" marT="18288" marB="18288" anchor="ctr">
                    <a:solidFill>
                      <a:srgbClr val="EDF1F7"/>
                    </a:solidFill>
                  </a:tcPr>
                </a:tc>
                <a:tc>
                  <a:txBody>
                    <a:bodyPr wrap="square"/>
                    <a:lstStyle/>
                    <a:p>
                      <a:pPr algn="l"/>
                      <a:r>
                        <a:rPr sz="1300" b="0">
                          <a:solidFill>
                            <a:srgbClr val="2A2F4F"/>
                          </a:solidFill>
                          <a:latin typeface="Arial"/>
                        </a:rPr>
                        <a:t>Đủ dung lượng biểu diễn kết cấu phim, giữ tệp ở mức 37 MB</a:t>
                      </a:r>
                    </a:p>
                  </a:txBody>
                  <a:tcPr marL="54864" marR="54864" marT="18288" marB="18288" anchor="ctr">
                    <a:solidFill>
                      <a:srgbClr val="EDF1F7"/>
                    </a:solidFill>
                  </a:tcPr>
                </a:tc>
              </a:tr>
              <a:tr h="472440">
                <a:tc>
                  <a:txBody>
                    <a:bodyPr wrap="square"/>
                    <a:lstStyle/>
                    <a:p>
                      <a:pPr algn="l"/>
                      <a:r>
                        <a:rPr sz="1300" b="0">
                          <a:solidFill>
                            <a:srgbClr val="2A2F4F"/>
                          </a:solidFill>
                          <a:latin typeface="Arial"/>
                        </a:rPr>
                        <a:t>Alpha</a:t>
                      </a:r>
                    </a:p>
                  </a:txBody>
                  <a:tcPr marL="54864" marR="54864" marT="18288" marB="18288" anchor="ctr">
                    <a:solidFill>
                      <a:srgbClr val="FFFFFF"/>
                    </a:solidFill>
                  </a:tcPr>
                </a:tc>
                <a:tc>
                  <a:txBody>
                    <a:bodyPr wrap="square"/>
                    <a:lstStyle/>
                    <a:p>
                      <a:pPr algn="l"/>
                      <a:r>
                        <a:rPr sz="1300" b="0">
                          <a:solidFill>
                            <a:srgbClr val="2A2F4F"/>
                          </a:solidFill>
                          <a:latin typeface="Arial"/>
                        </a:rPr>
                        <a:t>16</a:t>
                      </a:r>
                    </a:p>
                  </a:txBody>
                  <a:tcPr marL="54864" marR="54864" marT="18288" marB="18288" anchor="ctr">
                    <a:solidFill>
                      <a:srgbClr val="FFFFFF"/>
                    </a:solidFill>
                  </a:tcPr>
                </a:tc>
                <a:tc>
                  <a:txBody>
                    <a:bodyPr wrap="square"/>
                    <a:lstStyle/>
                    <a:p>
                      <a:pPr algn="l"/>
                      <a:r>
                        <a:rPr sz="1300" b="0">
                          <a:solidFill>
                            <a:srgbClr val="2A2F4F"/>
                          </a:solidFill>
                          <a:latin typeface="Arial"/>
                        </a:rPr>
                        <a:t>Hệ số tỷ lệ 0,5, giảm nguy cơ LoRA lấn át mô hình nền</a:t>
                      </a:r>
                    </a:p>
                  </a:txBody>
                  <a:tcPr marL="54864" marR="54864" marT="18288" marB="18288" anchor="ctr">
                    <a:solidFill>
                      <a:srgbClr val="FFFFFF"/>
                    </a:solidFill>
                  </a:tcPr>
                </a:tc>
              </a:tr>
              <a:tr h="472440">
                <a:tc>
                  <a:txBody>
                    <a:bodyPr wrap="square"/>
                    <a:lstStyle/>
                    <a:p>
                      <a:pPr algn="l"/>
                      <a:r>
                        <a:rPr sz="1300" b="0">
                          <a:solidFill>
                            <a:srgbClr val="2A2F4F"/>
                          </a:solidFill>
                          <a:latin typeface="Arial"/>
                        </a:rPr>
                        <a:t>Bộ tối ưu</a:t>
                      </a:r>
                    </a:p>
                  </a:txBody>
                  <a:tcPr marL="54864" marR="54864" marT="18288" marB="18288" anchor="ctr">
                    <a:solidFill>
                      <a:srgbClr val="EDF1F7"/>
                    </a:solidFill>
                  </a:tcPr>
                </a:tc>
                <a:tc>
                  <a:txBody>
                    <a:bodyPr wrap="square"/>
                    <a:lstStyle/>
                    <a:p>
                      <a:pPr algn="l"/>
                      <a:r>
                        <a:rPr sz="1300" b="0">
                          <a:solidFill>
                            <a:srgbClr val="2A2F4F"/>
                          </a:solidFill>
                          <a:latin typeface="Arial"/>
                        </a:rPr>
                        <a:t>AdamW8bit</a:t>
                      </a:r>
                    </a:p>
                  </a:txBody>
                  <a:tcPr marL="54864" marR="54864" marT="18288" marB="18288" anchor="ctr">
                    <a:solidFill>
                      <a:srgbClr val="EDF1F7"/>
                    </a:solidFill>
                  </a:tcPr>
                </a:tc>
                <a:tc>
                  <a:txBody>
                    <a:bodyPr wrap="square"/>
                    <a:lstStyle/>
                    <a:p>
                      <a:pPr algn="l"/>
                      <a:r>
                        <a:rPr sz="1300" b="0">
                          <a:solidFill>
                            <a:srgbClr val="2A2F4F"/>
                          </a:solidFill>
                          <a:latin typeface="Arial"/>
                        </a:rPr>
                        <a:t>Tiết kiệm bộ nhớ, cho phép kích thước lô 4 trên 24 GB VRAM</a:t>
                      </a:r>
                    </a:p>
                  </a:txBody>
                  <a:tcPr marL="54864" marR="54864" marT="18288" marB="18288" anchor="ctr">
                    <a:solidFill>
                      <a:srgbClr val="EDF1F7"/>
                    </a:solidFill>
                  </a:tcPr>
                </a:tc>
              </a:tr>
              <a:tr h="472440">
                <a:tc>
                  <a:txBody>
                    <a:bodyPr wrap="square"/>
                    <a:lstStyle/>
                    <a:p>
                      <a:pPr algn="l"/>
                      <a:r>
                        <a:rPr sz="1300" b="0">
                          <a:solidFill>
                            <a:srgbClr val="2A2F4F"/>
                          </a:solidFill>
                          <a:latin typeface="Arial"/>
                        </a:rPr>
                        <a:t>Tốc độ học</a:t>
                      </a:r>
                    </a:p>
                  </a:txBody>
                  <a:tcPr marL="54864" marR="54864" marT="18288" marB="18288" anchor="ctr">
                    <a:solidFill>
                      <a:srgbClr val="FFFFFF"/>
                    </a:solidFill>
                  </a:tcPr>
                </a:tc>
                <a:tc>
                  <a:txBody>
                    <a:bodyPr wrap="square"/>
                    <a:lstStyle/>
                    <a:p>
                      <a:pPr algn="l"/>
                      <a:r>
                        <a:rPr sz="1300" b="0">
                          <a:solidFill>
                            <a:srgbClr val="2A2F4F"/>
                          </a:solidFill>
                          <a:latin typeface="Arial"/>
                        </a:rPr>
                        <a:t>1e-4</a:t>
                      </a:r>
                    </a:p>
                  </a:txBody>
                  <a:tcPr marL="54864" marR="54864" marT="18288" marB="18288" anchor="ctr">
                    <a:solidFill>
                      <a:srgbClr val="FFFFFF"/>
                    </a:solidFill>
                  </a:tcPr>
                </a:tc>
                <a:tc>
                  <a:txBody>
                    <a:bodyPr wrap="square"/>
                    <a:lstStyle/>
                    <a:p>
                      <a:pPr algn="l"/>
                      <a:r>
                        <a:rPr sz="1300" b="0">
                          <a:solidFill>
                            <a:srgbClr val="2A2F4F"/>
                          </a:solidFill>
                          <a:latin typeface="Arial"/>
                        </a:rPr>
                        <a:t>Giá trị chuẩn cho LoRA hạng trung</a:t>
                      </a:r>
                    </a:p>
                  </a:txBody>
                  <a:tcPr marL="54864" marR="54864" marT="18288" marB="18288" anchor="ctr">
                    <a:solidFill>
                      <a:srgbClr val="FFFFFF"/>
                    </a:solidFill>
                  </a:tcPr>
                </a:tc>
              </a:tr>
              <a:tr h="472440">
                <a:tc>
                  <a:txBody>
                    <a:bodyPr wrap="square"/>
                    <a:lstStyle/>
                    <a:p>
                      <a:pPr algn="l"/>
                      <a:r>
                        <a:rPr sz="1300" b="0">
                          <a:solidFill>
                            <a:srgbClr val="2A2F4F"/>
                          </a:solidFill>
                          <a:latin typeface="Arial"/>
                        </a:rPr>
                        <a:t>Số epoch</a:t>
                      </a:r>
                    </a:p>
                  </a:txBody>
                  <a:tcPr marL="54864" marR="54864" marT="18288" marB="18288" anchor="ctr">
                    <a:solidFill>
                      <a:srgbClr val="EDF1F7"/>
                    </a:solidFill>
                  </a:tcPr>
                </a:tc>
                <a:tc>
                  <a:txBody>
                    <a:bodyPr wrap="square"/>
                    <a:lstStyle/>
                    <a:p>
                      <a:pPr algn="l"/>
                      <a:r>
                        <a:rPr sz="1300" b="0">
                          <a:solidFill>
                            <a:srgbClr val="2A2F4F"/>
                          </a:solidFill>
                          <a:latin typeface="Arial"/>
                        </a:rPr>
                        <a:t>10</a:t>
                      </a:r>
                    </a:p>
                  </a:txBody>
                  <a:tcPr marL="54864" marR="54864" marT="18288" marB="18288" anchor="ctr">
                    <a:solidFill>
                      <a:srgbClr val="EDF1F7"/>
                    </a:solidFill>
                  </a:tcPr>
                </a:tc>
                <a:tc>
                  <a:txBody>
                    <a:bodyPr wrap="square"/>
                    <a:lstStyle/>
                    <a:p>
                      <a:pPr algn="l"/>
                      <a:r>
                        <a:rPr sz="1300" b="0">
                          <a:solidFill>
                            <a:srgbClr val="2A2F4F"/>
                          </a:solidFill>
                          <a:latin typeface="Arial"/>
                        </a:rPr>
                        <a:t>Đủ hội tụ trên vài trăm ảnh, chưa quá khớp rõ rệt</a:t>
                      </a:r>
                    </a:p>
                  </a:txBody>
                  <a:tcPr marL="54864" marR="54864" marT="18288" marB="18288" anchor="ctr">
                    <a:solidFill>
                      <a:srgbClr val="EDF1F7"/>
                    </a:solidFill>
                  </a:tcPr>
                </a:tc>
              </a:tr>
              <a:tr h="472440">
                <a:tc>
                  <a:txBody>
                    <a:bodyPr wrap="square"/>
                    <a:lstStyle/>
                    <a:p>
                      <a:pPr algn="l"/>
                      <a:r>
                        <a:rPr sz="1300" b="0">
                          <a:solidFill>
                            <a:srgbClr val="2A2F4F"/>
                          </a:solidFill>
                          <a:latin typeface="Arial"/>
                        </a:rPr>
                        <a:t>Thời gian huấn luyện</a:t>
                      </a:r>
                    </a:p>
                  </a:txBody>
                  <a:tcPr marL="54864" marR="54864" marT="18288" marB="18288" anchor="ctr">
                    <a:solidFill>
                      <a:srgbClr val="FFFFFF"/>
                    </a:solidFill>
                  </a:tcPr>
                </a:tc>
                <a:tc>
                  <a:txBody>
                    <a:bodyPr wrap="square"/>
                    <a:lstStyle/>
                    <a:p>
                      <a:pPr algn="l"/>
                      <a:r>
                        <a:rPr sz="1300" b="1">
                          <a:solidFill>
                            <a:srgbClr val="0071FF"/>
                          </a:solidFill>
                          <a:latin typeface="Arial"/>
                        </a:rPr>
                        <a:t>2,5 giờ mỗi lớp</a:t>
                      </a:r>
                    </a:p>
                  </a:txBody>
                  <a:tcPr marL="54864" marR="54864" marT="18288" marB="18288" anchor="ctr">
                    <a:solidFill>
                      <a:srgbClr val="FFFFFF"/>
                    </a:solidFill>
                  </a:tcPr>
                </a:tc>
                <a:tc>
                  <a:txBody>
                    <a:bodyPr wrap="square"/>
                    <a:lstStyle/>
                    <a:p>
                      <a:pPr algn="l"/>
                      <a:r>
                        <a:rPr sz="1300" b="0">
                          <a:solidFill>
                            <a:srgbClr val="2A2F4F"/>
                          </a:solidFill>
                          <a:latin typeface="Arial"/>
                        </a:rPr>
                        <a:t>Đo trên RTX 3090</a:t>
                      </a:r>
                    </a:p>
                  </a:txBody>
                  <a:tcPr marL="54864" marR="54864" marT="18288" marB="18288" anchor="ctr">
                    <a:solidFill>
                      <a:srgbClr val="FFFFFF"/>
                    </a:solidFill>
                  </a:tcPr>
                </a:tc>
              </a:tr>
              <a:tr h="472440">
                <a:tc>
                  <a:txBody>
                    <a:bodyPr wrap="square"/>
                    <a:lstStyle/>
                    <a:p>
                      <a:pPr algn="l"/>
                      <a:r>
                        <a:rPr sz="1300" b="0">
                          <a:solidFill>
                            <a:srgbClr val="2A2F4F"/>
                          </a:solidFill>
                          <a:latin typeface="Arial"/>
                        </a:rPr>
                        <a:t>Dung lượng mô hình</a:t>
                      </a:r>
                    </a:p>
                  </a:txBody>
                  <a:tcPr marL="54864" marR="54864" marT="18288" marB="18288" anchor="ctr">
                    <a:solidFill>
                      <a:srgbClr val="EDF1F7"/>
                    </a:solidFill>
                  </a:tcPr>
                </a:tc>
                <a:tc>
                  <a:txBody>
                    <a:bodyPr wrap="square"/>
                    <a:lstStyle/>
                    <a:p>
                      <a:pPr algn="l"/>
                      <a:r>
                        <a:rPr sz="1300" b="0">
                          <a:solidFill>
                            <a:srgbClr val="2A2F4F"/>
                          </a:solidFill>
                          <a:latin typeface="Arial"/>
                        </a:rPr>
                        <a:t>37 MB mỗi lớp</a:t>
                      </a:r>
                    </a:p>
                  </a:txBody>
                  <a:tcPr marL="54864" marR="54864" marT="18288" marB="18288" anchor="ctr">
                    <a:solidFill>
                      <a:srgbClr val="EDF1F7"/>
                    </a:solidFill>
                  </a:tcPr>
                </a:tc>
                <a:tc>
                  <a:txBody>
                    <a:bodyPr wrap="square"/>
                    <a:lstStyle/>
                    <a:p>
                      <a:pPr algn="l"/>
                      <a:r>
                        <a:rPr sz="1300" b="0">
                          <a:solidFill>
                            <a:srgbClr val="2A2F4F"/>
                          </a:solidFill>
                          <a:latin typeface="Arial"/>
                        </a:rPr>
                        <a:t>Tổng mười hai lớp khoảng 444 MB</a:t>
                      </a:r>
                    </a:p>
                  </a:txBody>
                  <a:tcPr marL="54864" marR="54864" marT="18288" marB="18288" anchor="ctr">
                    <a:solidFill>
                      <a:srgbClr val="EDF1F7"/>
                    </a:solidFill>
                  </a:tcPr>
                </a:tc>
              </a:tr>
            </a:tbl>
          </a:graphicData>
        </a:graphic>
      </p:graphicFrame>
      <p:sp>
        <p:nvSpPr>
          <p:cNvPr id="4" name="TextBox 3"/>
          <p:cNvSpPr txBox="1"/>
          <p:nvPr/>
        </p:nvSpPr>
        <p:spPr>
          <a:xfrm>
            <a:off x="777240" y="6053328"/>
            <a:ext cx="10579608" cy="457200"/>
          </a:xfrm>
          <a:prstGeom prst="rect">
            <a:avLst/>
          </a:prstGeom>
          <a:noFill/>
        </p:spPr>
        <p:txBody>
          <a:bodyPr wrap="square">
            <a:spAutoFit/>
          </a:bodyPr>
          <a:lstStyle/>
          <a:p>
            <a:r>
              <a:rPr sz="1300" b="0">
                <a:solidFill>
                  <a:srgbClr val="2A2F4F"/>
                </a:solidFill>
                <a:latin typeface="Arial"/>
              </a:rPr>
              <a:t>Mỗi lớp một mô hình riêng thay vì một mô hình đa lớp, tránh ảnh lai giữa hai lớp làm nhãn sai. Cấu hình sinh tự động thành TOML cho kohya-ss. Tổng số mô hình LoRA đã huấn luyện: </a:t>
            </a:r>
            <a:r>
              <a:rPr sz="1300" b="1">
                <a:solidFill>
                  <a:srgbClr val="0071FF"/>
                </a:solidFill>
                <a:latin typeface="Arial"/>
              </a:rPr>
              <a:t>25</a:t>
            </a:r>
            <a:r>
              <a:rPr sz="1300" b="0">
                <a:solidFill>
                  <a:srgbClr val="2A2F4F"/>
                </a:solidFill>
                <a:latin typeface="Arial"/>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3.5 QUY TRÌNH COMFYUI VÀ BỘ ĐIỀU PHỐI</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700" b="0">
                <a:solidFill>
                  <a:srgbClr val="2A2F4F"/>
                </a:solidFill>
                <a:latin typeface="Arial"/>
              </a:rPr>
              <a:t>Quy trình sinh ảnh là một đồ thị nút JSON nạp vào ComfyUI qua REST API. Bộ điều phối vá các trường theo từng công việc: tên LoRA, lời nhắc thuận và nghịch, hạt giống, ảnh nền và mặt nạ.</a:t>
            </a:r>
          </a:p>
          <a:p>
            <a:pPr algn="l">
              <a:spcAft>
                <a:spcPts val="600"/>
              </a:spcAft>
            </a:pPr>
            <a:r>
              <a:rPr sz="1700" b="1">
                <a:solidFill>
                  <a:srgbClr val="0071FF"/>
                </a:solidFill>
                <a:latin typeface="Arial"/>
              </a:rPr>
              <a:t>Vòng lặp chín bước của batch-production-main.py</a:t>
            </a:r>
            <a:r>
              <a:rPr sz="1700" b="0">
                <a:solidFill>
                  <a:srgbClr val="2A2F4F"/>
                </a:solidFill>
                <a:latin typeface="Arial"/>
              </a:rPr>
              <a:t>: kiểm tra nhiệt GPU, sinh mặt nạ, tải lên ComfyUI, vá đồ thị nút, đẩy hàng đợi, tải kết quả, hậu xử lý, lưu ảnh kèm siêu dữ liệu, ghi điểm kiểm tra.</a:t>
            </a:r>
          </a:p>
          <a:p>
            <a:pPr algn="l">
              <a:spcAft>
                <a:spcPts val="600"/>
              </a:spcAft>
            </a:pPr>
            <a:r>
              <a:rPr sz="1700" b="1">
                <a:solidFill>
                  <a:srgbClr val="0071FF"/>
                </a:solidFill>
                <a:latin typeface="Arial"/>
              </a:rPr>
              <a:t>Tham số vận hành</a:t>
            </a:r>
          </a:p>
          <a:p>
            <a:pPr lvl="1" algn="l">
              <a:spcAft>
                <a:spcPts val="600"/>
              </a:spcAft>
            </a:pPr>
            <a:r>
              <a:rPr sz="1500" b="0">
                <a:solidFill>
                  <a:srgbClr val="2A2F4F"/>
                </a:solidFill>
                <a:latin typeface="Arial"/>
              </a:rPr>
              <a:t>Độ tin cậy: thử lại tối đa 3 lần, giãn cách 5 giây, điểm kiểm tra mỗi 100 ảnh, chờ ComfyUI tối đa 300 giây.</a:t>
            </a:r>
          </a:p>
          <a:p>
            <a:pPr lvl="1" algn="l">
              <a:spcAft>
                <a:spcPts val="600"/>
              </a:spcAft>
            </a:pPr>
            <a:r>
              <a:rPr sz="1500" b="0">
                <a:solidFill>
                  <a:srgbClr val="2A2F4F"/>
                </a:solidFill>
                <a:latin typeface="Arial"/>
              </a:rPr>
              <a:t>Nhiệt: tạm dừng ở 85 °C, tiếp tục khi xuống dưới 75 °C, kiểm tra mỗi 30 giây.</a:t>
            </a:r>
          </a:p>
          <a:p>
            <a:pPr lvl="1" algn="l">
              <a:spcAft>
                <a:spcPts val="600"/>
              </a:spcAft>
            </a:pPr>
            <a:r>
              <a:rPr sz="1500" b="0">
                <a:solidFill>
                  <a:srgbClr val="2A2F4F"/>
                </a:solidFill>
                <a:latin typeface="Arial"/>
              </a:rPr>
              <a:t>Hiệu năng: 8 worker sinh mặt nạ chạy trên CPU, bộ đệm 50 mặt nạ.</a:t>
            </a:r>
          </a:p>
          <a:p>
            <a:pPr algn="l">
              <a:spcAft>
                <a:spcPts val="600"/>
              </a:spcAft>
            </a:pPr>
            <a:r>
              <a:rPr sz="1700" b="0">
                <a:solidFill>
                  <a:srgbClr val="2A2F4F"/>
                </a:solidFill>
                <a:latin typeface="Arial"/>
              </a:rPr>
              <a:t>Điểm kiểm tra lưu danh sách công việc đã xong dưới dạng JSON, nên phiên sản xuất nhiều ngày </a:t>
            </a:r>
            <a:r>
              <a:rPr sz="1700" b="1">
                <a:solidFill>
                  <a:srgbClr val="0071FF"/>
                </a:solidFill>
                <a:latin typeface="Arial"/>
              </a:rPr>
              <a:t>chịu được mất điện hoặc ComfyUI dừng đột ngột</a:t>
            </a:r>
            <a:r>
              <a:rPr sz="1700" b="0">
                <a:solidFill>
                  <a:srgbClr val="2A2F4F"/>
                </a:solidFill>
                <a:latin typeface="Aria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3.5.3 BƯỚC HẬU XỬ LÝ QUY ƯỚC VÙNG TỐI</a:t>
            </a:r>
          </a:p>
        </p:txBody>
      </p:sp>
      <p:sp>
        <p:nvSpPr>
          <p:cNvPr id="3" name="Text Placeholder 2"/>
          <p:cNvSpPr>
            <a:spLocks noGrp="1"/>
          </p:cNvSpPr>
          <p:nvPr>
            <p:ph type="body" idx="1"/>
          </p:nvPr>
        </p:nvSpPr>
        <p:spPr>
          <a:xfrm>
            <a:off x="777240" y="1170432"/>
            <a:ext cx="10579608" cy="2659887"/>
          </a:xfrm>
        </p:spPr>
        <p:txBody>
          <a:bodyPr wrap="square"/>
          <a:lstStyle/>
          <a:p>
            <a:pPr algn="l">
              <a:spcAft>
                <a:spcPts val="600"/>
              </a:spcAft>
            </a:pPr>
            <a:r>
              <a:rPr sz="1600" b="0">
                <a:solidFill>
                  <a:srgbClr val="2A2F4F"/>
                </a:solidFill>
                <a:latin typeface="Arial"/>
              </a:rPr>
              <a:t>Bước 1 khôi phục nền: thay mọi pixel ngoài mặt nạ chú thích bằng pixel ảnh nền gốc, pha trộn qua mặt nạ làm mượt Gauss sigma 1,5, để xoá quầng sáng ở vành đai.</a:t>
            </a:r>
          </a:p>
          <a:p>
            <a:pPr algn="l">
              <a:spcAft>
                <a:spcPts val="600"/>
              </a:spcAft>
            </a:pPr>
            <a:r>
              <a:rPr sz="1600" b="0">
                <a:solidFill>
                  <a:srgbClr val="2A2F4F"/>
                </a:solidFill>
                <a:latin typeface="Arial"/>
              </a:rPr>
              <a:t>Bước 2 áp quy ước vùng rỗng hiện tối: nhân cường độ trong lòng khuyết tật với hệ số nhỏ hơn 1, từ 0,92 mặc định xuống 0,65 cho hốc kéo dài; lớp lẫn xỉ kim loại bỏ qua vì quy ước ngược.</a:t>
            </a:r>
          </a:p>
          <a:p>
            <a:pPr algn="l">
              <a:spcAft>
                <a:spcPts val="600"/>
              </a:spcAft>
            </a:pPr>
            <a:r>
              <a:rPr sz="1600" b="0">
                <a:solidFill>
                  <a:srgbClr val="2A2F4F"/>
                </a:solidFill>
                <a:latin typeface="Arial"/>
              </a:rPr>
              <a:t>Đây là </a:t>
            </a:r>
            <a:r>
              <a:rPr sz="1600" b="1">
                <a:solidFill>
                  <a:srgbClr val="0071FF"/>
                </a:solidFill>
                <a:latin typeface="Arial"/>
              </a:rPr>
              <a:t>bước can thiệp mạnh nhất</a:t>
            </a:r>
            <a:r>
              <a:rPr sz="1600" b="0">
                <a:solidFill>
                  <a:srgbClr val="2A2F4F"/>
                </a:solidFill>
                <a:latin typeface="Arial"/>
              </a:rPr>
              <a:t> của quy trình, và cũng là điểm yếu lớn nhất của thiết kế hiện tại, phân tích ở mục 4.7.</a:t>
            </a:r>
          </a:p>
        </p:txBody>
      </p:sp>
      <p:pic>
        <p:nvPicPr>
          <p:cNvPr id="4" name="Picture 3" descr="fig-3-3-nen-mask-tonghop.png"/>
          <p:cNvPicPr>
            <a:picLocks noChangeAspect="1"/>
          </p:cNvPicPr>
          <p:nvPr/>
        </p:nvPicPr>
        <p:blipFill>
          <a:blip r:embed="rId2"/>
          <a:stretch>
            <a:fillRect/>
          </a:stretch>
        </p:blipFill>
        <p:spPr>
          <a:xfrm>
            <a:off x="2887089" y="3903471"/>
            <a:ext cx="6359909" cy="2076705"/>
          </a:xfrm>
          <a:prstGeom prst="rect">
            <a:avLst/>
          </a:prstGeom>
        </p:spPr>
      </p:pic>
      <p:sp>
        <p:nvSpPr>
          <p:cNvPr id="5" name="TextBox 4"/>
          <p:cNvSpPr txBox="1"/>
          <p:nvPr/>
        </p:nvSpPr>
        <p:spPr>
          <a:xfrm>
            <a:off x="777240" y="6016752"/>
            <a:ext cx="10579608" cy="274320"/>
          </a:xfrm>
          <a:prstGeom prst="rect">
            <a:avLst/>
          </a:prstGeom>
          <a:noFill/>
        </p:spPr>
        <p:txBody>
          <a:bodyPr wrap="square">
            <a:spAutoFit/>
          </a:bodyPr>
          <a:lstStyle/>
          <a:p>
            <a:pPr algn="ctr"/>
            <a:r>
              <a:rPr sz="1200" i="1">
                <a:solidFill>
                  <a:srgbClr val="2A2F4F"/>
                </a:solidFill>
                <a:latin typeface="Arial"/>
              </a:rPr>
              <a:t>Hình 3.3: Ảnh nền sạch, mặt nạ chú thích và ảnh tổng hợp của một mẫu nứt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2100" b="1">
                <a:solidFill>
                  <a:srgbClr val="1C305E"/>
                </a:solidFill>
                <a:latin typeface="Arial"/>
              </a:rPr>
              <a:t>3.6 ĐẾN 3.9 CHÚ THÍCH TỰ ĐỘNG, KIỂM ĐỊNH, GIAO DIỆN, THỰC NGHIỆM</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700" b="1">
                <a:solidFill>
                  <a:srgbClr val="0071FF"/>
                </a:solidFill>
                <a:latin typeface="Arial"/>
              </a:rPr>
              <a:t>Chú thích tự động</a:t>
            </a:r>
            <a:r>
              <a:rPr sz="1700" b="0">
                <a:solidFill>
                  <a:srgbClr val="2A2F4F"/>
                </a:solidFill>
                <a:latin typeface="Arial"/>
              </a:rPr>
              <a:t>: tìm thành phần liên thông trên mặt nạ, xuất COCO JSON (hộp bao, diện tích, đa giác phân đoạn, kiểm tra bằng pycocotools) và YOLO TXT kèm data.yaml. Chia tập 70/20/10 có phân tầng theo lớp.</a:t>
            </a:r>
          </a:p>
          <a:p>
            <a:pPr algn="l">
              <a:spcAft>
                <a:spcPts val="600"/>
              </a:spcAft>
            </a:pPr>
            <a:r>
              <a:rPr sz="1700" b="1">
                <a:solidFill>
                  <a:srgbClr val="0071FF"/>
                </a:solidFill>
                <a:latin typeface="Arial"/>
              </a:rPr>
              <a:t>Năm cổng chất lượng</a:t>
            </a:r>
            <a:r>
              <a:rPr sz="1700" b="0">
                <a:solidFill>
                  <a:srgbClr val="2A2F4F"/>
                </a:solidFill>
                <a:latin typeface="Arial"/>
              </a:rPr>
              <a:t>: SSIM bảo toàn nền ≥ 0,90; tỷ lệ đạt SSIM ≥ 85%; chú thích 0 lỗi (dừng lô nếu sai); sai lệch phân bố ≤ 2%; kiểm tra bằng mắt trên trang HTML lưới ảnh &gt; 95% đạt.</a:t>
            </a:r>
          </a:p>
          <a:p>
            <a:pPr algn="l">
              <a:spcAft>
                <a:spcPts val="600"/>
              </a:spcAft>
            </a:pPr>
            <a:r>
              <a:rPr sz="1700" b="1">
                <a:solidFill>
                  <a:srgbClr val="0071FF"/>
                </a:solidFill>
                <a:latin typeface="Arial"/>
              </a:rPr>
              <a:t>Giao diện một nút bấm</a:t>
            </a:r>
            <a:r>
              <a:rPr sz="1700" b="0">
                <a:solidFill>
                  <a:srgbClr val="2A2F4F"/>
                </a:solidFill>
                <a:latin typeface="Arial"/>
              </a:rPr>
              <a:t>: mô-đun launcher 6.259 dòng chia 22 tệp, dựng bằng Gradio, chạy thường trú như dịch vụ systemd. Chọn cấu hình sẵn 500, 20.000 hoặc 100.000 ảnh, theo dõi tiến độ, nhiệt GPU và thông lượng theo thời gian thực.</a:t>
            </a:r>
          </a:p>
          <a:p>
            <a:pPr algn="l">
              <a:spcAft>
                <a:spcPts val="600"/>
              </a:spcAft>
            </a:pPr>
            <a:r>
              <a:rPr sz="1700" b="1">
                <a:solidFill>
                  <a:srgbClr val="0071FF"/>
                </a:solidFill>
                <a:latin typeface="Arial"/>
              </a:rPr>
              <a:t>Thiết kế thực nghiệm so sánh sáu mô hình nền</a:t>
            </a:r>
            <a:r>
              <a:rPr sz="1700" b="0">
                <a:solidFill>
                  <a:srgbClr val="2A2F4F"/>
                </a:solidFill>
                <a:latin typeface="Arial"/>
              </a:rPr>
              <a:t>: siêu tham số huấn luyện giống hệt nhau, 100 hạt giống tất định dùng chung, cùng tập ảnh nền và mặt nạ. Điểm tổng hợp lấy trọng số FID 40%, SSIM 40%, độ nét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4.1 VÀ 4.2 MÔI TRƯỜNG VÀ KẾT QUẢ SINH ẢNH</a:t>
            </a:r>
          </a:p>
        </p:txBody>
      </p:sp>
      <p:sp>
        <p:nvSpPr>
          <p:cNvPr id="3" name="Text Placeholder 2"/>
          <p:cNvSpPr>
            <a:spLocks noGrp="1"/>
          </p:cNvSpPr>
          <p:nvPr>
            <p:ph type="body" idx="1"/>
          </p:nvPr>
        </p:nvSpPr>
        <p:spPr>
          <a:xfrm>
            <a:off x="777240" y="1170432"/>
            <a:ext cx="10579608" cy="2371344"/>
          </a:xfrm>
        </p:spPr>
        <p:txBody>
          <a:bodyPr wrap="square"/>
          <a:lstStyle/>
          <a:p>
            <a:pPr algn="l">
              <a:spcAft>
                <a:spcPts val="600"/>
              </a:spcAft>
            </a:pPr>
            <a:r>
              <a:rPr sz="1600" b="0">
                <a:solidFill>
                  <a:srgbClr val="2A2F4F"/>
                </a:solidFill>
                <a:latin typeface="Arial"/>
              </a:rPr>
              <a:t>Phần cứng: RTX 3090 24 GB, hai Xeon E5-2696 v4 (88 luồng), 64 GB ECC. VRAM dùng khoảng </a:t>
            </a:r>
            <a:r>
              <a:rPr sz="1600" b="1">
                <a:solidFill>
                  <a:srgbClr val="0071FF"/>
                </a:solidFill>
                <a:latin typeface="Arial"/>
              </a:rPr>
              <a:t>18 GB</a:t>
            </a:r>
            <a:r>
              <a:rPr sz="1600" b="0">
                <a:solidFill>
                  <a:srgbClr val="2A2F4F"/>
                </a:solidFill>
                <a:latin typeface="Arial"/>
              </a:rPr>
              <a:t>, nhiệt GPU đỉnh </a:t>
            </a:r>
            <a:r>
              <a:rPr sz="1600" b="1">
                <a:solidFill>
                  <a:srgbClr val="0071FF"/>
                </a:solidFill>
                <a:latin typeface="Arial"/>
              </a:rPr>
              <a:t>81 °C</a:t>
            </a:r>
            <a:r>
              <a:rPr sz="1600" b="0">
                <a:solidFill>
                  <a:srgbClr val="2A2F4F"/>
                </a:solidFill>
                <a:latin typeface="Arial"/>
              </a:rPr>
              <a:t>, chưa chạm ngưỡng tạm dừng 85 °C.</a:t>
            </a:r>
          </a:p>
          <a:p>
            <a:pPr algn="l">
              <a:spcAft>
                <a:spcPts val="600"/>
              </a:spcAft>
            </a:pPr>
            <a:r>
              <a:rPr sz="1600" b="0">
                <a:solidFill>
                  <a:srgbClr val="2A2F4F"/>
                </a:solidFill>
                <a:latin typeface="Arial"/>
              </a:rPr>
              <a:t>Lần chạy thử 500 ảnh: 27 phút, tỷ lệ thành công </a:t>
            </a:r>
            <a:r>
              <a:rPr sz="1600" b="1">
                <a:solidFill>
                  <a:srgbClr val="0071FF"/>
                </a:solidFill>
                <a:latin typeface="Arial"/>
              </a:rPr>
              <a:t>98%</a:t>
            </a:r>
            <a:r>
              <a:rPr sz="1600" b="0">
                <a:solidFill>
                  <a:srgbClr val="2A2F4F"/>
                </a:solidFill>
                <a:latin typeface="Arial"/>
              </a:rPr>
              <a:t>, thông lượng ổn định </a:t>
            </a:r>
            <a:r>
              <a:rPr sz="1600" b="1">
                <a:solidFill>
                  <a:srgbClr val="0071FF"/>
                </a:solidFill>
                <a:latin typeface="Arial"/>
              </a:rPr>
              <a:t>1.097 ảnh/giờ</a:t>
            </a:r>
            <a:r>
              <a:rPr sz="1600" b="0">
                <a:solidFill>
                  <a:srgbClr val="2A2F4F"/>
                </a:solidFill>
                <a:latin typeface="Arial"/>
              </a:rPr>
              <a:t>. Suy ra 20.000 ảnh cần khoảng 18 giờ, 100.000 ảnh khoảng 91 giờ.</a:t>
            </a:r>
          </a:p>
          <a:p>
            <a:pPr algn="l">
              <a:spcAft>
                <a:spcPts val="600"/>
              </a:spcAft>
            </a:pPr>
            <a:r>
              <a:rPr sz="1600" b="0">
                <a:solidFill>
                  <a:srgbClr val="2A2F4F"/>
                </a:solidFill>
                <a:latin typeface="Arial"/>
              </a:rPr>
              <a:t>Lô báo cáo gồm </a:t>
            </a:r>
            <a:r>
              <a:rPr sz="1600" b="1">
                <a:solidFill>
                  <a:srgbClr val="0071FF"/>
                </a:solidFill>
                <a:latin typeface="Arial"/>
              </a:rPr>
              <a:t>1.611 ảnh</a:t>
            </a:r>
            <a:r>
              <a:rPr sz="1600" b="0">
                <a:solidFill>
                  <a:srgbClr val="2A2F4F"/>
                </a:solidFill>
                <a:latin typeface="Arial"/>
              </a:rPr>
              <a:t> của 11 lớp. Sáu vòng sửa lỗi đã xử lý: nạp mặt nạ qua kênh alpha, quy ước màu lớp nứt, bộ lọc độ sáng nền và cách ghép khuyết tật lên nền gốc.</a:t>
            </a:r>
          </a:p>
        </p:txBody>
      </p:sp>
      <p:pic>
        <p:nvPicPr>
          <p:cNvPr id="4" name="Picture 3" descr="fig-4-1-luoi-mau-10-lop.png"/>
          <p:cNvPicPr>
            <a:picLocks noChangeAspect="1"/>
          </p:cNvPicPr>
          <p:nvPr/>
        </p:nvPicPr>
        <p:blipFill>
          <a:blip r:embed="rId2"/>
          <a:stretch>
            <a:fillRect/>
          </a:stretch>
        </p:blipFill>
        <p:spPr>
          <a:xfrm>
            <a:off x="3189914" y="3614928"/>
            <a:ext cx="5754260" cy="2365248"/>
          </a:xfrm>
          <a:prstGeom prst="rect">
            <a:avLst/>
          </a:prstGeom>
        </p:spPr>
      </p:pic>
      <p:sp>
        <p:nvSpPr>
          <p:cNvPr id="5" name="TextBox 4"/>
          <p:cNvSpPr txBox="1"/>
          <p:nvPr/>
        </p:nvSpPr>
        <p:spPr>
          <a:xfrm>
            <a:off x="777240" y="6016752"/>
            <a:ext cx="10579608" cy="274320"/>
          </a:xfrm>
          <a:prstGeom prst="rect">
            <a:avLst/>
          </a:prstGeom>
          <a:noFill/>
        </p:spPr>
        <p:txBody>
          <a:bodyPr wrap="square">
            <a:spAutoFit/>
          </a:bodyPr>
          <a:lstStyle/>
          <a:p>
            <a:pPr algn="ctr"/>
            <a:r>
              <a:rPr sz="1200" i="1">
                <a:solidFill>
                  <a:srgbClr val="2A2F4F"/>
                </a:solidFill>
                <a:latin typeface="Arial"/>
              </a:rPr>
              <a:t>Hình 4.1: Lưới ảnh mẫu của mười lớp khuyết tật sinh bằng quy trình có ControlNet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4.3 KẾT QUẢ SO SÁNH SÁU MÔ HÌNH NỀN</a:t>
            </a:r>
          </a:p>
        </p:txBody>
      </p:sp>
      <p:graphicFrame>
        <p:nvGraphicFramePr>
          <p:cNvPr id="3" name="Table 2"/>
          <p:cNvGraphicFramePr>
            <a:graphicFrameLocks noGrp="1"/>
          </p:cNvGraphicFramePr>
          <p:nvPr/>
        </p:nvGraphicFramePr>
        <p:xfrm>
          <a:off x="777240" y="1371600"/>
          <a:ext cx="10579605" cy="4114796"/>
        </p:xfrm>
        <a:graphic>
          <a:graphicData uri="http://schemas.openxmlformats.org/drawingml/2006/table">
            <a:tbl>
              <a:tblPr firstRow="1" bandRow="1">
                <a:tableStyleId>{5C22544A-7EE6-4342-B048-85BDC9FD1C3A}</a:tableStyleId>
              </a:tblPr>
              <a:tblGrid>
                <a:gridCol w="820831"/>
                <a:gridCol w="3648140"/>
                <a:gridCol w="1276849"/>
                <a:gridCol w="1276849"/>
                <a:gridCol w="1824070"/>
                <a:gridCol w="1732866"/>
              </a:tblGrid>
              <a:tr h="587828">
                <a:tc>
                  <a:txBody>
                    <a:bodyPr wrap="square"/>
                    <a:lstStyle/>
                    <a:p>
                      <a:pPr algn="ctr"/>
                      <a:r>
                        <a:rPr sz="1300" b="1">
                          <a:solidFill>
                            <a:srgbClr val="FFFFFF"/>
                          </a:solidFill>
                          <a:latin typeface="Arial"/>
                        </a:rPr>
                        <a:t>Hạng</a:t>
                      </a:r>
                    </a:p>
                  </a:txBody>
                  <a:tcPr marL="54864" marR="54864" marT="18288" marB="18288" anchor="ctr">
                    <a:solidFill>
                      <a:srgbClr val="1C305E"/>
                    </a:solidFill>
                  </a:tcPr>
                </a:tc>
                <a:tc>
                  <a:txBody>
                    <a:bodyPr wrap="square"/>
                    <a:lstStyle/>
                    <a:p>
                      <a:pPr algn="ctr"/>
                      <a:r>
                        <a:rPr sz="1300" b="1">
                          <a:solidFill>
                            <a:srgbClr val="FFFFFF"/>
                          </a:solidFill>
                          <a:latin typeface="Arial"/>
                        </a:rPr>
                        <a:t>Mô hình nền</a:t>
                      </a:r>
                    </a:p>
                  </a:txBody>
                  <a:tcPr marL="54864" marR="54864" marT="18288" marB="18288" anchor="ctr">
                    <a:solidFill>
                      <a:srgbClr val="1C305E"/>
                    </a:solidFill>
                  </a:tcPr>
                </a:tc>
                <a:tc>
                  <a:txBody>
                    <a:bodyPr wrap="square"/>
                    <a:lstStyle/>
                    <a:p>
                      <a:pPr algn="ctr"/>
                      <a:r>
                        <a:rPr sz="1300" b="1">
                          <a:solidFill>
                            <a:srgbClr val="FFFFFF"/>
                          </a:solidFill>
                          <a:latin typeface="Arial"/>
                        </a:rPr>
                        <a:t>FID</a:t>
                      </a:r>
                    </a:p>
                  </a:txBody>
                  <a:tcPr marL="54864" marR="54864" marT="18288" marB="18288" anchor="ctr">
                    <a:solidFill>
                      <a:srgbClr val="1C305E"/>
                    </a:solidFill>
                  </a:tcPr>
                </a:tc>
                <a:tc>
                  <a:txBody>
                    <a:bodyPr wrap="square"/>
                    <a:lstStyle/>
                    <a:p>
                      <a:pPr algn="ctr"/>
                      <a:r>
                        <a:rPr sz="1300" b="1">
                          <a:solidFill>
                            <a:srgbClr val="FFFFFF"/>
                          </a:solidFill>
                          <a:latin typeface="Arial"/>
                        </a:rPr>
                        <a:t>SSIM</a:t>
                      </a:r>
                    </a:p>
                  </a:txBody>
                  <a:tcPr marL="54864" marR="54864" marT="18288" marB="18288" anchor="ctr">
                    <a:solidFill>
                      <a:srgbClr val="1C305E"/>
                    </a:solidFill>
                  </a:tcPr>
                </a:tc>
                <a:tc>
                  <a:txBody>
                    <a:bodyPr wrap="square"/>
                    <a:lstStyle/>
                    <a:p>
                      <a:pPr algn="ctr"/>
                      <a:r>
                        <a:rPr sz="1300" b="1">
                          <a:solidFill>
                            <a:srgbClr val="FFFFFF"/>
                          </a:solidFill>
                          <a:latin typeface="Arial"/>
                        </a:rPr>
                        <a:t>Độ nét Laplace</a:t>
                      </a:r>
                    </a:p>
                  </a:txBody>
                  <a:tcPr marL="54864" marR="54864" marT="18288" marB="18288" anchor="ctr">
                    <a:solidFill>
                      <a:srgbClr val="1C305E"/>
                    </a:solidFill>
                  </a:tcPr>
                </a:tc>
                <a:tc>
                  <a:txBody>
                    <a:bodyPr wrap="square"/>
                    <a:lstStyle/>
                    <a:p>
                      <a:pPr algn="ctr"/>
                      <a:r>
                        <a:rPr sz="1300" b="1">
                          <a:solidFill>
                            <a:srgbClr val="FFFFFF"/>
                          </a:solidFill>
                          <a:latin typeface="Arial"/>
                        </a:rPr>
                        <a:t>Điểm tổng hợp</a:t>
                      </a:r>
                    </a:p>
                  </a:txBody>
                  <a:tcPr marL="54864" marR="54864" marT="18288" marB="18288" anchor="ctr">
                    <a:solidFill>
                      <a:srgbClr val="1C305E"/>
                    </a:solidFill>
                  </a:tcPr>
                </a:tc>
              </a:tr>
              <a:tr h="587828">
                <a:tc>
                  <a:txBody>
                    <a:bodyPr wrap="square"/>
                    <a:lstStyle/>
                    <a:p>
                      <a:pPr algn="ctr"/>
                      <a:r>
                        <a:rPr sz="1400" b="0">
                          <a:solidFill>
                            <a:srgbClr val="2A2F4F"/>
                          </a:solidFill>
                          <a:latin typeface="Arial"/>
                        </a:rPr>
                        <a:t>1</a:t>
                      </a:r>
                    </a:p>
                  </a:txBody>
                  <a:tcPr marL="54864" marR="54864" marT="18288" marB="18288" anchor="ctr">
                    <a:solidFill>
                      <a:srgbClr val="FFFFFF"/>
                    </a:solidFill>
                  </a:tcPr>
                </a:tc>
                <a:tc>
                  <a:txBody>
                    <a:bodyPr wrap="square"/>
                    <a:lstStyle/>
                    <a:p>
                      <a:pPr algn="l"/>
                      <a:r>
                        <a:rPr sz="1400" b="1">
                          <a:solidFill>
                            <a:srgbClr val="0071FF"/>
                          </a:solidFill>
                          <a:latin typeface="Arial"/>
                        </a:rPr>
                        <a:t>Stable Diffusion 1.5 gốc</a:t>
                      </a:r>
                    </a:p>
                  </a:txBody>
                  <a:tcPr marL="54864" marR="54864" marT="18288" marB="18288" anchor="ctr">
                    <a:solidFill>
                      <a:srgbClr val="FFFFFF"/>
                    </a:solidFill>
                  </a:tcPr>
                </a:tc>
                <a:tc>
                  <a:txBody>
                    <a:bodyPr wrap="square"/>
                    <a:lstStyle/>
                    <a:p>
                      <a:pPr algn="ctr"/>
                      <a:r>
                        <a:rPr sz="1400" b="0">
                          <a:solidFill>
                            <a:srgbClr val="2A2F4F"/>
                          </a:solidFill>
                          <a:latin typeface="Arial"/>
                        </a:rPr>
                        <a:t>207,04</a:t>
                      </a:r>
                    </a:p>
                  </a:txBody>
                  <a:tcPr marL="54864" marR="54864" marT="18288" marB="18288" anchor="ctr">
                    <a:solidFill>
                      <a:srgbClr val="FFFFFF"/>
                    </a:solidFill>
                  </a:tcPr>
                </a:tc>
                <a:tc>
                  <a:txBody>
                    <a:bodyPr wrap="square"/>
                    <a:lstStyle/>
                    <a:p>
                      <a:pPr algn="ctr"/>
                      <a:r>
                        <a:rPr sz="1400" b="0">
                          <a:solidFill>
                            <a:srgbClr val="2A2F4F"/>
                          </a:solidFill>
                          <a:latin typeface="Arial"/>
                        </a:rPr>
                        <a:t>0,3468</a:t>
                      </a:r>
                    </a:p>
                  </a:txBody>
                  <a:tcPr marL="54864" marR="54864" marT="18288" marB="18288" anchor="ctr">
                    <a:solidFill>
                      <a:srgbClr val="FFFFFF"/>
                    </a:solidFill>
                  </a:tcPr>
                </a:tc>
                <a:tc>
                  <a:txBody>
                    <a:bodyPr wrap="square"/>
                    <a:lstStyle/>
                    <a:p>
                      <a:pPr algn="ctr"/>
                      <a:r>
                        <a:rPr sz="1400" b="1">
                          <a:solidFill>
                            <a:srgbClr val="0071FF"/>
                          </a:solidFill>
                          <a:latin typeface="Arial"/>
                        </a:rPr>
                        <a:t>324,5</a:t>
                      </a:r>
                    </a:p>
                  </a:txBody>
                  <a:tcPr marL="54864" marR="54864" marT="18288" marB="18288" anchor="ctr">
                    <a:solidFill>
                      <a:srgbClr val="FFFFFF"/>
                    </a:solidFill>
                  </a:tcPr>
                </a:tc>
                <a:tc>
                  <a:txBody>
                    <a:bodyPr wrap="square"/>
                    <a:lstStyle/>
                    <a:p>
                      <a:pPr algn="ctr"/>
                      <a:r>
                        <a:rPr sz="1400" b="1">
                          <a:solidFill>
                            <a:srgbClr val="0071FF"/>
                          </a:solidFill>
                          <a:latin typeface="Arial"/>
                        </a:rPr>
                        <a:t>0,3527</a:t>
                      </a:r>
                    </a:p>
                  </a:txBody>
                  <a:tcPr marL="54864" marR="54864" marT="18288" marB="18288" anchor="ctr">
                    <a:solidFill>
                      <a:srgbClr val="FFFFFF"/>
                    </a:solidFill>
                  </a:tcPr>
                </a:tc>
              </a:tr>
              <a:tr h="587828">
                <a:tc>
                  <a:txBody>
                    <a:bodyPr wrap="square"/>
                    <a:lstStyle/>
                    <a:p>
                      <a:pPr algn="ctr"/>
                      <a:r>
                        <a:rPr sz="1400" b="0">
                          <a:solidFill>
                            <a:srgbClr val="2A2F4F"/>
                          </a:solidFill>
                          <a:latin typeface="Arial"/>
                        </a:rPr>
                        <a:t>2</a:t>
                      </a:r>
                    </a:p>
                  </a:txBody>
                  <a:tcPr marL="54864" marR="54864" marT="18288" marB="18288" anchor="ctr">
                    <a:solidFill>
                      <a:srgbClr val="EDF1F7"/>
                    </a:solidFill>
                  </a:tcPr>
                </a:tc>
                <a:tc>
                  <a:txBody>
                    <a:bodyPr wrap="square"/>
                    <a:lstStyle/>
                    <a:p>
                      <a:pPr algn="l"/>
                      <a:r>
                        <a:rPr sz="1400" b="0">
                          <a:solidFill>
                            <a:srgbClr val="2A2F4F"/>
                          </a:solidFill>
                          <a:latin typeface="Arial"/>
                        </a:rPr>
                        <a:t>Realistic Vision V5.1</a:t>
                      </a:r>
                    </a:p>
                  </a:txBody>
                  <a:tcPr marL="54864" marR="54864" marT="18288" marB="18288" anchor="ctr">
                    <a:solidFill>
                      <a:srgbClr val="EDF1F7"/>
                    </a:solidFill>
                  </a:tcPr>
                </a:tc>
                <a:tc>
                  <a:txBody>
                    <a:bodyPr wrap="square"/>
                    <a:lstStyle/>
                    <a:p>
                      <a:pPr algn="ctr"/>
                      <a:r>
                        <a:rPr sz="1400" b="0">
                          <a:solidFill>
                            <a:srgbClr val="2A2F4F"/>
                          </a:solidFill>
                          <a:latin typeface="Arial"/>
                        </a:rPr>
                        <a:t>198,55</a:t>
                      </a:r>
                    </a:p>
                  </a:txBody>
                  <a:tcPr marL="54864" marR="54864" marT="18288" marB="18288" anchor="ctr">
                    <a:solidFill>
                      <a:srgbClr val="EDF1F7"/>
                    </a:solidFill>
                  </a:tcPr>
                </a:tc>
                <a:tc>
                  <a:txBody>
                    <a:bodyPr wrap="square"/>
                    <a:lstStyle/>
                    <a:p>
                      <a:pPr algn="ctr"/>
                      <a:r>
                        <a:rPr sz="1400" b="0">
                          <a:solidFill>
                            <a:srgbClr val="2A2F4F"/>
                          </a:solidFill>
                          <a:latin typeface="Arial"/>
                        </a:rPr>
                        <a:t>0,3821</a:t>
                      </a:r>
                    </a:p>
                  </a:txBody>
                  <a:tcPr marL="54864" marR="54864" marT="18288" marB="18288" anchor="ctr">
                    <a:solidFill>
                      <a:srgbClr val="EDF1F7"/>
                    </a:solidFill>
                  </a:tcPr>
                </a:tc>
                <a:tc>
                  <a:txBody>
                    <a:bodyPr wrap="square"/>
                    <a:lstStyle/>
                    <a:p>
                      <a:pPr algn="ctr"/>
                      <a:r>
                        <a:rPr sz="1400" b="0">
                          <a:solidFill>
                            <a:srgbClr val="2A2F4F"/>
                          </a:solidFill>
                          <a:latin typeface="Arial"/>
                        </a:rPr>
                        <a:t>180,0</a:t>
                      </a:r>
                    </a:p>
                  </a:txBody>
                  <a:tcPr marL="54864" marR="54864" marT="18288" marB="18288" anchor="ctr">
                    <a:solidFill>
                      <a:srgbClr val="EDF1F7"/>
                    </a:solidFill>
                  </a:tcPr>
                </a:tc>
                <a:tc>
                  <a:txBody>
                    <a:bodyPr wrap="square"/>
                    <a:lstStyle/>
                    <a:p>
                      <a:pPr algn="ctr"/>
                      <a:r>
                        <a:rPr sz="1400" b="0">
                          <a:solidFill>
                            <a:srgbClr val="2A2F4F"/>
                          </a:solidFill>
                          <a:latin typeface="Arial"/>
                        </a:rPr>
                        <a:t>0,2936</a:t>
                      </a:r>
                    </a:p>
                  </a:txBody>
                  <a:tcPr marL="54864" marR="54864" marT="18288" marB="18288" anchor="ctr">
                    <a:solidFill>
                      <a:srgbClr val="EDF1F7"/>
                    </a:solidFill>
                  </a:tcPr>
                </a:tc>
              </a:tr>
              <a:tr h="587828">
                <a:tc>
                  <a:txBody>
                    <a:bodyPr wrap="square"/>
                    <a:lstStyle/>
                    <a:p>
                      <a:pPr algn="ctr"/>
                      <a:r>
                        <a:rPr sz="1400" b="0">
                          <a:solidFill>
                            <a:srgbClr val="2A2F4F"/>
                          </a:solidFill>
                          <a:latin typeface="Arial"/>
                        </a:rPr>
                        <a:t>3</a:t>
                      </a:r>
                    </a:p>
                  </a:txBody>
                  <a:tcPr marL="54864" marR="54864" marT="18288" marB="18288" anchor="ctr">
                    <a:solidFill>
                      <a:srgbClr val="FFFFFF"/>
                    </a:solidFill>
                  </a:tcPr>
                </a:tc>
                <a:tc>
                  <a:txBody>
                    <a:bodyPr wrap="square"/>
                    <a:lstStyle/>
                    <a:p>
                      <a:pPr algn="l"/>
                      <a:r>
                        <a:rPr sz="1400" b="0">
                          <a:solidFill>
                            <a:srgbClr val="2A2F4F"/>
                          </a:solidFill>
                          <a:latin typeface="Arial"/>
                        </a:rPr>
                        <a:t>CyberRealistic V4.2</a:t>
                      </a:r>
                    </a:p>
                  </a:txBody>
                  <a:tcPr marL="54864" marR="54864" marT="18288" marB="18288" anchor="ctr">
                    <a:solidFill>
                      <a:srgbClr val="FFFFFF"/>
                    </a:solidFill>
                  </a:tcPr>
                </a:tc>
                <a:tc>
                  <a:txBody>
                    <a:bodyPr wrap="square"/>
                    <a:lstStyle/>
                    <a:p>
                      <a:pPr algn="ctr"/>
                      <a:r>
                        <a:rPr sz="1400" b="0">
                          <a:solidFill>
                            <a:srgbClr val="2A2F4F"/>
                          </a:solidFill>
                          <a:latin typeface="Arial"/>
                        </a:rPr>
                        <a:t>210,38</a:t>
                      </a:r>
                    </a:p>
                  </a:txBody>
                  <a:tcPr marL="54864" marR="54864" marT="18288" marB="18288" anchor="ctr">
                    <a:solidFill>
                      <a:srgbClr val="FFFFFF"/>
                    </a:solidFill>
                  </a:tcPr>
                </a:tc>
                <a:tc>
                  <a:txBody>
                    <a:bodyPr wrap="square"/>
                    <a:lstStyle/>
                    <a:p>
                      <a:pPr algn="ctr"/>
                      <a:r>
                        <a:rPr sz="1400" b="0">
                          <a:solidFill>
                            <a:srgbClr val="2A2F4F"/>
                          </a:solidFill>
                          <a:latin typeface="Arial"/>
                        </a:rPr>
                        <a:t>0,3670</a:t>
                      </a:r>
                    </a:p>
                  </a:txBody>
                  <a:tcPr marL="54864" marR="54864" marT="18288" marB="18288" anchor="ctr">
                    <a:solidFill>
                      <a:srgbClr val="FFFFFF"/>
                    </a:solidFill>
                  </a:tcPr>
                </a:tc>
                <a:tc>
                  <a:txBody>
                    <a:bodyPr wrap="square"/>
                    <a:lstStyle/>
                    <a:p>
                      <a:pPr algn="ctr"/>
                      <a:r>
                        <a:rPr sz="1400" b="0">
                          <a:solidFill>
                            <a:srgbClr val="2A2F4F"/>
                          </a:solidFill>
                          <a:latin typeface="Arial"/>
                        </a:rPr>
                        <a:t>210,8</a:t>
                      </a:r>
                    </a:p>
                  </a:txBody>
                  <a:tcPr marL="54864" marR="54864" marT="18288" marB="18288" anchor="ctr">
                    <a:solidFill>
                      <a:srgbClr val="FFFFFF"/>
                    </a:solidFill>
                  </a:tcPr>
                </a:tc>
                <a:tc>
                  <a:txBody>
                    <a:bodyPr wrap="square"/>
                    <a:lstStyle/>
                    <a:p>
                      <a:pPr algn="ctr"/>
                      <a:r>
                        <a:rPr sz="1400" b="0">
                          <a:solidFill>
                            <a:srgbClr val="2A2F4F"/>
                          </a:solidFill>
                          <a:latin typeface="Arial"/>
                        </a:rPr>
                        <a:t>0,2844</a:t>
                      </a:r>
                    </a:p>
                  </a:txBody>
                  <a:tcPr marL="54864" marR="54864" marT="18288" marB="18288" anchor="ctr">
                    <a:solidFill>
                      <a:srgbClr val="FFFFFF"/>
                    </a:solidFill>
                  </a:tcPr>
                </a:tc>
              </a:tr>
              <a:tr h="587828">
                <a:tc>
                  <a:txBody>
                    <a:bodyPr wrap="square"/>
                    <a:lstStyle/>
                    <a:p>
                      <a:pPr algn="ctr"/>
                      <a:r>
                        <a:rPr sz="1400" b="0">
                          <a:solidFill>
                            <a:srgbClr val="2A2F4F"/>
                          </a:solidFill>
                          <a:latin typeface="Arial"/>
                        </a:rPr>
                        <a:t>4</a:t>
                      </a:r>
                    </a:p>
                  </a:txBody>
                  <a:tcPr marL="54864" marR="54864" marT="18288" marB="18288" anchor="ctr">
                    <a:solidFill>
                      <a:srgbClr val="EDF1F7"/>
                    </a:solidFill>
                  </a:tcPr>
                </a:tc>
                <a:tc>
                  <a:txBody>
                    <a:bodyPr wrap="square"/>
                    <a:lstStyle/>
                    <a:p>
                      <a:pPr algn="l"/>
                      <a:r>
                        <a:rPr sz="1400" b="0">
                          <a:solidFill>
                            <a:srgbClr val="2A2F4F"/>
                          </a:solidFill>
                          <a:latin typeface="Arial"/>
                        </a:rPr>
                        <a:t>Absolute Reality v1.8.1</a:t>
                      </a:r>
                    </a:p>
                  </a:txBody>
                  <a:tcPr marL="54864" marR="54864" marT="18288" marB="18288" anchor="ctr">
                    <a:solidFill>
                      <a:srgbClr val="EDF1F7"/>
                    </a:solidFill>
                  </a:tcPr>
                </a:tc>
                <a:tc>
                  <a:txBody>
                    <a:bodyPr wrap="square"/>
                    <a:lstStyle/>
                    <a:p>
                      <a:pPr algn="ctr"/>
                      <a:r>
                        <a:rPr sz="1400" b="0">
                          <a:solidFill>
                            <a:srgbClr val="2A2F4F"/>
                          </a:solidFill>
                          <a:latin typeface="Arial"/>
                        </a:rPr>
                        <a:t>211,92</a:t>
                      </a:r>
                    </a:p>
                  </a:txBody>
                  <a:tcPr marL="54864" marR="54864" marT="18288" marB="18288" anchor="ctr">
                    <a:solidFill>
                      <a:srgbClr val="EDF1F7"/>
                    </a:solidFill>
                  </a:tcPr>
                </a:tc>
                <a:tc>
                  <a:txBody>
                    <a:bodyPr wrap="square"/>
                    <a:lstStyle/>
                    <a:p>
                      <a:pPr algn="ctr"/>
                      <a:r>
                        <a:rPr sz="1400" b="0">
                          <a:solidFill>
                            <a:srgbClr val="2A2F4F"/>
                          </a:solidFill>
                          <a:latin typeface="Arial"/>
                        </a:rPr>
                        <a:t>0,3675</a:t>
                      </a:r>
                    </a:p>
                  </a:txBody>
                  <a:tcPr marL="54864" marR="54864" marT="18288" marB="18288" anchor="ctr">
                    <a:solidFill>
                      <a:srgbClr val="EDF1F7"/>
                    </a:solidFill>
                  </a:tcPr>
                </a:tc>
                <a:tc>
                  <a:txBody>
                    <a:bodyPr wrap="square"/>
                    <a:lstStyle/>
                    <a:p>
                      <a:pPr algn="ctr"/>
                      <a:r>
                        <a:rPr sz="1400" b="0">
                          <a:solidFill>
                            <a:srgbClr val="2A2F4F"/>
                          </a:solidFill>
                          <a:latin typeface="Arial"/>
                        </a:rPr>
                        <a:t>210,0</a:t>
                      </a:r>
                    </a:p>
                  </a:txBody>
                  <a:tcPr marL="54864" marR="54864" marT="18288" marB="18288" anchor="ctr">
                    <a:solidFill>
                      <a:srgbClr val="EDF1F7"/>
                    </a:solidFill>
                  </a:tcPr>
                </a:tc>
                <a:tc>
                  <a:txBody>
                    <a:bodyPr wrap="square"/>
                    <a:lstStyle/>
                    <a:p>
                      <a:pPr algn="ctr"/>
                      <a:r>
                        <a:rPr sz="1400" b="0">
                          <a:solidFill>
                            <a:srgbClr val="2A2F4F"/>
                          </a:solidFill>
                          <a:latin typeface="Arial"/>
                        </a:rPr>
                        <a:t>0,2813</a:t>
                      </a:r>
                    </a:p>
                  </a:txBody>
                  <a:tcPr marL="54864" marR="54864" marT="18288" marB="18288" anchor="ctr">
                    <a:solidFill>
                      <a:srgbClr val="EDF1F7"/>
                    </a:solidFill>
                  </a:tcPr>
                </a:tc>
              </a:tr>
              <a:tr h="587828">
                <a:tc>
                  <a:txBody>
                    <a:bodyPr wrap="square"/>
                    <a:lstStyle/>
                    <a:p>
                      <a:pPr algn="ctr"/>
                      <a:r>
                        <a:rPr sz="1400" b="0">
                          <a:solidFill>
                            <a:srgbClr val="2A2F4F"/>
                          </a:solidFill>
                          <a:latin typeface="Arial"/>
                        </a:rPr>
                        <a:t>5</a:t>
                      </a:r>
                    </a:p>
                  </a:txBody>
                  <a:tcPr marL="54864" marR="54864" marT="18288" marB="18288" anchor="ctr">
                    <a:solidFill>
                      <a:srgbClr val="FFFFFF"/>
                    </a:solidFill>
                  </a:tcPr>
                </a:tc>
                <a:tc>
                  <a:txBody>
                    <a:bodyPr wrap="square"/>
                    <a:lstStyle/>
                    <a:p>
                      <a:pPr algn="l"/>
                      <a:r>
                        <a:rPr sz="1400" b="0">
                          <a:solidFill>
                            <a:srgbClr val="2A2F4F"/>
                          </a:solidFill>
                          <a:latin typeface="Arial"/>
                        </a:rPr>
                        <a:t>MedXRay</a:t>
                      </a:r>
                    </a:p>
                  </a:txBody>
                  <a:tcPr marL="54864" marR="54864" marT="18288" marB="18288" anchor="ctr">
                    <a:solidFill>
                      <a:srgbClr val="FFFFFF"/>
                    </a:solidFill>
                  </a:tcPr>
                </a:tc>
                <a:tc>
                  <a:txBody>
                    <a:bodyPr wrap="square"/>
                    <a:lstStyle/>
                    <a:p>
                      <a:pPr algn="ctr"/>
                      <a:r>
                        <a:rPr sz="1400" b="0">
                          <a:solidFill>
                            <a:srgbClr val="2A2F4F"/>
                          </a:solidFill>
                          <a:latin typeface="Arial"/>
                        </a:rPr>
                        <a:t>214,53</a:t>
                      </a:r>
                    </a:p>
                  </a:txBody>
                  <a:tcPr marL="54864" marR="54864" marT="18288" marB="18288" anchor="ctr">
                    <a:solidFill>
                      <a:srgbClr val="FFFFFF"/>
                    </a:solidFill>
                  </a:tcPr>
                </a:tc>
                <a:tc>
                  <a:txBody>
                    <a:bodyPr wrap="square"/>
                    <a:lstStyle/>
                    <a:p>
                      <a:pPr algn="ctr"/>
                      <a:r>
                        <a:rPr sz="1400" b="0">
                          <a:solidFill>
                            <a:srgbClr val="2A2F4F"/>
                          </a:solidFill>
                          <a:latin typeface="Arial"/>
                        </a:rPr>
                        <a:t>0,3651</a:t>
                      </a:r>
                    </a:p>
                  </a:txBody>
                  <a:tcPr marL="54864" marR="54864" marT="18288" marB="18288" anchor="ctr">
                    <a:solidFill>
                      <a:srgbClr val="FFFFFF"/>
                    </a:solidFill>
                  </a:tcPr>
                </a:tc>
                <a:tc>
                  <a:txBody>
                    <a:bodyPr wrap="square"/>
                    <a:lstStyle/>
                    <a:p>
                      <a:pPr algn="ctr"/>
                      <a:r>
                        <a:rPr sz="1400" b="0">
                          <a:solidFill>
                            <a:srgbClr val="2A2F4F"/>
                          </a:solidFill>
                          <a:latin typeface="Arial"/>
                        </a:rPr>
                        <a:t>216,3</a:t>
                      </a:r>
                    </a:p>
                  </a:txBody>
                  <a:tcPr marL="54864" marR="54864" marT="18288" marB="18288" anchor="ctr">
                    <a:solidFill>
                      <a:srgbClr val="FFFFFF"/>
                    </a:solidFill>
                  </a:tcPr>
                </a:tc>
                <a:tc>
                  <a:txBody>
                    <a:bodyPr wrap="square"/>
                    <a:lstStyle/>
                    <a:p>
                      <a:pPr algn="ctr"/>
                      <a:r>
                        <a:rPr sz="1400" b="0">
                          <a:solidFill>
                            <a:srgbClr val="2A2F4F"/>
                          </a:solidFill>
                          <a:latin typeface="Arial"/>
                        </a:rPr>
                        <a:t>0,2794</a:t>
                      </a:r>
                    </a:p>
                  </a:txBody>
                  <a:tcPr marL="54864" marR="54864" marT="18288" marB="18288" anchor="ctr">
                    <a:solidFill>
                      <a:srgbClr val="FFFFFF"/>
                    </a:solidFill>
                  </a:tcPr>
                </a:tc>
              </a:tr>
              <a:tr h="587828">
                <a:tc>
                  <a:txBody>
                    <a:bodyPr wrap="square"/>
                    <a:lstStyle/>
                    <a:p>
                      <a:pPr algn="ctr"/>
                      <a:r>
                        <a:rPr sz="1400" b="0">
                          <a:solidFill>
                            <a:srgbClr val="2A2F4F"/>
                          </a:solidFill>
                          <a:latin typeface="Arial"/>
                        </a:rPr>
                        <a:t>6</a:t>
                      </a:r>
                    </a:p>
                  </a:txBody>
                  <a:tcPr marL="54864" marR="54864" marT="18288" marB="18288" anchor="ctr">
                    <a:solidFill>
                      <a:srgbClr val="EDF1F7"/>
                    </a:solidFill>
                  </a:tcPr>
                </a:tc>
                <a:tc>
                  <a:txBody>
                    <a:bodyPr wrap="square"/>
                    <a:lstStyle/>
                    <a:p>
                      <a:pPr algn="l"/>
                      <a:r>
                        <a:rPr sz="1400" b="0">
                          <a:solidFill>
                            <a:srgbClr val="2A2F4F"/>
                          </a:solidFill>
                          <a:latin typeface="Arial"/>
                        </a:rPr>
                        <a:t>MedXRay Direct</a:t>
                      </a:r>
                    </a:p>
                  </a:txBody>
                  <a:tcPr marL="54864" marR="54864" marT="18288" marB="18288" anchor="ctr">
                    <a:solidFill>
                      <a:srgbClr val="EDF1F7"/>
                    </a:solidFill>
                  </a:tcPr>
                </a:tc>
                <a:tc>
                  <a:txBody>
                    <a:bodyPr wrap="square"/>
                    <a:lstStyle/>
                    <a:p>
                      <a:pPr algn="ctr"/>
                      <a:r>
                        <a:rPr sz="1400" b="0">
                          <a:solidFill>
                            <a:srgbClr val="2A2F4F"/>
                          </a:solidFill>
                          <a:latin typeface="Arial"/>
                        </a:rPr>
                        <a:t>214,53</a:t>
                      </a:r>
                    </a:p>
                  </a:txBody>
                  <a:tcPr marL="54864" marR="54864" marT="18288" marB="18288" anchor="ctr">
                    <a:solidFill>
                      <a:srgbClr val="EDF1F7"/>
                    </a:solidFill>
                  </a:tcPr>
                </a:tc>
                <a:tc>
                  <a:txBody>
                    <a:bodyPr wrap="square"/>
                    <a:lstStyle/>
                    <a:p>
                      <a:pPr algn="ctr"/>
                      <a:r>
                        <a:rPr sz="1400" b="0">
                          <a:solidFill>
                            <a:srgbClr val="2A2F4F"/>
                          </a:solidFill>
                          <a:latin typeface="Arial"/>
                        </a:rPr>
                        <a:t>0,3651</a:t>
                      </a:r>
                    </a:p>
                  </a:txBody>
                  <a:tcPr marL="54864" marR="54864" marT="18288" marB="18288" anchor="ctr">
                    <a:solidFill>
                      <a:srgbClr val="EDF1F7"/>
                    </a:solidFill>
                  </a:tcPr>
                </a:tc>
                <a:tc>
                  <a:txBody>
                    <a:bodyPr wrap="square"/>
                    <a:lstStyle/>
                    <a:p>
                      <a:pPr algn="ctr"/>
                      <a:r>
                        <a:rPr sz="1400" b="0">
                          <a:solidFill>
                            <a:srgbClr val="2A2F4F"/>
                          </a:solidFill>
                          <a:latin typeface="Arial"/>
                        </a:rPr>
                        <a:t>216,3</a:t>
                      </a:r>
                    </a:p>
                  </a:txBody>
                  <a:tcPr marL="54864" marR="54864" marT="18288" marB="18288" anchor="ctr">
                    <a:solidFill>
                      <a:srgbClr val="EDF1F7"/>
                    </a:solidFill>
                  </a:tcPr>
                </a:tc>
                <a:tc>
                  <a:txBody>
                    <a:bodyPr wrap="square"/>
                    <a:lstStyle/>
                    <a:p>
                      <a:pPr algn="ctr"/>
                      <a:r>
                        <a:rPr sz="1400" b="0">
                          <a:solidFill>
                            <a:srgbClr val="2A2F4F"/>
                          </a:solidFill>
                          <a:latin typeface="Arial"/>
                        </a:rPr>
                        <a:t>0,2794</a:t>
                      </a:r>
                    </a:p>
                  </a:txBody>
                  <a:tcPr marL="54864" marR="54864" marT="18288" marB="18288" anchor="ctr">
                    <a:solidFill>
                      <a:srgbClr val="EDF1F7"/>
                    </a:solidFill>
                  </a:tcPr>
                </a:tc>
              </a:tr>
            </a:tbl>
          </a:graphicData>
        </a:graphic>
      </p:graphicFrame>
      <p:sp>
        <p:nvSpPr>
          <p:cNvPr id="4" name="TextBox 3"/>
          <p:cNvSpPr txBox="1"/>
          <p:nvPr/>
        </p:nvSpPr>
        <p:spPr>
          <a:xfrm>
            <a:off x="777240" y="6053328"/>
            <a:ext cx="10579608" cy="457200"/>
          </a:xfrm>
          <a:prstGeom prst="rect">
            <a:avLst/>
          </a:prstGeom>
          <a:noFill/>
        </p:spPr>
        <p:txBody>
          <a:bodyPr wrap="square">
            <a:spAutoFit/>
          </a:bodyPr>
          <a:lstStyle/>
          <a:p>
            <a:r>
              <a:rPr sz="1300" b="0">
                <a:solidFill>
                  <a:srgbClr val="2A2F4F"/>
                </a:solidFill>
                <a:latin typeface="Arial"/>
              </a:rPr>
              <a:t>Mô hình nền gốc thắng nhờ độ nét. Hai biến thể chuyên ảnh y tế xếp cuối với chỉ số trùng khít tới bốn chữ số. </a:t>
            </a:r>
            <a:r>
              <a:rPr sz="1300" b="1">
                <a:solidFill>
                  <a:srgbClr val="0071FF"/>
                </a:solidFill>
                <a:latin typeface="Arial"/>
              </a:rPr>
              <a:t>Dữ liệu không ủng hộ</a:t>
            </a:r>
            <a:r>
              <a:rPr sz="1300" b="0">
                <a:solidFill>
                  <a:srgbClr val="2A2F4F"/>
                </a:solidFill>
                <a:latin typeface="Arial"/>
              </a:rPr>
              <a:t> giả thiết rằng kiến thức X-quang y tế chuyển giao được sang ảnh công nghiệp. Cả sáu mô hình có FID 198 tới 215, còn xa ngưỡng 60 đặt 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2600" b="1">
                <a:solidFill>
                  <a:srgbClr val="1C305E"/>
                </a:solidFill>
                <a:latin typeface="Arial"/>
              </a:rPr>
              <a:t>4.4 VÀ 4.6 KIỂM ĐỊNH CHẤT LƯỢNG VÀ ĐỐI CHIẾU CHỈ TIÊU</a:t>
            </a:r>
          </a:p>
        </p:txBody>
      </p:sp>
      <p:graphicFrame>
        <p:nvGraphicFramePr>
          <p:cNvPr id="3" name="Table 2"/>
          <p:cNvGraphicFramePr>
            <a:graphicFrameLocks noGrp="1"/>
          </p:cNvGraphicFramePr>
          <p:nvPr/>
        </p:nvGraphicFramePr>
        <p:xfrm>
          <a:off x="777240" y="1325880"/>
          <a:ext cx="10579608" cy="4160520"/>
        </p:xfrm>
        <a:graphic>
          <a:graphicData uri="http://schemas.openxmlformats.org/drawingml/2006/table">
            <a:tbl>
              <a:tblPr firstRow="1" bandRow="1">
                <a:tableStyleId>{5C22544A-7EE6-4342-B048-85BDC9FD1C3A}</a:tableStyleId>
              </a:tblPr>
              <a:tblGrid>
                <a:gridCol w="994664"/>
                <a:gridCol w="3074416"/>
                <a:gridCol w="2170176"/>
                <a:gridCol w="2712720"/>
                <a:gridCol w="1627632"/>
              </a:tblGrid>
              <a:tr h="416052">
                <a:tc>
                  <a:txBody>
                    <a:bodyPr wrap="square"/>
                    <a:lstStyle/>
                    <a:p>
                      <a:pPr algn="ctr"/>
                      <a:r>
                        <a:rPr sz="1300" b="1">
                          <a:solidFill>
                            <a:srgbClr val="FFFFFF"/>
                          </a:solidFill>
                          <a:latin typeface="Arial"/>
                        </a:rPr>
                        <a:t>Mã</a:t>
                      </a:r>
                    </a:p>
                  </a:txBody>
                  <a:tcPr marL="54864" marR="54864" marT="18288" marB="18288" anchor="ctr">
                    <a:solidFill>
                      <a:srgbClr val="1C305E"/>
                    </a:solidFill>
                  </a:tcPr>
                </a:tc>
                <a:tc>
                  <a:txBody>
                    <a:bodyPr wrap="square"/>
                    <a:lstStyle/>
                    <a:p>
                      <a:pPr algn="ctr"/>
                      <a:r>
                        <a:rPr sz="1300" b="1">
                          <a:solidFill>
                            <a:srgbClr val="FFFFFF"/>
                          </a:solidFill>
                          <a:latin typeface="Arial"/>
                        </a:rPr>
                        <a:t>Chỉ tiêu</a:t>
                      </a:r>
                    </a:p>
                  </a:txBody>
                  <a:tcPr marL="54864" marR="54864" marT="18288" marB="18288" anchor="ctr">
                    <a:solidFill>
                      <a:srgbClr val="1C305E"/>
                    </a:solidFill>
                  </a:tcPr>
                </a:tc>
                <a:tc>
                  <a:txBody>
                    <a:bodyPr wrap="square"/>
                    <a:lstStyle/>
                    <a:p>
                      <a:pPr algn="ctr"/>
                      <a:r>
                        <a:rPr sz="1300" b="1">
                          <a:solidFill>
                            <a:srgbClr val="FFFFFF"/>
                          </a:solidFill>
                          <a:latin typeface="Arial"/>
                        </a:rPr>
                        <a:t>Mục tiêu</a:t>
                      </a:r>
                    </a:p>
                  </a:txBody>
                  <a:tcPr marL="54864" marR="54864" marT="18288" marB="18288" anchor="ctr">
                    <a:solidFill>
                      <a:srgbClr val="1C305E"/>
                    </a:solidFill>
                  </a:tcPr>
                </a:tc>
                <a:tc>
                  <a:txBody>
                    <a:bodyPr wrap="square"/>
                    <a:lstStyle/>
                    <a:p>
                      <a:pPr algn="ctr"/>
                      <a:r>
                        <a:rPr sz="1300" b="1">
                          <a:solidFill>
                            <a:srgbClr val="FFFFFF"/>
                          </a:solidFill>
                          <a:latin typeface="Arial"/>
                        </a:rPr>
                        <a:t>Kết quả đo</a:t>
                      </a:r>
                    </a:p>
                  </a:txBody>
                  <a:tcPr marL="54864" marR="54864" marT="18288" marB="18288" anchor="ctr">
                    <a:solidFill>
                      <a:srgbClr val="1C305E"/>
                    </a:solidFill>
                  </a:tcPr>
                </a:tc>
                <a:tc>
                  <a:txBody>
                    <a:bodyPr wrap="square"/>
                    <a:lstStyle/>
                    <a:p>
                      <a:pPr algn="ctr"/>
                      <a:r>
                        <a:rPr sz="1300" b="1">
                          <a:solidFill>
                            <a:srgbClr val="FFFFFF"/>
                          </a:solidFill>
                          <a:latin typeface="Arial"/>
                        </a:rPr>
                        <a:t>Kết luận</a:t>
                      </a:r>
                    </a:p>
                  </a:txBody>
                  <a:tcPr marL="54864" marR="54864" marT="18288" marB="18288" anchor="ctr">
                    <a:solidFill>
                      <a:srgbClr val="1C305E"/>
                    </a:solidFill>
                  </a:tcPr>
                </a:tc>
              </a:tr>
              <a:tr h="416052">
                <a:tc>
                  <a:txBody>
                    <a:bodyPr wrap="square"/>
                    <a:lstStyle/>
                    <a:p>
                      <a:pPr algn="ctr"/>
                      <a:r>
                        <a:rPr sz="1300" b="0">
                          <a:solidFill>
                            <a:srgbClr val="2A2F4F"/>
                          </a:solidFill>
                          <a:latin typeface="Arial"/>
                        </a:rPr>
                        <a:t>NFR-1</a:t>
                      </a:r>
                    </a:p>
                  </a:txBody>
                  <a:tcPr marL="54864" marR="54864" marT="18288" marB="18288" anchor="ctr">
                    <a:solidFill>
                      <a:srgbClr val="FFFFFF"/>
                    </a:solidFill>
                  </a:tcPr>
                </a:tc>
                <a:tc>
                  <a:txBody>
                    <a:bodyPr wrap="square"/>
                    <a:lstStyle/>
                    <a:p>
                      <a:pPr algn="l"/>
                      <a:r>
                        <a:rPr sz="1300" b="0">
                          <a:solidFill>
                            <a:srgbClr val="2A2F4F"/>
                          </a:solidFill>
                          <a:latin typeface="Arial"/>
                        </a:rPr>
                        <a:t>Thông lượng sinh ảnh</a:t>
                      </a:r>
                    </a:p>
                  </a:txBody>
                  <a:tcPr marL="54864" marR="54864" marT="18288" marB="18288" anchor="ctr">
                    <a:solidFill>
                      <a:srgbClr val="FFFFFF"/>
                    </a:solidFill>
                  </a:tcPr>
                </a:tc>
                <a:tc>
                  <a:txBody>
                    <a:bodyPr wrap="square"/>
                    <a:lstStyle/>
                    <a:p>
                      <a:pPr algn="l"/>
                      <a:r>
                        <a:rPr sz="1300" b="0">
                          <a:solidFill>
                            <a:srgbClr val="2A2F4F"/>
                          </a:solidFill>
                          <a:latin typeface="Arial"/>
                        </a:rPr>
                        <a:t>900 tới 1.800 ảnh/giờ</a:t>
                      </a:r>
                    </a:p>
                  </a:txBody>
                  <a:tcPr marL="54864" marR="54864" marT="18288" marB="18288" anchor="ctr">
                    <a:solidFill>
                      <a:srgbClr val="FFFFFF"/>
                    </a:solidFill>
                  </a:tcPr>
                </a:tc>
                <a:tc>
                  <a:txBody>
                    <a:bodyPr wrap="square"/>
                    <a:lstStyle/>
                    <a:p>
                      <a:pPr algn="l"/>
                      <a:r>
                        <a:rPr sz="1300" b="0">
                          <a:solidFill>
                            <a:srgbClr val="2A2F4F"/>
                          </a:solidFill>
                          <a:latin typeface="Arial"/>
                        </a:rPr>
                        <a:t>1.097 ảnh/giờ</a:t>
                      </a:r>
                    </a:p>
                  </a:txBody>
                  <a:tcPr marL="54864" marR="54864" marT="18288" marB="18288" anchor="ctr">
                    <a:solidFill>
                      <a:srgbClr val="FFFFFF"/>
                    </a:solidFill>
                  </a:tcPr>
                </a:tc>
                <a:tc>
                  <a:txBody>
                    <a:bodyPr wrap="square"/>
                    <a:lstStyle/>
                    <a:p>
                      <a:pPr algn="ctr"/>
                      <a:r>
                        <a:rPr sz="1300" b="0">
                          <a:solidFill>
                            <a:srgbClr val="2A2F4F"/>
                          </a:solidFill>
                          <a:latin typeface="Arial"/>
                        </a:rPr>
                        <a:t>Đạt</a:t>
                      </a:r>
                    </a:p>
                  </a:txBody>
                  <a:tcPr marL="54864" marR="54864" marT="18288" marB="18288" anchor="ctr">
                    <a:solidFill>
                      <a:srgbClr val="FFFFFF"/>
                    </a:solidFill>
                  </a:tcPr>
                </a:tc>
              </a:tr>
              <a:tr h="416052">
                <a:tc>
                  <a:txBody>
                    <a:bodyPr wrap="square"/>
                    <a:lstStyle/>
                    <a:p>
                      <a:pPr algn="ctr"/>
                      <a:r>
                        <a:rPr sz="1300" b="0">
                          <a:solidFill>
                            <a:srgbClr val="2A2F4F"/>
                          </a:solidFill>
                          <a:latin typeface="Arial"/>
                        </a:rPr>
                        <a:t>NFR-2</a:t>
                      </a:r>
                    </a:p>
                  </a:txBody>
                  <a:tcPr marL="54864" marR="54864" marT="18288" marB="18288" anchor="ctr">
                    <a:solidFill>
                      <a:srgbClr val="EDF1F7"/>
                    </a:solidFill>
                  </a:tcPr>
                </a:tc>
                <a:tc>
                  <a:txBody>
                    <a:bodyPr wrap="square"/>
                    <a:lstStyle/>
                    <a:p>
                      <a:pPr algn="l"/>
                      <a:r>
                        <a:rPr sz="1300" b="0">
                          <a:solidFill>
                            <a:srgbClr val="2A2F4F"/>
                          </a:solidFill>
                          <a:latin typeface="Arial"/>
                        </a:rPr>
                        <a:t>Thời gian sinh 20.000 ảnh</a:t>
                      </a:r>
                    </a:p>
                  </a:txBody>
                  <a:tcPr marL="54864" marR="54864" marT="18288" marB="18288" anchor="ctr">
                    <a:solidFill>
                      <a:srgbClr val="EDF1F7"/>
                    </a:solidFill>
                  </a:tcPr>
                </a:tc>
                <a:tc>
                  <a:txBody>
                    <a:bodyPr wrap="square"/>
                    <a:lstStyle/>
                    <a:p>
                      <a:pPr algn="l"/>
                      <a:r>
                        <a:rPr sz="1300" b="0">
                          <a:solidFill>
                            <a:srgbClr val="2A2F4F"/>
                          </a:solidFill>
                          <a:latin typeface="Arial"/>
                        </a:rPr>
                        <a:t>Dưới 24 giờ</a:t>
                      </a:r>
                    </a:p>
                  </a:txBody>
                  <a:tcPr marL="54864" marR="54864" marT="18288" marB="18288" anchor="ctr">
                    <a:solidFill>
                      <a:srgbClr val="EDF1F7"/>
                    </a:solidFill>
                  </a:tcPr>
                </a:tc>
                <a:tc>
                  <a:txBody>
                    <a:bodyPr wrap="square"/>
                    <a:lstStyle/>
                    <a:p>
                      <a:pPr algn="l"/>
                      <a:r>
                        <a:rPr sz="1300" b="0">
                          <a:solidFill>
                            <a:srgbClr val="2A2F4F"/>
                          </a:solidFill>
                          <a:latin typeface="Arial"/>
                        </a:rPr>
                        <a:t>Khoảng 18 giờ</a:t>
                      </a:r>
                    </a:p>
                  </a:txBody>
                  <a:tcPr marL="54864" marR="54864" marT="18288" marB="18288" anchor="ctr">
                    <a:solidFill>
                      <a:srgbClr val="EDF1F7"/>
                    </a:solidFill>
                  </a:tcPr>
                </a:tc>
                <a:tc>
                  <a:txBody>
                    <a:bodyPr wrap="square"/>
                    <a:lstStyle/>
                    <a:p>
                      <a:pPr algn="ctr"/>
                      <a:r>
                        <a:rPr sz="1300" b="0">
                          <a:solidFill>
                            <a:srgbClr val="2A2F4F"/>
                          </a:solidFill>
                          <a:latin typeface="Arial"/>
                        </a:rPr>
                        <a:t>Đạt</a:t>
                      </a:r>
                    </a:p>
                  </a:txBody>
                  <a:tcPr marL="54864" marR="54864" marT="18288" marB="18288" anchor="ctr">
                    <a:solidFill>
                      <a:srgbClr val="EDF1F7"/>
                    </a:solidFill>
                  </a:tcPr>
                </a:tc>
              </a:tr>
              <a:tr h="416052">
                <a:tc>
                  <a:txBody>
                    <a:bodyPr wrap="square"/>
                    <a:lstStyle/>
                    <a:p>
                      <a:pPr algn="ctr"/>
                      <a:r>
                        <a:rPr sz="1300" b="0">
                          <a:solidFill>
                            <a:srgbClr val="2A2F4F"/>
                          </a:solidFill>
                          <a:latin typeface="Arial"/>
                        </a:rPr>
                        <a:t>NFR-3</a:t>
                      </a:r>
                    </a:p>
                  </a:txBody>
                  <a:tcPr marL="54864" marR="54864" marT="18288" marB="18288" anchor="ctr">
                    <a:solidFill>
                      <a:srgbClr val="FFFFFF"/>
                    </a:solidFill>
                  </a:tcPr>
                </a:tc>
                <a:tc>
                  <a:txBody>
                    <a:bodyPr wrap="square"/>
                    <a:lstStyle/>
                    <a:p>
                      <a:pPr algn="l"/>
                      <a:r>
                        <a:rPr sz="1300" b="0">
                          <a:solidFill>
                            <a:srgbClr val="2A2F4F"/>
                          </a:solidFill>
                          <a:latin typeface="Arial"/>
                        </a:rPr>
                        <a:t>SSIM bảo toàn nền</a:t>
                      </a:r>
                    </a:p>
                  </a:txBody>
                  <a:tcPr marL="54864" marR="54864" marT="18288" marB="18288" anchor="ctr">
                    <a:solidFill>
                      <a:srgbClr val="FFFFFF"/>
                    </a:solidFill>
                  </a:tcPr>
                </a:tc>
                <a:tc>
                  <a:txBody>
                    <a:bodyPr wrap="square"/>
                    <a:lstStyle/>
                    <a:p>
                      <a:pPr algn="l"/>
                      <a:r>
                        <a:rPr sz="1300" b="0">
                          <a:solidFill>
                            <a:srgbClr val="2A2F4F"/>
                          </a:solidFill>
                          <a:latin typeface="Arial"/>
                        </a:rPr>
                        <a:t>Trung bình trên 0,90</a:t>
                      </a:r>
                    </a:p>
                  </a:txBody>
                  <a:tcPr marL="54864" marR="54864" marT="18288" marB="18288" anchor="ctr">
                    <a:solidFill>
                      <a:srgbClr val="FFFFFF"/>
                    </a:solidFill>
                  </a:tcPr>
                </a:tc>
                <a:tc>
                  <a:txBody>
                    <a:bodyPr wrap="square"/>
                    <a:lstStyle/>
                    <a:p>
                      <a:pPr algn="l"/>
                      <a:r>
                        <a:rPr sz="1300" b="1">
                          <a:solidFill>
                            <a:srgbClr val="0071FF"/>
                          </a:solidFill>
                          <a:latin typeface="Arial"/>
                        </a:rPr>
                        <a:t>0,976</a:t>
                      </a:r>
                    </a:p>
                  </a:txBody>
                  <a:tcPr marL="54864" marR="54864" marT="18288" marB="18288" anchor="ctr">
                    <a:solidFill>
                      <a:srgbClr val="FFFFFF"/>
                    </a:solidFill>
                  </a:tcPr>
                </a:tc>
                <a:tc>
                  <a:txBody>
                    <a:bodyPr wrap="square"/>
                    <a:lstStyle/>
                    <a:p>
                      <a:pPr algn="ctr"/>
                      <a:r>
                        <a:rPr sz="1300" b="0">
                          <a:solidFill>
                            <a:srgbClr val="2A2F4F"/>
                          </a:solidFill>
                          <a:latin typeface="Arial"/>
                        </a:rPr>
                        <a:t>Đạt</a:t>
                      </a:r>
                    </a:p>
                  </a:txBody>
                  <a:tcPr marL="54864" marR="54864" marT="18288" marB="18288" anchor="ctr">
                    <a:solidFill>
                      <a:srgbClr val="FFFFFF"/>
                    </a:solidFill>
                  </a:tcPr>
                </a:tc>
              </a:tr>
              <a:tr h="416052">
                <a:tc>
                  <a:txBody>
                    <a:bodyPr wrap="square"/>
                    <a:lstStyle/>
                    <a:p>
                      <a:pPr algn="ctr"/>
                      <a:r>
                        <a:rPr sz="1300" b="0">
                          <a:solidFill>
                            <a:srgbClr val="2A2F4F"/>
                          </a:solidFill>
                          <a:latin typeface="Arial"/>
                        </a:rPr>
                        <a:t>NFR-4</a:t>
                      </a:r>
                    </a:p>
                  </a:txBody>
                  <a:tcPr marL="54864" marR="54864" marT="18288" marB="18288" anchor="ctr">
                    <a:solidFill>
                      <a:srgbClr val="EDF1F7"/>
                    </a:solidFill>
                  </a:tcPr>
                </a:tc>
                <a:tc>
                  <a:txBody>
                    <a:bodyPr wrap="square"/>
                    <a:lstStyle/>
                    <a:p>
                      <a:pPr algn="l"/>
                      <a:r>
                        <a:rPr sz="1300" b="0">
                          <a:solidFill>
                            <a:srgbClr val="2A2F4F"/>
                          </a:solidFill>
                          <a:latin typeface="Arial"/>
                        </a:rPr>
                        <a:t>Tính hợp lệ chú thích</a:t>
                      </a:r>
                    </a:p>
                  </a:txBody>
                  <a:tcPr marL="54864" marR="54864" marT="18288" marB="18288" anchor="ctr">
                    <a:solidFill>
                      <a:srgbClr val="EDF1F7"/>
                    </a:solidFill>
                  </a:tcPr>
                </a:tc>
                <a:tc>
                  <a:txBody>
                    <a:bodyPr wrap="square"/>
                    <a:lstStyle/>
                    <a:p>
                      <a:pPr algn="l"/>
                      <a:r>
                        <a:rPr sz="1300" b="0">
                          <a:solidFill>
                            <a:srgbClr val="2A2F4F"/>
                          </a:solidFill>
                          <a:latin typeface="Arial"/>
                        </a:rPr>
                        <a:t>100% hợp lệ</a:t>
                      </a:r>
                    </a:p>
                  </a:txBody>
                  <a:tcPr marL="54864" marR="54864" marT="18288" marB="18288" anchor="ctr">
                    <a:solidFill>
                      <a:srgbClr val="EDF1F7"/>
                    </a:solidFill>
                  </a:tcPr>
                </a:tc>
                <a:tc>
                  <a:txBody>
                    <a:bodyPr wrap="square"/>
                    <a:lstStyle/>
                    <a:p>
                      <a:pPr algn="l"/>
                      <a:r>
                        <a:rPr sz="1300" b="0">
                          <a:solidFill>
                            <a:srgbClr val="2A2F4F"/>
                          </a:solidFill>
                          <a:latin typeface="Arial"/>
                        </a:rPr>
                        <a:t>100% trên lô chạy đủ bước</a:t>
                      </a:r>
                    </a:p>
                  </a:txBody>
                  <a:tcPr marL="54864" marR="54864" marT="18288" marB="18288" anchor="ctr">
                    <a:solidFill>
                      <a:srgbClr val="EDF1F7"/>
                    </a:solidFill>
                  </a:tcPr>
                </a:tc>
                <a:tc>
                  <a:txBody>
                    <a:bodyPr wrap="square"/>
                    <a:lstStyle/>
                    <a:p>
                      <a:pPr algn="ctr"/>
                      <a:r>
                        <a:rPr sz="1300" b="0">
                          <a:solidFill>
                            <a:srgbClr val="2A2F4F"/>
                          </a:solidFill>
                          <a:latin typeface="Arial"/>
                        </a:rPr>
                        <a:t>Đạt có điều kiện</a:t>
                      </a:r>
                    </a:p>
                  </a:txBody>
                  <a:tcPr marL="54864" marR="54864" marT="18288" marB="18288" anchor="ctr">
                    <a:solidFill>
                      <a:srgbClr val="EDF1F7"/>
                    </a:solidFill>
                  </a:tcPr>
                </a:tc>
              </a:tr>
              <a:tr h="416052">
                <a:tc>
                  <a:txBody>
                    <a:bodyPr wrap="square"/>
                    <a:lstStyle/>
                    <a:p>
                      <a:pPr algn="ctr"/>
                      <a:r>
                        <a:rPr sz="1300" b="0">
                          <a:solidFill>
                            <a:srgbClr val="2A2F4F"/>
                          </a:solidFill>
                          <a:latin typeface="Arial"/>
                        </a:rPr>
                        <a:t>NFR-5</a:t>
                      </a:r>
                    </a:p>
                  </a:txBody>
                  <a:tcPr marL="54864" marR="54864" marT="18288" marB="18288" anchor="ctr">
                    <a:solidFill>
                      <a:srgbClr val="FFFFFF"/>
                    </a:solidFill>
                  </a:tcPr>
                </a:tc>
                <a:tc>
                  <a:txBody>
                    <a:bodyPr wrap="square"/>
                    <a:lstStyle/>
                    <a:p>
                      <a:pPr algn="l"/>
                      <a:r>
                        <a:rPr sz="1300" b="0">
                          <a:solidFill>
                            <a:srgbClr val="2A2F4F"/>
                          </a:solidFill>
                          <a:latin typeface="Arial"/>
                        </a:rPr>
                        <a:t>Mức dùng VRAM</a:t>
                      </a:r>
                    </a:p>
                  </a:txBody>
                  <a:tcPr marL="54864" marR="54864" marT="18288" marB="18288" anchor="ctr">
                    <a:solidFill>
                      <a:srgbClr val="FFFFFF"/>
                    </a:solidFill>
                  </a:tcPr>
                </a:tc>
                <a:tc>
                  <a:txBody>
                    <a:bodyPr wrap="square"/>
                    <a:lstStyle/>
                    <a:p>
                      <a:pPr algn="l"/>
                      <a:r>
                        <a:rPr sz="1300" b="0">
                          <a:solidFill>
                            <a:srgbClr val="2A2F4F"/>
                          </a:solidFill>
                          <a:latin typeface="Arial"/>
                        </a:rPr>
                        <a:t>Dưới 20 GB</a:t>
                      </a:r>
                    </a:p>
                  </a:txBody>
                  <a:tcPr marL="54864" marR="54864" marT="18288" marB="18288" anchor="ctr">
                    <a:solidFill>
                      <a:srgbClr val="FFFFFF"/>
                    </a:solidFill>
                  </a:tcPr>
                </a:tc>
                <a:tc>
                  <a:txBody>
                    <a:bodyPr wrap="square"/>
                    <a:lstStyle/>
                    <a:p>
                      <a:pPr algn="l"/>
                      <a:r>
                        <a:rPr sz="1300" b="0">
                          <a:solidFill>
                            <a:srgbClr val="2A2F4F"/>
                          </a:solidFill>
                          <a:latin typeface="Arial"/>
                        </a:rPr>
                        <a:t>Khoảng 18 GB</a:t>
                      </a:r>
                    </a:p>
                  </a:txBody>
                  <a:tcPr marL="54864" marR="54864" marT="18288" marB="18288" anchor="ctr">
                    <a:solidFill>
                      <a:srgbClr val="FFFFFF"/>
                    </a:solidFill>
                  </a:tcPr>
                </a:tc>
                <a:tc>
                  <a:txBody>
                    <a:bodyPr wrap="square"/>
                    <a:lstStyle/>
                    <a:p>
                      <a:pPr algn="ctr"/>
                      <a:r>
                        <a:rPr sz="1300" b="0">
                          <a:solidFill>
                            <a:srgbClr val="2A2F4F"/>
                          </a:solidFill>
                          <a:latin typeface="Arial"/>
                        </a:rPr>
                        <a:t>Đạt</a:t>
                      </a:r>
                    </a:p>
                  </a:txBody>
                  <a:tcPr marL="54864" marR="54864" marT="18288" marB="18288" anchor="ctr">
                    <a:solidFill>
                      <a:srgbClr val="FFFFFF"/>
                    </a:solidFill>
                  </a:tcPr>
                </a:tc>
              </a:tr>
              <a:tr h="416052">
                <a:tc>
                  <a:txBody>
                    <a:bodyPr wrap="square"/>
                    <a:lstStyle/>
                    <a:p>
                      <a:pPr algn="ctr"/>
                      <a:r>
                        <a:rPr sz="1300" b="0">
                          <a:solidFill>
                            <a:srgbClr val="2A2F4F"/>
                          </a:solidFill>
                          <a:latin typeface="Arial"/>
                        </a:rPr>
                        <a:t>NFR-6</a:t>
                      </a:r>
                    </a:p>
                  </a:txBody>
                  <a:tcPr marL="54864" marR="54864" marT="18288" marB="18288" anchor="ctr">
                    <a:solidFill>
                      <a:srgbClr val="EDF1F7"/>
                    </a:solidFill>
                  </a:tcPr>
                </a:tc>
                <a:tc>
                  <a:txBody>
                    <a:bodyPr wrap="square"/>
                    <a:lstStyle/>
                    <a:p>
                      <a:pPr algn="l"/>
                      <a:r>
                        <a:rPr sz="1300" b="0">
                          <a:solidFill>
                            <a:srgbClr val="2A2F4F"/>
                          </a:solidFill>
                          <a:latin typeface="Arial"/>
                        </a:rPr>
                        <a:t>Chu kỳ điểm kiểm tra</a:t>
                      </a:r>
                    </a:p>
                  </a:txBody>
                  <a:tcPr marL="54864" marR="54864" marT="18288" marB="18288" anchor="ctr">
                    <a:solidFill>
                      <a:srgbClr val="EDF1F7"/>
                    </a:solidFill>
                  </a:tcPr>
                </a:tc>
                <a:tc>
                  <a:txBody>
                    <a:bodyPr wrap="square"/>
                    <a:lstStyle/>
                    <a:p>
                      <a:pPr algn="l"/>
                      <a:r>
                        <a:rPr sz="1300" b="0">
                          <a:solidFill>
                            <a:srgbClr val="2A2F4F"/>
                          </a:solidFill>
                          <a:latin typeface="Arial"/>
                        </a:rPr>
                        <a:t>Mỗi 100 ảnh</a:t>
                      </a:r>
                    </a:p>
                  </a:txBody>
                  <a:tcPr marL="54864" marR="54864" marT="18288" marB="18288" anchor="ctr">
                    <a:solidFill>
                      <a:srgbClr val="EDF1F7"/>
                    </a:solidFill>
                  </a:tcPr>
                </a:tc>
                <a:tc>
                  <a:txBody>
                    <a:bodyPr wrap="square"/>
                    <a:lstStyle/>
                    <a:p>
                      <a:pPr algn="l"/>
                      <a:r>
                        <a:rPr sz="1300" b="0">
                          <a:solidFill>
                            <a:srgbClr val="2A2F4F"/>
                          </a:solidFill>
                          <a:latin typeface="Arial"/>
                        </a:rPr>
                        <a:t>Mỗi 100 ảnh</a:t>
                      </a:r>
                    </a:p>
                  </a:txBody>
                  <a:tcPr marL="54864" marR="54864" marT="18288" marB="18288" anchor="ctr">
                    <a:solidFill>
                      <a:srgbClr val="EDF1F7"/>
                    </a:solidFill>
                  </a:tcPr>
                </a:tc>
                <a:tc>
                  <a:txBody>
                    <a:bodyPr wrap="square"/>
                    <a:lstStyle/>
                    <a:p>
                      <a:pPr algn="ctr"/>
                      <a:r>
                        <a:rPr sz="1300" b="0">
                          <a:solidFill>
                            <a:srgbClr val="2A2F4F"/>
                          </a:solidFill>
                          <a:latin typeface="Arial"/>
                        </a:rPr>
                        <a:t>Đạt</a:t>
                      </a:r>
                    </a:p>
                  </a:txBody>
                  <a:tcPr marL="54864" marR="54864" marT="18288" marB="18288" anchor="ctr">
                    <a:solidFill>
                      <a:srgbClr val="EDF1F7"/>
                    </a:solidFill>
                  </a:tcPr>
                </a:tc>
              </a:tr>
              <a:tr h="416052">
                <a:tc>
                  <a:txBody>
                    <a:bodyPr wrap="square"/>
                    <a:lstStyle/>
                    <a:p>
                      <a:pPr algn="ctr"/>
                      <a:r>
                        <a:rPr sz="1300" b="0">
                          <a:solidFill>
                            <a:srgbClr val="2A2F4F"/>
                          </a:solidFill>
                          <a:latin typeface="Arial"/>
                        </a:rPr>
                        <a:t>NFR-7</a:t>
                      </a:r>
                    </a:p>
                  </a:txBody>
                  <a:tcPr marL="54864" marR="54864" marT="18288" marB="18288" anchor="ctr">
                    <a:solidFill>
                      <a:srgbClr val="FFFFFF"/>
                    </a:solidFill>
                  </a:tcPr>
                </a:tc>
                <a:tc>
                  <a:txBody>
                    <a:bodyPr wrap="square"/>
                    <a:lstStyle/>
                    <a:p>
                      <a:pPr algn="l"/>
                      <a:r>
                        <a:rPr sz="1300" b="0">
                          <a:solidFill>
                            <a:srgbClr val="2A2F4F"/>
                          </a:solidFill>
                          <a:latin typeface="Arial"/>
                        </a:rPr>
                        <a:t>Cải thiện mAP của YOLOv8</a:t>
                      </a:r>
                    </a:p>
                  </a:txBody>
                  <a:tcPr marL="54864" marR="54864" marT="18288" marB="18288" anchor="ctr">
                    <a:solidFill>
                      <a:srgbClr val="FFFFFF"/>
                    </a:solidFill>
                  </a:tcPr>
                </a:tc>
                <a:tc>
                  <a:txBody>
                    <a:bodyPr wrap="square"/>
                    <a:lstStyle/>
                    <a:p>
                      <a:pPr algn="l"/>
                      <a:r>
                        <a:rPr sz="1300" b="0">
                          <a:solidFill>
                            <a:srgbClr val="2A2F4F"/>
                          </a:solidFill>
                          <a:latin typeface="Arial"/>
                        </a:rPr>
                        <a:t>Trên 5%</a:t>
                      </a:r>
                    </a:p>
                  </a:txBody>
                  <a:tcPr marL="54864" marR="54864" marT="18288" marB="18288" anchor="ctr">
                    <a:solidFill>
                      <a:srgbClr val="FFFFFF"/>
                    </a:solidFill>
                  </a:tcPr>
                </a:tc>
                <a:tc>
                  <a:txBody>
                    <a:bodyPr wrap="square"/>
                    <a:lstStyle/>
                    <a:p>
                      <a:pPr algn="l"/>
                      <a:r>
                        <a:rPr sz="1300" b="1">
                          <a:solidFill>
                            <a:srgbClr val="0071FF"/>
                          </a:solidFill>
                          <a:latin typeface="Arial"/>
                        </a:rPr>
                        <a:t>+2,7 điểm phần trăm</a:t>
                      </a:r>
                    </a:p>
                  </a:txBody>
                  <a:tcPr marL="54864" marR="54864" marT="18288" marB="18288" anchor="ctr">
                    <a:solidFill>
                      <a:srgbClr val="FFFFFF"/>
                    </a:solidFill>
                  </a:tcPr>
                </a:tc>
                <a:tc>
                  <a:txBody>
                    <a:bodyPr wrap="square"/>
                    <a:lstStyle/>
                    <a:p>
                      <a:pPr algn="ctr"/>
                      <a:r>
                        <a:rPr sz="1300" b="1">
                          <a:solidFill>
                            <a:srgbClr val="0071FF"/>
                          </a:solidFill>
                          <a:latin typeface="Arial"/>
                        </a:rPr>
                        <a:t>Không đạt</a:t>
                      </a:r>
                    </a:p>
                  </a:txBody>
                  <a:tcPr marL="54864" marR="54864" marT="18288" marB="18288" anchor="ctr">
                    <a:solidFill>
                      <a:srgbClr val="FFFFFF"/>
                    </a:solidFill>
                  </a:tcPr>
                </a:tc>
              </a:tr>
              <a:tr h="416052">
                <a:tc>
                  <a:txBody>
                    <a:bodyPr wrap="square"/>
                    <a:lstStyle/>
                    <a:p>
                      <a:pPr algn="ctr"/>
                      <a:r>
                        <a:rPr sz="1300" b="0">
                          <a:solidFill>
                            <a:srgbClr val="2A2F4F"/>
                          </a:solidFill>
                          <a:latin typeface="Arial"/>
                        </a:rPr>
                        <a:t>NFR-8</a:t>
                      </a:r>
                    </a:p>
                  </a:txBody>
                  <a:tcPr marL="54864" marR="54864" marT="18288" marB="18288" anchor="ctr">
                    <a:solidFill>
                      <a:srgbClr val="EDF1F7"/>
                    </a:solidFill>
                  </a:tcPr>
                </a:tc>
                <a:tc>
                  <a:txBody>
                    <a:bodyPr wrap="square"/>
                    <a:lstStyle/>
                    <a:p>
                      <a:pPr algn="l"/>
                      <a:r>
                        <a:rPr sz="1300" b="0">
                          <a:solidFill>
                            <a:srgbClr val="2A2F4F"/>
                          </a:solidFill>
                          <a:latin typeface="Arial"/>
                        </a:rPr>
                        <a:t>Thời gian xác thực xuôi dòng</a:t>
                      </a:r>
                    </a:p>
                  </a:txBody>
                  <a:tcPr marL="54864" marR="54864" marT="18288" marB="18288" anchor="ctr">
                    <a:solidFill>
                      <a:srgbClr val="EDF1F7"/>
                    </a:solidFill>
                  </a:tcPr>
                </a:tc>
                <a:tc>
                  <a:txBody>
                    <a:bodyPr wrap="square"/>
                    <a:lstStyle/>
                    <a:p>
                      <a:pPr algn="l"/>
                      <a:r>
                        <a:rPr sz="1300" b="0">
                          <a:solidFill>
                            <a:srgbClr val="2A2F4F"/>
                          </a:solidFill>
                          <a:latin typeface="Arial"/>
                        </a:rPr>
                        <a:t>Dưới 24 giờ</a:t>
                      </a:r>
                    </a:p>
                  </a:txBody>
                  <a:tcPr marL="54864" marR="54864" marT="18288" marB="18288" anchor="ctr">
                    <a:solidFill>
                      <a:srgbClr val="EDF1F7"/>
                    </a:solidFill>
                  </a:tcPr>
                </a:tc>
                <a:tc>
                  <a:txBody>
                    <a:bodyPr wrap="square"/>
                    <a:lstStyle/>
                    <a:p>
                      <a:pPr algn="l"/>
                      <a:r>
                        <a:rPr sz="1300" b="0">
                          <a:solidFill>
                            <a:srgbClr val="2A2F4F"/>
                          </a:solidFill>
                          <a:latin typeface="Arial"/>
                        </a:rPr>
                        <a:t>Khoảng 12 giờ</a:t>
                      </a:r>
                    </a:p>
                  </a:txBody>
                  <a:tcPr marL="54864" marR="54864" marT="18288" marB="18288" anchor="ctr">
                    <a:solidFill>
                      <a:srgbClr val="EDF1F7"/>
                    </a:solidFill>
                  </a:tcPr>
                </a:tc>
                <a:tc>
                  <a:txBody>
                    <a:bodyPr wrap="square"/>
                    <a:lstStyle/>
                    <a:p>
                      <a:pPr algn="ctr"/>
                      <a:r>
                        <a:rPr sz="1300" b="0">
                          <a:solidFill>
                            <a:srgbClr val="2A2F4F"/>
                          </a:solidFill>
                          <a:latin typeface="Arial"/>
                        </a:rPr>
                        <a:t>Đạt</a:t>
                      </a:r>
                    </a:p>
                  </a:txBody>
                  <a:tcPr marL="54864" marR="54864" marT="18288" marB="18288" anchor="ctr">
                    <a:solidFill>
                      <a:srgbClr val="EDF1F7"/>
                    </a:solidFill>
                  </a:tcPr>
                </a:tc>
              </a:tr>
              <a:tr h="416052">
                <a:tc>
                  <a:txBody>
                    <a:bodyPr wrap="square"/>
                    <a:lstStyle/>
                    <a:p>
                      <a:pPr algn="ctr"/>
                      <a:r>
                        <a:rPr sz="1300" b="0">
                          <a:solidFill>
                            <a:srgbClr val="2A2F4F"/>
                          </a:solidFill>
                          <a:latin typeface="Arial"/>
                        </a:rPr>
                        <a:t>FR-1…10</a:t>
                      </a:r>
                    </a:p>
                  </a:txBody>
                  <a:tcPr marL="54864" marR="54864" marT="18288" marB="18288" anchor="ctr">
                    <a:solidFill>
                      <a:srgbClr val="FFFFFF"/>
                    </a:solidFill>
                  </a:tcPr>
                </a:tc>
                <a:tc>
                  <a:txBody>
                    <a:bodyPr wrap="square"/>
                    <a:lstStyle/>
                    <a:p>
                      <a:pPr algn="l"/>
                      <a:r>
                        <a:rPr sz="1300" b="0">
                          <a:solidFill>
                            <a:srgbClr val="2A2F4F"/>
                          </a:solidFill>
                          <a:latin typeface="Arial"/>
                        </a:rPr>
                        <a:t>Nhóm yêu cầu chức năng</a:t>
                      </a:r>
                    </a:p>
                  </a:txBody>
                  <a:tcPr marL="54864" marR="54864" marT="18288" marB="18288" anchor="ctr">
                    <a:solidFill>
                      <a:srgbClr val="FFFFFF"/>
                    </a:solidFill>
                  </a:tcPr>
                </a:tc>
                <a:tc>
                  <a:txBody>
                    <a:bodyPr wrap="square"/>
                    <a:lstStyle/>
                    <a:p>
                      <a:pPr algn="l"/>
                      <a:r>
                        <a:rPr sz="1300" b="0">
                          <a:solidFill>
                            <a:srgbClr val="2A2F4F"/>
                          </a:solidFill>
                          <a:latin typeface="Arial"/>
                        </a:rPr>
                        <a:t>Hoàn thành</a:t>
                      </a:r>
                    </a:p>
                  </a:txBody>
                  <a:tcPr marL="54864" marR="54864" marT="18288" marB="18288" anchor="ctr">
                    <a:solidFill>
                      <a:srgbClr val="FFFFFF"/>
                    </a:solidFill>
                  </a:tcPr>
                </a:tc>
                <a:tc>
                  <a:txBody>
                    <a:bodyPr wrap="square"/>
                    <a:lstStyle/>
                    <a:p>
                      <a:pPr algn="l"/>
                      <a:r>
                        <a:rPr sz="1300" b="0">
                          <a:solidFill>
                            <a:srgbClr val="2A2F4F"/>
                          </a:solidFill>
                          <a:latin typeface="Arial"/>
                        </a:rPr>
                        <a:t>Đã cài đặt và chạy được</a:t>
                      </a:r>
                    </a:p>
                  </a:txBody>
                  <a:tcPr marL="54864" marR="54864" marT="18288" marB="18288" anchor="ctr">
                    <a:solidFill>
                      <a:srgbClr val="FFFFFF"/>
                    </a:solidFill>
                  </a:tcPr>
                </a:tc>
                <a:tc>
                  <a:txBody>
                    <a:bodyPr wrap="square"/>
                    <a:lstStyle/>
                    <a:p>
                      <a:pPr algn="ctr"/>
                      <a:r>
                        <a:rPr sz="1300" b="0">
                          <a:solidFill>
                            <a:srgbClr val="2A2F4F"/>
                          </a:solidFill>
                          <a:latin typeface="Arial"/>
                        </a:rPr>
                        <a:t>Đạt</a:t>
                      </a:r>
                    </a:p>
                  </a:txBody>
                  <a:tcPr marL="54864" marR="54864" marT="18288" marB="18288" anchor="ctr">
                    <a:solidFill>
                      <a:srgbClr val="FFFFFF"/>
                    </a:solidFill>
                  </a:tcPr>
                </a:tc>
              </a:tr>
            </a:tbl>
          </a:graphicData>
        </a:graphic>
      </p:graphicFrame>
      <p:sp>
        <p:nvSpPr>
          <p:cNvPr id="4" name="TextBox 3"/>
          <p:cNvSpPr txBox="1"/>
          <p:nvPr/>
        </p:nvSpPr>
        <p:spPr>
          <a:xfrm>
            <a:off x="777240" y="6053328"/>
            <a:ext cx="10579608" cy="457200"/>
          </a:xfrm>
          <a:prstGeom prst="rect">
            <a:avLst/>
          </a:prstGeom>
          <a:noFill/>
        </p:spPr>
        <p:txBody>
          <a:bodyPr wrap="square">
            <a:spAutoFit/>
          </a:bodyPr>
          <a:lstStyle/>
          <a:p>
            <a:r>
              <a:rPr sz="1300" b="0">
                <a:solidFill>
                  <a:srgbClr val="2A2F4F"/>
                </a:solidFill>
                <a:latin typeface="Arial"/>
              </a:rPr>
              <a:t>Hai cổng chất lượng không đạt đều do lệch cấu hình giữa bộ sinh và bộ kiểm, không phải lỗi quy trình. Thư mục kiểm gộp cả lô thử nghiệm chưa chạy hậu xử lý; bản khai báo phân bố lớp còn là bản cũ năm lớp.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4.5 XÁC THỰC XUÔI DÒNG BẰNG YOLOv8</a:t>
            </a:r>
          </a:p>
        </p:txBody>
      </p:sp>
      <p:graphicFrame>
        <p:nvGraphicFramePr>
          <p:cNvPr id="3" name="Table 2"/>
          <p:cNvGraphicFramePr>
            <a:graphicFrameLocks noGrp="1"/>
          </p:cNvGraphicFramePr>
          <p:nvPr/>
        </p:nvGraphicFramePr>
        <p:xfrm>
          <a:off x="777240" y="1325880"/>
          <a:ext cx="5669280" cy="2103120"/>
        </p:xfrm>
        <a:graphic>
          <a:graphicData uri="http://schemas.openxmlformats.org/drawingml/2006/table">
            <a:tbl>
              <a:tblPr firstRow="1" bandRow="1">
                <a:tableStyleId>{5C22544A-7EE6-4342-B048-85BDC9FD1C3A}</a:tableStyleId>
              </a:tblPr>
              <a:tblGrid>
                <a:gridCol w="1371600"/>
                <a:gridCol w="2011680"/>
                <a:gridCol w="1143000"/>
                <a:gridCol w="1143000"/>
              </a:tblGrid>
              <a:tr h="420624">
                <a:tc>
                  <a:txBody>
                    <a:bodyPr/>
                    <a:lstStyle/>
                    <a:p>
                      <a:pPr algn="ctr"/>
                      <a:r>
                        <a:rPr sz="1200" b="1">
                          <a:solidFill>
                            <a:srgbClr val="FFFFFF"/>
                          </a:solidFill>
                          <a:latin typeface="Arial"/>
                        </a:rPr>
                        <a:t>Thử nghiệm</a:t>
                      </a:r>
                    </a:p>
                  </a:txBody>
                  <a:tcPr anchor="ctr">
                    <a:solidFill>
                      <a:srgbClr val="1C305E"/>
                    </a:solidFill>
                  </a:tcPr>
                </a:tc>
                <a:tc>
                  <a:txBody>
                    <a:bodyPr/>
                    <a:lstStyle/>
                    <a:p>
                      <a:pPr algn="ctr"/>
                      <a:r>
                        <a:rPr sz="1200" b="1">
                          <a:solidFill>
                            <a:srgbClr val="FFFFFF"/>
                          </a:solidFill>
                          <a:latin typeface="Arial"/>
                        </a:rPr>
                        <a:t>Tập huấn luyện</a:t>
                      </a:r>
                    </a:p>
                  </a:txBody>
                  <a:tcPr anchor="ctr">
                    <a:solidFill>
                      <a:srgbClr val="1C305E"/>
                    </a:solidFill>
                  </a:tcPr>
                </a:tc>
                <a:tc>
                  <a:txBody>
                    <a:bodyPr/>
                    <a:lstStyle/>
                    <a:p>
                      <a:pPr algn="ctr"/>
                      <a:r>
                        <a:rPr sz="1200" b="1">
                          <a:solidFill>
                            <a:srgbClr val="FFFFFF"/>
                          </a:solidFill>
                          <a:latin typeface="Arial"/>
                        </a:rPr>
                        <a:t>mAP@0,5</a:t>
                      </a:r>
                    </a:p>
                  </a:txBody>
                  <a:tcPr anchor="ctr">
                    <a:solidFill>
                      <a:srgbClr val="1C305E"/>
                    </a:solidFill>
                  </a:tcPr>
                </a:tc>
                <a:tc>
                  <a:txBody>
                    <a:bodyPr/>
                    <a:lstStyle/>
                    <a:p>
                      <a:pPr algn="ctr"/>
                      <a:r>
                        <a:rPr sz="1200" b="1">
                          <a:solidFill>
                            <a:srgbClr val="FFFFFF"/>
                          </a:solidFill>
                          <a:latin typeface="Arial"/>
                        </a:rPr>
                        <a:t>mAP@0,5:0,95</a:t>
                      </a:r>
                    </a:p>
                  </a:txBody>
                  <a:tcPr anchor="ctr">
                    <a:solidFill>
                      <a:srgbClr val="1C305E"/>
                    </a:solidFill>
                  </a:tcPr>
                </a:tc>
              </a:tr>
              <a:tr h="420624">
                <a:tc>
                  <a:txBody>
                    <a:bodyPr/>
                    <a:lstStyle/>
                    <a:p>
                      <a:pPr algn="ctr"/>
                      <a:r>
                        <a:rPr sz="1200" b="0">
                          <a:solidFill>
                            <a:srgbClr val="2A2F4F"/>
                          </a:solidFill>
                          <a:latin typeface="Arial"/>
                        </a:rPr>
                        <a:t>Đối chứng</a:t>
                      </a:r>
                    </a:p>
                  </a:txBody>
                  <a:tcPr anchor="ctr">
                    <a:solidFill>
                      <a:srgbClr val="FFFFFF"/>
                    </a:solidFill>
                  </a:tcPr>
                </a:tc>
                <a:tc>
                  <a:txBody>
                    <a:bodyPr/>
                    <a:lstStyle/>
                    <a:p>
                      <a:pPr algn="l"/>
                      <a:r>
                        <a:rPr sz="1200" b="0">
                          <a:solidFill>
                            <a:srgbClr val="2A2F4F"/>
                          </a:solidFill>
                          <a:latin typeface="Arial"/>
                        </a:rPr>
                        <a:t>100% ảnh thật</a:t>
                      </a:r>
                    </a:p>
                  </a:txBody>
                  <a:tcPr anchor="ctr">
                    <a:solidFill>
                      <a:srgbClr val="FFFFFF"/>
                    </a:solidFill>
                  </a:tcPr>
                </a:tc>
                <a:tc>
                  <a:txBody>
                    <a:bodyPr/>
                    <a:lstStyle/>
                    <a:p>
                      <a:pPr algn="ctr"/>
                      <a:r>
                        <a:rPr sz="1200" b="0">
                          <a:solidFill>
                            <a:srgbClr val="2A2F4F"/>
                          </a:solidFill>
                          <a:latin typeface="Arial"/>
                        </a:rPr>
                        <a:t>68,5%</a:t>
                      </a:r>
                    </a:p>
                  </a:txBody>
                  <a:tcPr anchor="ctr">
                    <a:solidFill>
                      <a:srgbClr val="FFFFFF"/>
                    </a:solidFill>
                  </a:tcPr>
                </a:tc>
                <a:tc>
                  <a:txBody>
                    <a:bodyPr/>
                    <a:lstStyle/>
                    <a:p>
                      <a:pPr algn="ctr"/>
                      <a:r>
                        <a:rPr sz="1200" b="0">
                          <a:solidFill>
                            <a:srgbClr val="2A2F4F"/>
                          </a:solidFill>
                          <a:latin typeface="Arial"/>
                        </a:rPr>
                        <a:t>42,3%</a:t>
                      </a:r>
                    </a:p>
                  </a:txBody>
                  <a:tcPr anchor="ctr">
                    <a:solidFill>
                      <a:srgbClr val="FFFFFF"/>
                    </a:solidFill>
                  </a:tcPr>
                </a:tc>
              </a:tr>
              <a:tr h="420624">
                <a:tc>
                  <a:txBody>
                    <a:bodyPr/>
                    <a:lstStyle/>
                    <a:p>
                      <a:pPr algn="ctr"/>
                      <a:r>
                        <a:rPr sz="1200" b="1">
                          <a:solidFill>
                            <a:srgbClr val="0071FF"/>
                          </a:solidFill>
                          <a:latin typeface="Arial"/>
                        </a:rPr>
                        <a:t>Trộn 20%</a:t>
                      </a:r>
                    </a:p>
                  </a:txBody>
                  <a:tcPr anchor="ctr">
                    <a:solidFill>
                      <a:srgbClr val="EDF1F7"/>
                    </a:solidFill>
                  </a:tcPr>
                </a:tc>
                <a:tc>
                  <a:txBody>
                    <a:bodyPr/>
                    <a:lstStyle/>
                    <a:p>
                      <a:pPr algn="l"/>
                      <a:r>
                        <a:rPr sz="1200" b="0">
                          <a:solidFill>
                            <a:srgbClr val="2A2F4F"/>
                          </a:solidFill>
                          <a:latin typeface="Arial"/>
                        </a:rPr>
                        <a:t>20% tổng hợp, 80% thật</a:t>
                      </a:r>
                    </a:p>
                  </a:txBody>
                  <a:tcPr anchor="ctr">
                    <a:solidFill>
                      <a:srgbClr val="EDF1F7"/>
                    </a:solidFill>
                  </a:tcPr>
                </a:tc>
                <a:tc>
                  <a:txBody>
                    <a:bodyPr/>
                    <a:lstStyle/>
                    <a:p>
                      <a:pPr algn="ctr"/>
                      <a:r>
                        <a:rPr sz="1200" b="1">
                          <a:solidFill>
                            <a:srgbClr val="0071FF"/>
                          </a:solidFill>
                          <a:latin typeface="Arial"/>
                        </a:rPr>
                        <a:t>71,2%</a:t>
                      </a:r>
                    </a:p>
                  </a:txBody>
                  <a:tcPr anchor="ctr">
                    <a:solidFill>
                      <a:srgbClr val="EDF1F7"/>
                    </a:solidFill>
                  </a:tcPr>
                </a:tc>
                <a:tc>
                  <a:txBody>
                    <a:bodyPr/>
                    <a:lstStyle/>
                    <a:p>
                      <a:pPr algn="ctr"/>
                      <a:r>
                        <a:rPr sz="1200" b="1">
                          <a:solidFill>
                            <a:srgbClr val="0071FF"/>
                          </a:solidFill>
                          <a:latin typeface="Arial"/>
                        </a:rPr>
                        <a:t>44,8%</a:t>
                      </a:r>
                    </a:p>
                  </a:txBody>
                  <a:tcPr anchor="ctr">
                    <a:solidFill>
                      <a:srgbClr val="EDF1F7"/>
                    </a:solidFill>
                  </a:tcPr>
                </a:tc>
              </a:tr>
              <a:tr h="420624">
                <a:tc>
                  <a:txBody>
                    <a:bodyPr/>
                    <a:lstStyle/>
                    <a:p>
                      <a:pPr algn="ctr"/>
                      <a:r>
                        <a:rPr sz="1200" b="0">
                          <a:solidFill>
                            <a:srgbClr val="2A2F4F"/>
                          </a:solidFill>
                          <a:latin typeface="Arial"/>
                        </a:rPr>
                        <a:t>Trộn 50%</a:t>
                      </a:r>
                    </a:p>
                  </a:txBody>
                  <a:tcPr anchor="ctr">
                    <a:solidFill>
                      <a:srgbClr val="FFFFFF"/>
                    </a:solidFill>
                  </a:tcPr>
                </a:tc>
                <a:tc>
                  <a:txBody>
                    <a:bodyPr/>
                    <a:lstStyle/>
                    <a:p>
                      <a:pPr algn="l"/>
                      <a:r>
                        <a:rPr sz="1200" b="0">
                          <a:solidFill>
                            <a:srgbClr val="2A2F4F"/>
                          </a:solidFill>
                          <a:latin typeface="Arial"/>
                        </a:rPr>
                        <a:t>50% tổng hợp, 50% thật</a:t>
                      </a:r>
                    </a:p>
                  </a:txBody>
                  <a:tcPr anchor="ctr">
                    <a:solidFill>
                      <a:srgbClr val="FFFFFF"/>
                    </a:solidFill>
                  </a:tcPr>
                </a:tc>
                <a:tc>
                  <a:txBody>
                    <a:bodyPr/>
                    <a:lstStyle/>
                    <a:p>
                      <a:pPr algn="ctr"/>
                      <a:r>
                        <a:rPr sz="1200" b="0">
                          <a:solidFill>
                            <a:srgbClr val="2A2F4F"/>
                          </a:solidFill>
                          <a:latin typeface="Arial"/>
                        </a:rPr>
                        <a:t>70,1%</a:t>
                      </a:r>
                    </a:p>
                  </a:txBody>
                  <a:tcPr anchor="ctr">
                    <a:solidFill>
                      <a:srgbClr val="FFFFFF"/>
                    </a:solidFill>
                  </a:tcPr>
                </a:tc>
                <a:tc>
                  <a:txBody>
                    <a:bodyPr/>
                    <a:lstStyle/>
                    <a:p>
                      <a:pPr algn="ctr"/>
                      <a:r>
                        <a:rPr sz="1200" b="0">
                          <a:solidFill>
                            <a:srgbClr val="2A2F4F"/>
                          </a:solidFill>
                          <a:latin typeface="Arial"/>
                        </a:rPr>
                        <a:t>43,9%</a:t>
                      </a:r>
                    </a:p>
                  </a:txBody>
                  <a:tcPr anchor="ctr">
                    <a:solidFill>
                      <a:srgbClr val="FFFFFF"/>
                    </a:solidFill>
                  </a:tcPr>
                </a:tc>
              </a:tr>
              <a:tr h="420624">
                <a:tc>
                  <a:txBody>
                    <a:bodyPr/>
                    <a:lstStyle/>
                    <a:p>
                      <a:pPr algn="ctr"/>
                      <a:r>
                        <a:rPr sz="1200" b="0">
                          <a:solidFill>
                            <a:srgbClr val="2A2F4F"/>
                          </a:solidFill>
                          <a:latin typeface="Arial"/>
                        </a:rPr>
                        <a:t>Chỉ tổng hợp</a:t>
                      </a:r>
                    </a:p>
                  </a:txBody>
                  <a:tcPr anchor="ctr">
                    <a:solidFill>
                      <a:srgbClr val="EDF1F7"/>
                    </a:solidFill>
                  </a:tcPr>
                </a:tc>
                <a:tc>
                  <a:txBody>
                    <a:bodyPr/>
                    <a:lstStyle/>
                    <a:p>
                      <a:pPr algn="l"/>
                      <a:r>
                        <a:rPr sz="1200" b="0">
                          <a:solidFill>
                            <a:srgbClr val="2A2F4F"/>
                          </a:solidFill>
                          <a:latin typeface="Arial"/>
                        </a:rPr>
                        <a:t>100% tổng hợp</a:t>
                      </a:r>
                    </a:p>
                  </a:txBody>
                  <a:tcPr anchor="ctr">
                    <a:solidFill>
                      <a:srgbClr val="EDF1F7"/>
                    </a:solidFill>
                  </a:tcPr>
                </a:tc>
                <a:tc>
                  <a:txBody>
                    <a:bodyPr/>
                    <a:lstStyle/>
                    <a:p>
                      <a:pPr algn="ctr"/>
                      <a:r>
                        <a:rPr sz="1200" b="0">
                          <a:solidFill>
                            <a:srgbClr val="2A2F4F"/>
                          </a:solidFill>
                          <a:latin typeface="Arial"/>
                        </a:rPr>
                        <a:t>58,3%</a:t>
                      </a:r>
                    </a:p>
                  </a:txBody>
                  <a:tcPr anchor="ctr">
                    <a:solidFill>
                      <a:srgbClr val="EDF1F7"/>
                    </a:solidFill>
                  </a:tcPr>
                </a:tc>
                <a:tc>
                  <a:txBody>
                    <a:bodyPr/>
                    <a:lstStyle/>
                    <a:p>
                      <a:pPr algn="ctr"/>
                      <a:r>
                        <a:rPr sz="1200" b="0">
                          <a:solidFill>
                            <a:srgbClr val="2A2F4F"/>
                          </a:solidFill>
                          <a:latin typeface="Arial"/>
                        </a:rPr>
                        <a:t>35,2%</a:t>
                      </a:r>
                    </a:p>
                  </a:txBody>
                  <a:tcPr anchor="ctr">
                    <a:solidFill>
                      <a:srgbClr val="EDF1F7"/>
                    </a:solidFill>
                  </a:tcPr>
                </a:tc>
              </a:tr>
            </a:tbl>
          </a:graphicData>
        </a:graphic>
      </p:graphicFrame>
      <p:sp>
        <p:nvSpPr>
          <p:cNvPr id="4" name="TextBox 3"/>
          <p:cNvSpPr txBox="1"/>
          <p:nvPr/>
        </p:nvSpPr>
        <p:spPr>
          <a:xfrm>
            <a:off x="777240" y="3611880"/>
            <a:ext cx="5669280" cy="2468880"/>
          </a:xfrm>
          <a:prstGeom prst="rect">
            <a:avLst/>
          </a:prstGeom>
          <a:noFill/>
        </p:spPr>
        <p:txBody>
          <a:bodyPr wrap="square">
            <a:spAutoFit/>
          </a:bodyPr>
          <a:lstStyle/>
          <a:p>
            <a:pPr algn="l">
              <a:spcAft>
                <a:spcPts val="600"/>
              </a:spcAft>
            </a:pPr>
            <a:r>
              <a:rPr sz="1500" b="0">
                <a:solidFill>
                  <a:srgbClr val="2A2F4F"/>
                </a:solidFill>
                <a:latin typeface="Arial"/>
              </a:rPr>
              <a:t>Tập kiểm tra giữ nguyên </a:t>
            </a:r>
            <a:r>
              <a:rPr sz="1500" b="1">
                <a:solidFill>
                  <a:srgbClr val="0071FF"/>
                </a:solidFill>
                <a:latin typeface="Arial"/>
              </a:rPr>
              <a:t>100% ảnh thật</a:t>
            </a:r>
            <a:r>
              <a:rPr sz="1500" b="0">
                <a:solidFill>
                  <a:srgbClr val="2A2F4F"/>
                </a:solidFill>
                <a:latin typeface="Arial"/>
              </a:rPr>
              <a:t> ở cả bốn cấu hình.</a:t>
            </a:r>
          </a:p>
          <a:p>
            <a:pPr algn="l">
              <a:spcAft>
                <a:spcPts val="600"/>
              </a:spcAft>
            </a:pPr>
            <a:r>
              <a:rPr sz="1500" b="0">
                <a:solidFill>
                  <a:srgbClr val="2A2F4F"/>
                </a:solidFill>
                <a:latin typeface="Arial"/>
              </a:rPr>
              <a:t>Trộn 20% nâng mAP@0,5 thêm </a:t>
            </a:r>
            <a:r>
              <a:rPr sz="1500" b="1">
                <a:solidFill>
                  <a:srgbClr val="0071FF"/>
                </a:solidFill>
                <a:latin typeface="Arial"/>
              </a:rPr>
              <a:t>2,7 điểm phần trăm</a:t>
            </a:r>
            <a:r>
              <a:rPr sz="1500" b="0">
                <a:solidFill>
                  <a:srgbClr val="2A2F4F"/>
                </a:solidFill>
                <a:latin typeface="Arial"/>
              </a:rPr>
              <a:t>, nhất quán trên cả hai chỉ số.</a:t>
            </a:r>
          </a:p>
          <a:p>
            <a:pPr algn="l">
              <a:spcAft>
                <a:spcPts val="600"/>
              </a:spcAft>
            </a:pPr>
            <a:r>
              <a:rPr sz="1500" b="0">
                <a:solidFill>
                  <a:srgbClr val="2A2F4F"/>
                </a:solidFill>
                <a:latin typeface="Arial"/>
              </a:rPr>
              <a:t>Đường cong có cực đại quanh 20% tới 30%, sau đó bão hoà.</a:t>
            </a:r>
          </a:p>
          <a:p>
            <a:pPr algn="l">
              <a:spcAft>
                <a:spcPts val="600"/>
              </a:spcAft>
            </a:pPr>
            <a:r>
              <a:rPr sz="1500" b="0">
                <a:solidFill>
                  <a:srgbClr val="2A2F4F"/>
                </a:solidFill>
                <a:latin typeface="Arial"/>
              </a:rPr>
              <a:t>Huấn luyện chỉ bằng ảnh tổng hợp tụt </a:t>
            </a:r>
            <a:r>
              <a:rPr sz="1500" b="1">
                <a:solidFill>
                  <a:srgbClr val="0071FF"/>
                </a:solidFill>
                <a:latin typeface="Arial"/>
              </a:rPr>
              <a:t>10,2 điểm phần trăm</a:t>
            </a:r>
            <a:r>
              <a:rPr sz="1500" b="0">
                <a:solidFill>
                  <a:srgbClr val="2A2F4F"/>
                </a:solidFill>
                <a:latin typeface="Arial"/>
              </a:rPr>
              <a:t>: ảnh sinh chưa thay được ảnh thật.</a:t>
            </a:r>
          </a:p>
          <a:p>
            <a:pPr algn="l">
              <a:spcAft>
                <a:spcPts val="600"/>
              </a:spcAft>
            </a:pPr>
            <a:r>
              <a:rPr sz="1500" b="0">
                <a:solidFill>
                  <a:srgbClr val="2A2F4F"/>
                </a:solidFill>
                <a:latin typeface="Arial"/>
              </a:rPr>
              <a:t>Vai trò thực tế: </a:t>
            </a:r>
            <a:r>
              <a:rPr sz="1500" b="1">
                <a:solidFill>
                  <a:srgbClr val="0071FF"/>
                </a:solidFill>
                <a:latin typeface="Arial"/>
              </a:rPr>
              <a:t>công cụ bù dữ liệu cho lớp thiểu số</a:t>
            </a:r>
            <a:r>
              <a:rPr sz="1500" b="0">
                <a:solidFill>
                  <a:srgbClr val="2A2F4F"/>
                </a:solidFill>
                <a:latin typeface="Arial"/>
              </a:rPr>
              <a:t>.</a:t>
            </a:r>
          </a:p>
        </p:txBody>
      </p:sp>
      <p:pic>
        <p:nvPicPr>
          <p:cNvPr id="5" name="Picture 4" descr="fig-4-4-map-theo-ty-le-tong-hop.png"/>
          <p:cNvPicPr>
            <a:picLocks noChangeAspect="1"/>
          </p:cNvPicPr>
          <p:nvPr/>
        </p:nvPicPr>
        <p:blipFill>
          <a:blip r:embed="rId2"/>
          <a:stretch>
            <a:fillRect/>
          </a:stretch>
        </p:blipFill>
        <p:spPr>
          <a:xfrm>
            <a:off x="6766560" y="2373630"/>
            <a:ext cx="4663440" cy="2202180"/>
          </a:xfrm>
          <a:prstGeom prst="rect">
            <a:avLst/>
          </a:prstGeom>
        </p:spPr>
      </p:pic>
      <p:sp>
        <p:nvSpPr>
          <p:cNvPr id="6" name="TextBox 5"/>
          <p:cNvSpPr txBox="1"/>
          <p:nvPr/>
        </p:nvSpPr>
        <p:spPr>
          <a:xfrm>
            <a:off x="6583680" y="4648962"/>
            <a:ext cx="5029200" cy="274320"/>
          </a:xfrm>
          <a:prstGeom prst="rect">
            <a:avLst/>
          </a:prstGeom>
          <a:noFill/>
        </p:spPr>
        <p:txBody>
          <a:bodyPr wrap="square">
            <a:spAutoFit/>
          </a:bodyPr>
          <a:lstStyle/>
          <a:p>
            <a:pPr algn="ctr"/>
            <a:r>
              <a:rPr sz="1200" i="1">
                <a:solidFill>
                  <a:srgbClr val="2A2F4F"/>
                </a:solidFill>
                <a:latin typeface="Arial"/>
              </a:rPr>
              <a:t>Hình 4.4: mAP của YOLOv8 theo tỷ lệ ảnh tổng hợp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2800" b="1">
                <a:solidFill>
                  <a:srgbClr val="1C305E"/>
                </a:solidFill>
                <a:latin typeface="Arial"/>
              </a:rPr>
              <a:t>4.7 HẠN CHẾ QUAN SÁT ĐƯỢC TRÊN ẢNH SINH RA</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500" b="1">
                <a:solidFill>
                  <a:srgbClr val="0071FF"/>
                </a:solidFill>
                <a:latin typeface="Arial"/>
              </a:rPr>
              <a:t>Hạn chế gốc: bước hậu xử lý đã vô hiệu hoá mô hình khuếch tán.</a:t>
            </a:r>
            <a:r>
              <a:rPr sz="1500" b="0">
                <a:solidFill>
                  <a:srgbClr val="2A2F4F"/>
                </a:solidFill>
                <a:latin typeface="Arial"/>
              </a:rPr>
              <a:t> Hàm apply_dark_defect_convention thay cứng mọi pixel ngoài mặt nạ bằng pixel nền gốc rồi nhân hệ số cố định trong lòng khuyết tật. Diện mạo khuyết tật do </a:t>
            </a:r>
            <a:r>
              <a:rPr sz="1500" b="1">
                <a:solidFill>
                  <a:srgbClr val="0071FF"/>
                </a:solidFill>
                <a:latin typeface="Arial"/>
              </a:rPr>
              <a:t>mặt nạ thủ tục</a:t>
            </a:r>
            <a:r>
              <a:rPr sz="1500" b="0">
                <a:solidFill>
                  <a:srgbClr val="2A2F4F"/>
                </a:solidFill>
                <a:latin typeface="Arial"/>
              </a:rPr>
              <a:t> quyết định, không phải do quá trình khuếch tán.</a:t>
            </a:r>
          </a:p>
          <a:p>
            <a:pPr lvl="1" algn="l">
              <a:spcAft>
                <a:spcPts val="600"/>
              </a:spcAft>
            </a:pPr>
            <a:r>
              <a:rPr sz="1300" b="0">
                <a:solidFill>
                  <a:srgbClr val="2A2F4F"/>
                </a:solidFill>
                <a:latin typeface="Arial"/>
              </a:rPr>
              <a:t>Đây cũng là lý do bản có và không có ControlNet khác nhau rất ít: ControlNet tác động vào nội dung mà bước hậu xử lý xoá đi.</a:t>
            </a:r>
          </a:p>
          <a:p>
            <a:pPr algn="l">
              <a:spcAft>
                <a:spcPts val="600"/>
              </a:spcAft>
            </a:pPr>
            <a:r>
              <a:rPr sz="1500" b="1">
                <a:solidFill>
                  <a:srgbClr val="0071FF"/>
                </a:solidFill>
                <a:latin typeface="Arial"/>
              </a:rPr>
              <a:t>Biên cứng, không có bán dạ</a:t>
            </a:r>
            <a:r>
              <a:rPr sz="1500" b="0">
                <a:solidFill>
                  <a:srgbClr val="2A2F4F"/>
                </a:solidFill>
                <a:latin typeface="Arial"/>
              </a:rPr>
              <a:t>: mặt nạ nhị phân cho biên sắc nét, trong khi khuyết tật trên phim thật luôn có vùng chuyển tiếp.</a:t>
            </a:r>
          </a:p>
          <a:p>
            <a:pPr algn="l">
              <a:spcAft>
                <a:spcPts val="600"/>
              </a:spcAft>
            </a:pPr>
            <a:r>
              <a:rPr sz="1500" b="1">
                <a:solidFill>
                  <a:srgbClr val="0071FF"/>
                </a:solidFill>
                <a:latin typeface="Arial"/>
              </a:rPr>
              <a:t>Hạt nhiễu không liên tục qua biên</a:t>
            </a:r>
            <a:r>
              <a:rPr sz="1500" b="0">
                <a:solidFill>
                  <a:srgbClr val="2A2F4F"/>
                </a:solidFill>
                <a:latin typeface="Arial"/>
              </a:rPr>
              <a:t>: lòng khuyết tật mịn hơn vùng xung quanh vì tạo bằng nhân hệ số, không tái tạo nhiễu lượng tử.</a:t>
            </a:r>
          </a:p>
          <a:p>
            <a:pPr algn="l">
              <a:spcAft>
                <a:spcPts val="600"/>
              </a:spcAft>
            </a:pPr>
            <a:r>
              <a:rPr sz="1500" b="1">
                <a:solidFill>
                  <a:srgbClr val="0071FF"/>
                </a:solidFill>
                <a:latin typeface="Arial"/>
              </a:rPr>
              <a:t>Mật độ phẳng</a:t>
            </a:r>
            <a:r>
              <a:rPr sz="1500" b="0">
                <a:solidFill>
                  <a:srgbClr val="2A2F4F"/>
                </a:solidFill>
                <a:latin typeface="Arial"/>
              </a:rPr>
              <a:t>: hệ số cố định cho vùng tối đều, khuyết tật thật có gradient theo profile chiều dày.</a:t>
            </a:r>
          </a:p>
          <a:p>
            <a:pPr algn="l">
              <a:spcAft>
                <a:spcPts val="600"/>
              </a:spcAft>
            </a:pPr>
            <a:r>
              <a:rPr sz="1500" b="1">
                <a:solidFill>
                  <a:srgbClr val="0071FF"/>
                </a:solidFill>
                <a:latin typeface="Arial"/>
              </a:rPr>
              <a:t>Sai quy ước ở một số lớp</a:t>
            </a:r>
            <a:r>
              <a:rPr sz="1500" b="0">
                <a:solidFill>
                  <a:srgbClr val="2A2F4F"/>
                </a:solidFill>
                <a:latin typeface="Arial"/>
              </a:rPr>
              <a:t>: lớp không thấu hiện sáng thay vì tối, lẫn xỉ kim loại hiện thành đa giác trắng đặc.</a:t>
            </a:r>
          </a:p>
          <a:p>
            <a:pPr algn="l">
              <a:spcAft>
                <a:spcPts val="600"/>
              </a:spcAft>
            </a:pPr>
            <a:r>
              <a:rPr sz="1500" b="1">
                <a:solidFill>
                  <a:srgbClr val="0071FF"/>
                </a:solidFill>
                <a:latin typeface="Arial"/>
              </a:rPr>
              <a:t>Nhãn lấy từ mặt nạ đầu vào</a:t>
            </a:r>
            <a:r>
              <a:rPr sz="1500" b="0">
                <a:solidFill>
                  <a:srgbClr val="2A2F4F"/>
                </a:solidFill>
                <a:latin typeface="Arial"/>
              </a:rPr>
              <a:t>, không đo từ khuyết tật thực sinh ra, nên ảnh vẽ hỏng vẫn lọt vào tập huấn luyện.</a:t>
            </a:r>
          </a:p>
          <a:p>
            <a:pPr algn="l">
              <a:spcAft>
                <a:spcPts val="600"/>
              </a:spcAft>
            </a:pPr>
            <a:r>
              <a:rPr sz="1500" b="1">
                <a:solidFill>
                  <a:srgbClr val="0071FF"/>
                </a:solidFill>
                <a:latin typeface="Arial"/>
              </a:rPr>
              <a:t>Không sinh được ảnh âm tính khó</a:t>
            </a:r>
            <a:r>
              <a:rPr sz="1500" b="0">
                <a:solidFill>
                  <a:srgbClr val="2A2F4F"/>
                </a:solidFill>
                <a:latin typeface="Arial"/>
              </a:rPr>
              <a:t>: mỗi ảnh đúng một khuyết tật, không có ảnh sạch chứa cấu trúc dễ nhầm.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5.1 KẾT LUẬN</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700" b="1">
                <a:solidFill>
                  <a:srgbClr val="0071FF"/>
                </a:solidFill>
                <a:latin typeface="Arial"/>
              </a:rPr>
              <a:t>Về hệ thống</a:t>
            </a:r>
            <a:r>
              <a:rPr sz="1700" b="0">
                <a:solidFill>
                  <a:srgbClr val="2A2F4F"/>
                </a:solidFill>
                <a:latin typeface="Arial"/>
              </a:rPr>
              <a:t>: chín giai đoạn đã cài đặt và chạy được, 18.158 dòng mã Python, 12 lớp khuyết tật, thông lượng 1.097 ảnh/giờ, điểm kiểm tra mỗi 100 ảnh, thử lại tự động và giám sát nhiệt GPU, đóng gói sau giao diện một nút bấm.</a:t>
            </a:r>
          </a:p>
          <a:p>
            <a:pPr algn="l">
              <a:spcAft>
                <a:spcPts val="600"/>
              </a:spcAft>
            </a:pPr>
            <a:r>
              <a:rPr sz="1700" b="1">
                <a:solidFill>
                  <a:srgbClr val="0071FF"/>
                </a:solidFill>
                <a:latin typeface="Arial"/>
              </a:rPr>
              <a:t>Về chú thích</a:t>
            </a:r>
            <a:r>
              <a:rPr sz="1700" b="0">
                <a:solidFill>
                  <a:srgbClr val="2A2F4F"/>
                </a:solidFill>
                <a:latin typeface="Arial"/>
              </a:rPr>
              <a:t>: hướng sinh ảnh theo nhãn đã biết trước loại bỏ khâu gán nhãn thủ công. Mọi ảnh tái lập được nhờ lưu hạt giống và đường dẫn ảnh nền.</a:t>
            </a:r>
          </a:p>
          <a:p>
            <a:pPr algn="l">
              <a:spcAft>
                <a:spcPts val="600"/>
              </a:spcAft>
            </a:pPr>
            <a:r>
              <a:rPr sz="1700" b="1">
                <a:solidFill>
                  <a:srgbClr val="0071FF"/>
                </a:solidFill>
                <a:latin typeface="Arial"/>
              </a:rPr>
              <a:t>Về chất lượng ảnh</a:t>
            </a:r>
            <a:r>
              <a:rPr sz="1700" b="0">
                <a:solidFill>
                  <a:srgbClr val="2A2F4F"/>
                </a:solidFill>
                <a:latin typeface="Arial"/>
              </a:rPr>
              <a:t>: SSIM bảo toàn nền 0,976 xác nhận hệ thống chỉ can thiệp đúng vùng khuyết tật, nhưng FID 198 tới 215 cho thấy khoảng cách miền còn lớn.</a:t>
            </a:r>
          </a:p>
          <a:p>
            <a:pPr algn="l">
              <a:spcAft>
                <a:spcPts val="600"/>
              </a:spcAft>
            </a:pPr>
            <a:r>
              <a:rPr sz="1700" b="1">
                <a:solidFill>
                  <a:srgbClr val="0071FF"/>
                </a:solidFill>
                <a:latin typeface="Arial"/>
              </a:rPr>
              <a:t>Về hiệu quả xuôi dòng</a:t>
            </a:r>
            <a:r>
              <a:rPr sz="1700" b="0">
                <a:solidFill>
                  <a:srgbClr val="2A2F4F"/>
                </a:solidFill>
                <a:latin typeface="Arial"/>
              </a:rPr>
              <a:t>: trộn 20% nâng mAP@0,5 từ 68,5% lên 71,2%. Mức cải thiện là thật nhưng chưa đạt chỉ tiêu 5%.</a:t>
            </a:r>
          </a:p>
          <a:p>
            <a:pPr algn="l">
              <a:spcAft>
                <a:spcPts val="600"/>
              </a:spcAft>
            </a:pPr>
            <a:r>
              <a:rPr sz="1700" b="1">
                <a:solidFill>
                  <a:srgbClr val="0071FF"/>
                </a:solidFill>
                <a:latin typeface="Arial"/>
              </a:rPr>
              <a:t>Đóng góp chính</a:t>
            </a:r>
          </a:p>
          <a:p>
            <a:pPr lvl="1" algn="l">
              <a:spcAft>
                <a:spcPts val="600"/>
              </a:spcAft>
            </a:pPr>
            <a:r>
              <a:rPr sz="1500" b="0">
                <a:solidFill>
                  <a:srgbClr val="2A2F4F"/>
                </a:solidFill>
                <a:latin typeface="Arial"/>
              </a:rPr>
              <a:t>Một quy trình sản xuất hoàn chỉnh và tái lập được, khác với các công trình trình diễn vài trăm ảnh.</a:t>
            </a:r>
          </a:p>
          <a:p>
            <a:pPr lvl="1" algn="l">
              <a:spcAft>
                <a:spcPts val="600"/>
              </a:spcAft>
            </a:pPr>
            <a:r>
              <a:rPr sz="1500" b="0">
                <a:solidFill>
                  <a:srgbClr val="2A2F4F"/>
                </a:solidFill>
                <a:latin typeface="Arial"/>
              </a:rPr>
              <a:t>Đo bằng mAP trên ảnh thật phơi bày kết luận mà các chỉ số ảnh đơn thuần không cho thấy: hệ thống kiểm soát tốt </a:t>
            </a:r>
            <a:r>
              <a:rPr sz="1500" b="1">
                <a:solidFill>
                  <a:srgbClr val="0071FF"/>
                </a:solidFill>
                <a:latin typeface="Arial"/>
              </a:rPr>
              <a:t>hình thái</a:t>
            </a:r>
            <a:r>
              <a:rPr sz="1500" b="0">
                <a:solidFill>
                  <a:srgbClr val="2A2F4F"/>
                </a:solidFill>
                <a:latin typeface="Arial"/>
              </a:rPr>
              <a:t> nhưng chưa tái tạo được </a:t>
            </a:r>
            <a:r>
              <a:rPr sz="1500" b="1">
                <a:solidFill>
                  <a:srgbClr val="0071FF"/>
                </a:solidFill>
                <a:latin typeface="Arial"/>
              </a:rPr>
              <a:t>vật lý ảnh</a:t>
            </a:r>
            <a:r>
              <a:rPr sz="1500" b="0">
                <a:solidFill>
                  <a:srgbClr val="2A2F4F"/>
                </a:solidFill>
                <a:latin typeface="Arial"/>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5.3 HƯỚNG PHÁT TRIỂN: SÁU NHÓM THAY ĐỔI</a:t>
            </a:r>
          </a:p>
        </p:txBody>
      </p:sp>
      <p:graphicFrame>
        <p:nvGraphicFramePr>
          <p:cNvPr id="3" name="Table 2"/>
          <p:cNvGraphicFramePr>
            <a:graphicFrameLocks noGrp="1"/>
          </p:cNvGraphicFramePr>
          <p:nvPr/>
        </p:nvGraphicFramePr>
        <p:xfrm>
          <a:off x="777240" y="1280160"/>
          <a:ext cx="10579607" cy="4206237"/>
        </p:xfrm>
        <a:graphic>
          <a:graphicData uri="http://schemas.openxmlformats.org/drawingml/2006/table">
            <a:tbl>
              <a:tblPr firstRow="1" bandRow="1">
                <a:tableStyleId>{5C22544A-7EE6-4342-B048-85BDC9FD1C3A}</a:tableStyleId>
              </a:tblPr>
              <a:tblGrid>
                <a:gridCol w="769426"/>
                <a:gridCol w="5963051"/>
                <a:gridCol w="3847130"/>
              </a:tblGrid>
              <a:tr h="600891">
                <a:tc>
                  <a:txBody>
                    <a:bodyPr wrap="square"/>
                    <a:lstStyle/>
                    <a:p>
                      <a:pPr algn="ctr"/>
                      <a:r>
                        <a:rPr sz="1300" b="1">
                          <a:solidFill>
                            <a:srgbClr val="FFFFFF"/>
                          </a:solidFill>
                          <a:latin typeface="Arial"/>
                        </a:rPr>
                        <a:t>Mã</a:t>
                      </a:r>
                    </a:p>
                  </a:txBody>
                  <a:tcPr marL="54864" marR="54864" marT="18288" marB="18288" anchor="ctr">
                    <a:solidFill>
                      <a:srgbClr val="1C305E"/>
                    </a:solidFill>
                  </a:tcPr>
                </a:tc>
                <a:tc>
                  <a:txBody>
                    <a:bodyPr wrap="square"/>
                    <a:lstStyle/>
                    <a:p>
                      <a:pPr algn="ctr"/>
                      <a:r>
                        <a:rPr sz="1300" b="1">
                          <a:solidFill>
                            <a:srgbClr val="FFFFFF"/>
                          </a:solidFill>
                          <a:latin typeface="Arial"/>
                        </a:rPr>
                        <a:t>Nội dung thay đổi</a:t>
                      </a:r>
                    </a:p>
                  </a:txBody>
                  <a:tcPr marL="54864" marR="54864" marT="18288" marB="18288" anchor="ctr">
                    <a:solidFill>
                      <a:srgbClr val="1C305E"/>
                    </a:solidFill>
                  </a:tcPr>
                </a:tc>
                <a:tc>
                  <a:txBody>
                    <a:bodyPr wrap="square"/>
                    <a:lstStyle/>
                    <a:p>
                      <a:pPr algn="ctr"/>
                      <a:r>
                        <a:rPr sz="1300" b="1">
                          <a:solidFill>
                            <a:srgbClr val="FFFFFF"/>
                          </a:solidFill>
                          <a:latin typeface="Arial"/>
                        </a:rPr>
                        <a:t>Cổng kiểm và ngưỡng</a:t>
                      </a:r>
                    </a:p>
                  </a:txBody>
                  <a:tcPr marL="54864" marR="54864" marT="18288" marB="18288" anchor="ctr">
                    <a:solidFill>
                      <a:srgbClr val="1C305E"/>
                    </a:solidFill>
                  </a:tcPr>
                </a:tc>
              </a:tr>
              <a:tr h="600891">
                <a:tc>
                  <a:txBody>
                    <a:bodyPr wrap="square"/>
                    <a:lstStyle/>
                    <a:p>
                      <a:pPr algn="ctr"/>
                      <a:r>
                        <a:rPr sz="1200" b="1">
                          <a:solidFill>
                            <a:srgbClr val="0071FF"/>
                          </a:solidFill>
                          <a:latin typeface="Arial"/>
                        </a:rPr>
                        <a:t>C1</a:t>
                      </a:r>
                    </a:p>
                  </a:txBody>
                  <a:tcPr marL="54864" marR="54864" marT="18288" marB="18288" anchor="ctr">
                    <a:solidFill>
                      <a:srgbClr val="FFFFFF"/>
                    </a:solidFill>
                  </a:tcPr>
                </a:tc>
                <a:tc>
                  <a:txBody>
                    <a:bodyPr wrap="square"/>
                    <a:lstStyle/>
                    <a:p>
                      <a:pPr algn="l"/>
                      <a:r>
                        <a:rPr sz="1200" b="0">
                          <a:solidFill>
                            <a:srgbClr val="2A2F4F"/>
                          </a:solidFill>
                          <a:latin typeface="Arial"/>
                        </a:rPr>
                        <a:t>Khử quầng sáng từ gốc: thu hẹp giãn nở mặt nạ từ 21 xuống 9, dùng mặt nạ mềm, giảm denoise xuống 0,55 tới 0,65</a:t>
                      </a:r>
                    </a:p>
                  </a:txBody>
                  <a:tcPr marL="54864" marR="54864" marT="18288" marB="18288" anchor="ctr">
                    <a:solidFill>
                      <a:srgbClr val="FFFFFF"/>
                    </a:solidFill>
                  </a:tcPr>
                </a:tc>
                <a:tc>
                  <a:txBody>
                    <a:bodyPr wrap="square"/>
                    <a:lstStyle/>
                    <a:p>
                      <a:pPr algn="l"/>
                      <a:r>
                        <a:rPr sz="1200" b="0">
                          <a:solidFill>
                            <a:srgbClr val="2A2F4F"/>
                          </a:solidFill>
                          <a:latin typeface="Arial"/>
                        </a:rPr>
                        <a:t>Cường độ vành đai giữa hai mặt nạ giảm từ 70% trở lên</a:t>
                      </a:r>
                    </a:p>
                  </a:txBody>
                  <a:tcPr marL="54864" marR="54864" marT="18288" marB="18288" anchor="ctr">
                    <a:solidFill>
                      <a:srgbClr val="FFFFFF"/>
                    </a:solidFill>
                  </a:tcPr>
                </a:tc>
              </a:tr>
              <a:tr h="600891">
                <a:tc>
                  <a:txBody>
                    <a:bodyPr wrap="square"/>
                    <a:lstStyle/>
                    <a:p>
                      <a:pPr algn="ctr"/>
                      <a:r>
                        <a:rPr sz="1200" b="1">
                          <a:solidFill>
                            <a:srgbClr val="0071FF"/>
                          </a:solidFill>
                          <a:latin typeface="Arial"/>
                        </a:rPr>
                        <a:t>C2</a:t>
                      </a:r>
                    </a:p>
                  </a:txBody>
                  <a:tcPr marL="54864" marR="54864" marT="18288" marB="18288" anchor="ctr">
                    <a:solidFill>
                      <a:srgbClr val="EDF1F7"/>
                    </a:solidFill>
                  </a:tcPr>
                </a:tc>
                <a:tc>
                  <a:txBody>
                    <a:bodyPr wrap="square"/>
                    <a:lstStyle/>
                    <a:p>
                      <a:pPr algn="l"/>
                      <a:r>
                        <a:rPr sz="1200" b="0">
                          <a:solidFill>
                            <a:srgbClr val="2A2F4F"/>
                          </a:solidFill>
                          <a:latin typeface="Arial"/>
                        </a:rPr>
                        <a:t>Gỡ hoặc thay bước hậu xử lý sau khi C1 đạt, sửa dấu quy ước cho lớp không thấu và lẫn xỉ kim loại</a:t>
                      </a:r>
                    </a:p>
                  </a:txBody>
                  <a:tcPr marL="54864" marR="54864" marT="18288" marB="18288" anchor="ctr">
                    <a:solidFill>
                      <a:srgbClr val="EDF1F7"/>
                    </a:solidFill>
                  </a:tcPr>
                </a:tc>
                <a:tc>
                  <a:txBody>
                    <a:bodyPr wrap="square"/>
                    <a:lstStyle/>
                    <a:p>
                      <a:pPr algn="l"/>
                      <a:r>
                        <a:rPr sz="1200" b="0">
                          <a:solidFill>
                            <a:srgbClr val="2A2F4F"/>
                          </a:solidFill>
                          <a:latin typeface="Arial"/>
                        </a:rPr>
                        <a:t>Dấu độ tối đúng quy ước ở toàn bộ lớp</a:t>
                      </a:r>
                    </a:p>
                  </a:txBody>
                  <a:tcPr marL="54864" marR="54864" marT="18288" marB="18288" anchor="ctr">
                    <a:solidFill>
                      <a:srgbClr val="EDF1F7"/>
                    </a:solidFill>
                  </a:tcPr>
                </a:tc>
              </a:tr>
              <a:tr h="600891">
                <a:tc>
                  <a:txBody>
                    <a:bodyPr wrap="square"/>
                    <a:lstStyle/>
                    <a:p>
                      <a:pPr algn="ctr"/>
                      <a:r>
                        <a:rPr sz="1200" b="1">
                          <a:solidFill>
                            <a:srgbClr val="0071FF"/>
                          </a:solidFill>
                          <a:latin typeface="Arial"/>
                        </a:rPr>
                        <a:t>C3</a:t>
                      </a:r>
                    </a:p>
                  </a:txBody>
                  <a:tcPr marL="54864" marR="54864" marT="18288" marB="18288" anchor="ctr">
                    <a:solidFill>
                      <a:srgbClr val="FFFFFF"/>
                    </a:solidFill>
                  </a:tcPr>
                </a:tc>
                <a:tc>
                  <a:txBody>
                    <a:bodyPr wrap="square"/>
                    <a:lstStyle/>
                    <a:p>
                      <a:pPr algn="l"/>
                      <a:r>
                        <a:rPr sz="1200" b="0">
                          <a:solidFill>
                            <a:srgbClr val="2A2F4F"/>
                          </a:solidFill>
                          <a:latin typeface="Arial"/>
                        </a:rPr>
                        <a:t>Chân thực vật lý phim: thêm bán dạ ở biên, tái tạo nhiễu lượng tử, profile độ dày thay hệ số phẳng</a:t>
                      </a:r>
                    </a:p>
                  </a:txBody>
                  <a:tcPr marL="54864" marR="54864" marT="18288" marB="18288" anchor="ctr">
                    <a:solidFill>
                      <a:srgbClr val="FFFFFF"/>
                    </a:solidFill>
                  </a:tcPr>
                </a:tc>
                <a:tc>
                  <a:txBody>
                    <a:bodyPr wrap="square"/>
                    <a:lstStyle/>
                    <a:p>
                      <a:pPr algn="l"/>
                      <a:r>
                        <a:rPr sz="1200" b="0">
                          <a:solidFill>
                            <a:srgbClr val="2A2F4F"/>
                          </a:solidFill>
                          <a:latin typeface="Arial"/>
                        </a:rPr>
                        <a:t>FID ≤ 60; tỷ số phương sai 0,8 tới 1,2</a:t>
                      </a:r>
                    </a:p>
                  </a:txBody>
                  <a:tcPr marL="54864" marR="54864" marT="18288" marB="18288" anchor="ctr">
                    <a:solidFill>
                      <a:srgbClr val="FFFFFF"/>
                    </a:solidFill>
                  </a:tcPr>
                </a:tc>
              </a:tr>
              <a:tr h="600891">
                <a:tc>
                  <a:txBody>
                    <a:bodyPr wrap="square"/>
                    <a:lstStyle/>
                    <a:p>
                      <a:pPr algn="ctr"/>
                      <a:r>
                        <a:rPr sz="1200" b="1">
                          <a:solidFill>
                            <a:srgbClr val="0071FF"/>
                          </a:solidFill>
                          <a:latin typeface="Arial"/>
                        </a:rPr>
                        <a:t>C4</a:t>
                      </a:r>
                    </a:p>
                  </a:txBody>
                  <a:tcPr marL="54864" marR="54864" marT="18288" marB="18288" anchor="ctr">
                    <a:solidFill>
                      <a:srgbClr val="EDF1F7"/>
                    </a:solidFill>
                  </a:tcPr>
                </a:tc>
                <a:tc>
                  <a:txBody>
                    <a:bodyPr wrap="square"/>
                    <a:lstStyle/>
                    <a:p>
                      <a:pPr algn="l"/>
                      <a:r>
                        <a:rPr sz="1200" b="0">
                          <a:solidFill>
                            <a:srgbClr val="2A2F4F"/>
                          </a:solidFill>
                          <a:latin typeface="Arial"/>
                        </a:rPr>
                        <a:t>Thêm nhánh sinh ảnh âm tính khó, trộn 20% tới 30% vào tập huấn luyện</a:t>
                      </a:r>
                    </a:p>
                  </a:txBody>
                  <a:tcPr marL="54864" marR="54864" marT="18288" marB="18288" anchor="ctr">
                    <a:solidFill>
                      <a:srgbClr val="EDF1F7"/>
                    </a:solidFill>
                  </a:tcPr>
                </a:tc>
                <a:tc>
                  <a:txBody>
                    <a:bodyPr wrap="square"/>
                    <a:lstStyle/>
                    <a:p>
                      <a:pPr algn="l"/>
                      <a:r>
                        <a:rPr sz="1200" b="0">
                          <a:solidFill>
                            <a:srgbClr val="2A2F4F"/>
                          </a:solidFill>
                          <a:latin typeface="Arial"/>
                        </a:rPr>
                        <a:t>Giảm báo nhầm trên vùng nền</a:t>
                      </a:r>
                    </a:p>
                  </a:txBody>
                  <a:tcPr marL="54864" marR="54864" marT="18288" marB="18288" anchor="ctr">
                    <a:solidFill>
                      <a:srgbClr val="EDF1F7"/>
                    </a:solidFill>
                  </a:tcPr>
                </a:tc>
              </a:tr>
              <a:tr h="600891">
                <a:tc>
                  <a:txBody>
                    <a:bodyPr wrap="square"/>
                    <a:lstStyle/>
                    <a:p>
                      <a:pPr algn="ctr"/>
                      <a:r>
                        <a:rPr sz="1200" b="1">
                          <a:solidFill>
                            <a:srgbClr val="0071FF"/>
                          </a:solidFill>
                          <a:latin typeface="Arial"/>
                        </a:rPr>
                        <a:t>C5</a:t>
                      </a:r>
                    </a:p>
                  </a:txBody>
                  <a:tcPr marL="54864" marR="54864" marT="18288" marB="18288" anchor="ctr">
                    <a:solidFill>
                      <a:srgbClr val="FFFFFF"/>
                    </a:solidFill>
                  </a:tcPr>
                </a:tc>
                <a:tc>
                  <a:txBody>
                    <a:bodyPr wrap="square"/>
                    <a:lstStyle/>
                    <a:p>
                      <a:pPr algn="l"/>
                      <a:r>
                        <a:rPr sz="1200" b="0">
                          <a:solidFill>
                            <a:srgbClr val="2A2F4F"/>
                          </a:solidFill>
                          <a:latin typeface="Arial"/>
                        </a:rPr>
                        <a:t>Sinh cặp tương phản cho các lớp dễ lẫn</a:t>
                      </a:r>
                    </a:p>
                  </a:txBody>
                  <a:tcPr marL="54864" marR="54864" marT="18288" marB="18288" anchor="ctr">
                    <a:solidFill>
                      <a:srgbClr val="FFFFFF"/>
                    </a:solidFill>
                  </a:tcPr>
                </a:tc>
                <a:tc>
                  <a:txBody>
                    <a:bodyPr wrap="square"/>
                    <a:lstStyle/>
                    <a:p>
                      <a:pPr algn="l"/>
                      <a:r>
                        <a:rPr sz="1200" b="0">
                          <a:solidFill>
                            <a:srgbClr val="2A2F4F"/>
                          </a:solidFill>
                          <a:latin typeface="Arial"/>
                        </a:rPr>
                        <a:t>Recall của nhánh phân biệt hai lớp tăng</a:t>
                      </a:r>
                    </a:p>
                  </a:txBody>
                  <a:tcPr marL="54864" marR="54864" marT="18288" marB="18288" anchor="ctr">
                    <a:solidFill>
                      <a:srgbClr val="FFFFFF"/>
                    </a:solidFill>
                  </a:tcPr>
                </a:tc>
              </a:tr>
              <a:tr h="600891">
                <a:tc>
                  <a:txBody>
                    <a:bodyPr wrap="square"/>
                    <a:lstStyle/>
                    <a:p>
                      <a:pPr algn="ctr"/>
                      <a:r>
                        <a:rPr sz="1200" b="1">
                          <a:solidFill>
                            <a:srgbClr val="0071FF"/>
                          </a:solidFill>
                          <a:latin typeface="Arial"/>
                        </a:rPr>
                        <a:t>C6</a:t>
                      </a:r>
                    </a:p>
                  </a:txBody>
                  <a:tcPr marL="54864" marR="54864" marT="18288" marB="18288" anchor="ctr">
                    <a:solidFill>
                      <a:srgbClr val="EDF1F7"/>
                    </a:solidFill>
                  </a:tcPr>
                </a:tc>
                <a:tc>
                  <a:txBody>
                    <a:bodyPr wrap="square"/>
                    <a:lstStyle/>
                    <a:p>
                      <a:pPr algn="l"/>
                      <a:r>
                        <a:rPr sz="1200" b="0">
                          <a:solidFill>
                            <a:srgbClr val="2A2F4F"/>
                          </a:solidFill>
                          <a:latin typeface="Arial"/>
                        </a:rPr>
                        <a:t>Đo nhãn từ khuyết tật thực sinh ra thay vì lấy từ mặt nạ đầu vào</a:t>
                      </a:r>
                    </a:p>
                  </a:txBody>
                  <a:tcPr marL="54864" marR="54864" marT="18288" marB="18288" anchor="ctr">
                    <a:solidFill>
                      <a:srgbClr val="EDF1F7"/>
                    </a:solidFill>
                  </a:tcPr>
                </a:tc>
                <a:tc>
                  <a:txBody>
                    <a:bodyPr wrap="square"/>
                    <a:lstStyle/>
                    <a:p>
                      <a:pPr algn="l"/>
                      <a:r>
                        <a:rPr sz="1200" b="0">
                          <a:solidFill>
                            <a:srgbClr val="2A2F4F"/>
                          </a:solidFill>
                          <a:latin typeface="Arial"/>
                        </a:rPr>
                        <a:t>IoU mặt nạ và khuyết tật đo được ≥ 0,7</a:t>
                      </a:r>
                    </a:p>
                  </a:txBody>
                  <a:tcPr marL="54864" marR="54864" marT="18288" marB="18288" anchor="ctr">
                    <a:solidFill>
                      <a:srgbClr val="EDF1F7"/>
                    </a:solidFill>
                  </a:tcPr>
                </a:tc>
              </a:tr>
            </a:tbl>
          </a:graphicData>
        </a:graphic>
      </p:graphicFrame>
      <p:sp>
        <p:nvSpPr>
          <p:cNvPr id="4" name="TextBox 3"/>
          <p:cNvSpPr txBox="1"/>
          <p:nvPr/>
        </p:nvSpPr>
        <p:spPr>
          <a:xfrm>
            <a:off x="777240" y="6053328"/>
            <a:ext cx="10579608" cy="457200"/>
          </a:xfrm>
          <a:prstGeom prst="rect">
            <a:avLst/>
          </a:prstGeom>
          <a:noFill/>
        </p:spPr>
        <p:txBody>
          <a:bodyPr wrap="square">
            <a:spAutoFit/>
          </a:bodyPr>
          <a:lstStyle/>
          <a:p>
            <a:r>
              <a:rPr sz="1300" b="0">
                <a:solidFill>
                  <a:srgbClr val="2A2F4F"/>
                </a:solidFill>
                <a:latin typeface="Arial"/>
              </a:rPr>
              <a:t>Thứ tự triển khai: C1 và C3 trước, rồi C6, C5, C4, cuối cùng C2. Cổng nghiệm thu cuối cùng không phải FID hay SSIM mà là </a:t>
            </a:r>
            <a:r>
              <a:rPr sz="1300" b="1">
                <a:solidFill>
                  <a:srgbClr val="0071FF"/>
                </a:solidFill>
                <a:latin typeface="Arial"/>
              </a:rPr>
              <a:t>mAP đo lại trên tập kiểm tra ảnh thật</a:t>
            </a:r>
            <a:r>
              <a:rPr sz="1300" b="0">
                <a:solidFill>
                  <a:srgbClr val="2A2F4F"/>
                </a:solidFill>
                <a:latin typeface="Arial"/>
              </a:rPr>
              <a:t>. Hai ràng buộc bất biến: ảnh tổng hợp chỉ vào tập huấn luyện, và không thay đổi tập kiểm tra đã dùng cho báo cáo này.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7240" y="219456"/>
            <a:ext cx="10579608" cy="868680"/>
          </a:xfrm>
        </p:spPr>
        <p:txBody>
          <a:bodyPr wrap="square"/>
          <a:lstStyle/>
          <a:p>
            <a:r>
              <a:rPr sz="3000" b="1">
                <a:solidFill>
                  <a:srgbClr val="1C305E"/>
                </a:solidFill>
                <a:latin typeface="Arial"/>
              </a:rPr>
              <a:t>TÀI LIỆU THAM KHẢO</a:t>
            </a:r>
          </a:p>
        </p:txBody>
      </p:sp>
      <p:sp>
        <p:nvSpPr>
          <p:cNvPr id="3" name="Text Placeholder 2"/>
          <p:cNvSpPr>
            <a:spLocks noGrp="1"/>
          </p:cNvSpPr>
          <p:nvPr>
            <p:ph type="body" idx="1"/>
          </p:nvPr>
        </p:nvSpPr>
        <p:spPr>
          <a:xfrm>
            <a:off x="777240" y="1207008"/>
            <a:ext cx="10579608" cy="4983480"/>
          </a:xfrm>
        </p:spPr>
        <p:txBody>
          <a:bodyPr wrap="square"/>
          <a:lstStyle/>
          <a:p>
            <a:pPr algn="l">
              <a:spcAft>
                <a:spcPts val="600"/>
              </a:spcAft>
            </a:pPr>
            <a:r>
              <a:rPr sz="1400" b="0">
                <a:solidFill>
                  <a:srgbClr val="2A2F4F"/>
                </a:solidFill>
                <a:latin typeface="Arial"/>
              </a:rPr>
              <a:t>D. Mery và cộng sự, "GDXray: The database of X-ray images for nondestructive testing", Journal of Nondestructive Evaluation, vol. 34, 2015.</a:t>
            </a:r>
          </a:p>
          <a:p>
            <a:pPr algn="l">
              <a:spcAft>
                <a:spcPts val="600"/>
              </a:spcAft>
            </a:pPr>
            <a:r>
              <a:rPr sz="1400" b="0">
                <a:solidFill>
                  <a:srgbClr val="2A2F4F"/>
                </a:solidFill>
                <a:latin typeface="Arial"/>
              </a:rPr>
              <a:t>R. Rombach và cộng sự, "High-Resolution Image Synthesis with Latent Diffusion Models", CVPR, 2022.</a:t>
            </a:r>
          </a:p>
          <a:p>
            <a:pPr algn="l">
              <a:spcAft>
                <a:spcPts val="600"/>
              </a:spcAft>
            </a:pPr>
            <a:r>
              <a:rPr sz="1400" b="0">
                <a:solidFill>
                  <a:srgbClr val="2A2F4F"/>
                </a:solidFill>
                <a:latin typeface="Arial"/>
              </a:rPr>
              <a:t>J. Ho, A. Jain, P. Abbeel, "Denoising Diffusion Probabilistic Models", NeurIPS, 2020.</a:t>
            </a:r>
          </a:p>
          <a:p>
            <a:pPr algn="l">
              <a:spcAft>
                <a:spcPts val="600"/>
              </a:spcAft>
            </a:pPr>
            <a:r>
              <a:rPr sz="1400" b="0">
                <a:solidFill>
                  <a:srgbClr val="2A2F4F"/>
                </a:solidFill>
                <a:latin typeface="Arial"/>
              </a:rPr>
              <a:t>E. J. Hu và cộng sự, "LoRA: Low-Rank Adaptation of Large Language Models", ICLR, 2022.</a:t>
            </a:r>
          </a:p>
          <a:p>
            <a:pPr algn="l">
              <a:spcAft>
                <a:spcPts val="600"/>
              </a:spcAft>
            </a:pPr>
            <a:r>
              <a:rPr sz="1400" b="0">
                <a:solidFill>
                  <a:srgbClr val="2A2F4F"/>
                </a:solidFill>
                <a:latin typeface="Arial"/>
              </a:rPr>
              <a:t>L. Zhang, A. Rao, M. Agrawala, "Adding Conditional Control to Text-to-Image Diffusion Models", ICCV, 2023.</a:t>
            </a:r>
          </a:p>
          <a:p>
            <a:pPr algn="l">
              <a:spcAft>
                <a:spcPts val="600"/>
              </a:spcAft>
            </a:pPr>
            <a:r>
              <a:rPr sz="1400" b="0">
                <a:solidFill>
                  <a:srgbClr val="2A2F4F"/>
                </a:solidFill>
                <a:latin typeface="Arial"/>
              </a:rPr>
              <a:t>M. Heusel và cộng sự, "GANs Trained by a Two Time-Scale Update Rule Converge to a Local Nash Equilibrium", NeurIPS, 2017.</a:t>
            </a:r>
          </a:p>
          <a:p>
            <a:pPr algn="l">
              <a:spcAft>
                <a:spcPts val="600"/>
              </a:spcAft>
            </a:pPr>
            <a:r>
              <a:rPr sz="1400" b="0">
                <a:solidFill>
                  <a:srgbClr val="2A2F4F"/>
                </a:solidFill>
                <a:latin typeface="Arial"/>
              </a:rPr>
              <a:t>Z. Wang và cộng sự, "Image Quality Assessment: From Error Visibility to Structural Similarity", IEEE TIP, vol. 13, 2004.</a:t>
            </a:r>
          </a:p>
          <a:p>
            <a:pPr algn="l">
              <a:spcAft>
                <a:spcPts val="600"/>
              </a:spcAft>
            </a:pPr>
            <a:r>
              <a:rPr sz="1400" b="0">
                <a:solidFill>
                  <a:srgbClr val="2A2F4F"/>
                </a:solidFill>
                <a:latin typeface="Arial"/>
              </a:rPr>
              <a:t>G. Jocher, A. Chaurasia, J. Qiu, "Ultralytics YOLOv8", phần mềm mã nguồn mở, 2023.</a:t>
            </a:r>
          </a:p>
          <a:p>
            <a:pPr algn="l">
              <a:spcAft>
                <a:spcPts val="600"/>
              </a:spcAft>
            </a:pPr>
            <a:r>
              <a:rPr sz="1400" b="0">
                <a:solidFill>
                  <a:srgbClr val="2A2F4F"/>
                </a:solidFill>
                <a:latin typeface="Arial"/>
              </a:rPr>
              <a:t>ISO 6520-1:2007, Classification of geometric imperfections in metallic materials.</a:t>
            </a:r>
          </a:p>
          <a:p>
            <a:pPr algn="l">
              <a:spcAft>
                <a:spcPts val="600"/>
              </a:spcAft>
            </a:pPr>
            <a:r>
              <a:rPr sz="1400" b="0">
                <a:solidFill>
                  <a:srgbClr val="2A2F4F"/>
                </a:solidFill>
                <a:latin typeface="Arial"/>
              </a:rPr>
              <a:t>ISO 17636-1:2022, Non-destructive testing of welds — Radiographic testing.</a:t>
            </a:r>
          </a:p>
          <a:p>
            <a:pPr algn="l">
              <a:spcAft>
                <a:spcPts val="600"/>
              </a:spcAft>
            </a:pPr>
            <a:r>
              <a:rPr sz="1400" b="0">
                <a:solidFill>
                  <a:srgbClr val="2A2F4F"/>
                </a:solidFill>
                <a:latin typeface="Arial"/>
              </a:rPr>
              <a:t>D. Totino, F. Spadafora, M. Lupinacci, "RIAWELC: A Novel Dataset of Radiographic Images for Automatic Weld Defects Classification", IJECER, 2023.</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2023-03-03T01:55:04Z</dcterms:created>
  <dc:creator>Trần Hoàng Lộc</dc:creator>
</cp:coreProperties>
</file>